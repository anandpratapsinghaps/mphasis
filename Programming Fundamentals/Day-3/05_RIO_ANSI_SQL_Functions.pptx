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5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Lst>
  <p:sldSz cx="9144000" cy="6858000" type="screen4x3"/>
  <p:notesSz cx="6858000" cy="9144000"/>
  <p:embeddedFontLst>
    <p:embeddedFont>
      <p:font typeface="Cambria" pitchFamily="18" charset="0"/>
      <p:regular r:id="rId55"/>
      <p:bold r:id="rId56"/>
      <p:italic r:id="rId57"/>
      <p:boldItalic r:id="rId58"/>
    </p:embeddedFont>
    <p:embeddedFont>
      <p:font typeface="Verdana" pitchFamily="34" charset="0"/>
      <p:regular r:id="rId59"/>
      <p:bold r:id="rId60"/>
      <p:italic r:id="rId61"/>
      <p:boldItalic r:id="rId62"/>
    </p:embeddedFont>
    <p:embeddedFont>
      <p:font typeface="Corsiva" charset="0"/>
      <p:regular r:id="rId63"/>
      <p:bold r:id="rId64"/>
      <p:italic r:id="rId65"/>
      <p:boldItalic r:id="rId66"/>
    </p:embeddedFont>
    <p:embeddedFont>
      <p:font typeface="Calibri" pitchFamily="34" charset="0"/>
      <p:regular r:id="rId67"/>
      <p:bold r:id="rId68"/>
      <p:italic r:id="rId69"/>
      <p:boldItalic r:id="rId70"/>
    </p:embeddedFont>
    <p:embeddedFont>
      <p:font typeface="Open Sans" charset="0"/>
      <p:regular r:id="rId71"/>
      <p:bold r:id="rId72"/>
      <p:italic r:id="rId73"/>
      <p:boldItalic r:id="rId74"/>
    </p:embeddedFont>
    <p:embeddedFont>
      <p:font typeface="Libre Franklin" charset="0"/>
      <p:regular r:id="rId75"/>
      <p:bold r:id="rId76"/>
      <p:italic r:id="rId77"/>
      <p:boldItalic r:id="rId7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p15:guide id="1" orient="horz" pos="2208">
          <p15:clr>
            <a:srgbClr val="000000"/>
          </p15:clr>
        </p15:guide>
        <p15:guide id="2" pos="2880">
          <p15:clr>
            <a:srgbClr val="000000"/>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79" roundtripDataSignature="AMtx7mibzA5JO1c1gEeHkhxGmchddG7mJg=="/>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7FFFBDA3-1227-47A5-887F-83766C0D3143}">
  <a:tblStyle styleId="{7FFFBDA3-1227-47A5-887F-83766C0D3143}"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CF4"/>
          </a:solidFill>
        </a:fill>
      </a:tcStyle>
    </a:wholeTbl>
    <a:band1H>
      <a:tcTxStyle/>
      <a:tcStyle>
        <a:tcBdr/>
        <a:fill>
          <a:solidFill>
            <a:srgbClr val="CFD7E7"/>
          </a:solidFill>
        </a:fill>
      </a:tcStyle>
    </a:band1H>
    <a:band2H>
      <a:tcTxStyle/>
      <a:tcStyle>
        <a:tcBdr/>
      </a:tcStyle>
    </a:band2H>
    <a:band1V>
      <a:tcTxStyle/>
      <a:tcStyle>
        <a:tcBdr/>
        <a:fill>
          <a:solidFill>
            <a:srgbClr val="CFD7E7"/>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2" d="100"/>
          <a:sy n="82" d="100"/>
        </p:scale>
        <p:origin x="-1474" y="-134"/>
      </p:cViewPr>
      <p:guideLst>
        <p:guide orient="horz" pos="2208"/>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font" Target="fonts/font1.fntdata"/><Relationship Id="rId63" Type="http://schemas.openxmlformats.org/officeDocument/2006/relationships/font" Target="fonts/font9.fntdata"/><Relationship Id="rId68" Type="http://schemas.openxmlformats.org/officeDocument/2006/relationships/font" Target="fonts/font14.fntdata"/><Relationship Id="rId76" Type="http://schemas.openxmlformats.org/officeDocument/2006/relationships/font" Target="fonts/font22.fntdata"/><Relationship Id="rId7" Type="http://schemas.openxmlformats.org/officeDocument/2006/relationships/slide" Target="slides/slide6.xml"/><Relationship Id="rId71" Type="http://schemas.openxmlformats.org/officeDocument/2006/relationships/font" Target="fonts/font17.fntdata"/><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font" Target="fonts/font4.fntdata"/><Relationship Id="rId66" Type="http://schemas.openxmlformats.org/officeDocument/2006/relationships/font" Target="fonts/font12.fntdata"/><Relationship Id="rId74" Type="http://schemas.openxmlformats.org/officeDocument/2006/relationships/font" Target="fonts/font20.fntdata"/><Relationship Id="rId79" Type="http://customschemas.google.com/relationships/presentationmetadata" Target="metadata"/><Relationship Id="rId5" Type="http://schemas.openxmlformats.org/officeDocument/2006/relationships/slide" Target="slides/slide4.xml"/><Relationship Id="rId61" Type="http://schemas.openxmlformats.org/officeDocument/2006/relationships/font" Target="fonts/font7.fntdata"/><Relationship Id="rId82"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font" Target="fonts/font6.fntdata"/><Relationship Id="rId65" Type="http://schemas.openxmlformats.org/officeDocument/2006/relationships/font" Target="fonts/font11.fntdata"/><Relationship Id="rId73" Type="http://schemas.openxmlformats.org/officeDocument/2006/relationships/font" Target="fonts/font19.fntdata"/><Relationship Id="rId78" Type="http://schemas.openxmlformats.org/officeDocument/2006/relationships/font" Target="fonts/font24.fntdata"/><Relationship Id="rId8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font" Target="fonts/font2.fntdata"/><Relationship Id="rId64" Type="http://schemas.openxmlformats.org/officeDocument/2006/relationships/font" Target="fonts/font10.fntdata"/><Relationship Id="rId69" Type="http://schemas.openxmlformats.org/officeDocument/2006/relationships/font" Target="fonts/font15.fntdata"/><Relationship Id="rId77" Type="http://schemas.openxmlformats.org/officeDocument/2006/relationships/font" Target="fonts/font23.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font" Target="fonts/font18.fntdata"/><Relationship Id="rId80"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5.fntdata"/><Relationship Id="rId67" Type="http://schemas.openxmlformats.org/officeDocument/2006/relationships/font" Target="fonts/font13.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62" Type="http://schemas.openxmlformats.org/officeDocument/2006/relationships/font" Target="fonts/font8.fntdata"/><Relationship Id="rId70" Type="http://schemas.openxmlformats.org/officeDocument/2006/relationships/font" Target="fonts/font16.fntdata"/><Relationship Id="rId75" Type="http://schemas.openxmlformats.org/officeDocument/2006/relationships/font" Target="fonts/font21.fntdata"/><Relationship Id="rId83"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font" Target="fonts/font3.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875359429"/>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
        <p:cNvGrpSpPr/>
        <p:nvPr/>
      </p:nvGrpSpPr>
      <p:grpSpPr>
        <a:xfrm>
          <a:off x="0" y="0"/>
          <a:ext cx="0" cy="0"/>
          <a:chOff x="0" y="0"/>
          <a:chExt cx="0" cy="0"/>
        </a:xfrm>
      </p:grpSpPr>
      <p:sp>
        <p:nvSpPr>
          <p:cNvPr id="44" name="Google Shape;44;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5" name="Google Shape;45;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p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3" name="Google Shape;53;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p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6" name="Google Shape;76;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p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4" name="Google Shape;84;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 name="Google Shape;92;p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US"/>
              <a:t>Trainer Note:</a:t>
            </a:r>
            <a:endParaRPr/>
          </a:p>
          <a:p>
            <a:pPr marL="0" lvl="0" indent="0" algn="l" rtl="0">
              <a:spcBef>
                <a:spcPts val="0"/>
              </a:spcBef>
              <a:spcAft>
                <a:spcPts val="0"/>
              </a:spcAft>
              <a:buNone/>
            </a:pPr>
            <a:endParaRPr/>
          </a:p>
          <a:p>
            <a:pPr marL="0" marR="0" lvl="0" indent="0" algn="l" rtl="0">
              <a:lnSpc>
                <a:spcPct val="100000"/>
              </a:lnSpc>
              <a:spcBef>
                <a:spcPts val="0"/>
              </a:spcBef>
              <a:spcAft>
                <a:spcPts val="0"/>
              </a:spcAft>
              <a:buClr>
                <a:schemeClr val="dk1"/>
              </a:buClr>
              <a:buSzPts val="1200"/>
              <a:buFont typeface="Calibri"/>
              <a:buNone/>
            </a:pPr>
            <a:r>
              <a:rPr lang="en-US"/>
              <a:t>A </a:t>
            </a:r>
            <a:r>
              <a:rPr lang="en-US" b="1"/>
              <a:t>computer</a:t>
            </a:r>
            <a:r>
              <a:rPr lang="en-US"/>
              <a:t> is any device that can to carry out a finite set of arithmetic or logical operations in a programmed sequence. </a:t>
            </a:r>
            <a:endParaRPr/>
          </a:p>
          <a:p>
            <a:pPr marL="0" marR="0" lvl="0" indent="0" algn="l" rtl="0">
              <a:lnSpc>
                <a:spcPct val="100000"/>
              </a:lnSpc>
              <a:spcBef>
                <a:spcPts val="0"/>
              </a:spcBef>
              <a:spcAft>
                <a:spcPts val="0"/>
              </a:spcAft>
              <a:buClr>
                <a:schemeClr val="dk1"/>
              </a:buClr>
              <a:buSzPts val="1200"/>
              <a:buFont typeface="Calibri"/>
              <a:buNone/>
            </a:pPr>
            <a:r>
              <a:rPr lang="en-US"/>
              <a:t>Since a sequence of operations can be readily changed, the computer can solve more than one kind of problem.</a:t>
            </a: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r>
              <a:rPr lang="en-US" sz="1200" b="1" i="0" u="none" strike="noStrike">
                <a:solidFill>
                  <a:schemeClr val="dk1"/>
                </a:solidFill>
                <a:latin typeface="Calibri"/>
                <a:ea typeface="Calibri"/>
                <a:cs typeface="Calibri"/>
                <a:sym typeface="Calibri"/>
              </a:rPr>
              <a:t>Cell phones: </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most cell phones on the market today offer some kind of data</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service. Most offer a short messaging service (SMS) and many also offer wireless</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access protocol (WAP) services that allow a minimal form of Web access.</a:t>
            </a:r>
            <a:endParaRPr/>
          </a:p>
          <a:p>
            <a:pPr marL="0" lvl="0" indent="0" algn="l" rtl="0">
              <a:spcBef>
                <a:spcPts val="0"/>
              </a:spcBef>
              <a:spcAft>
                <a:spcPts val="0"/>
              </a:spcAft>
              <a:buNone/>
            </a:pPr>
            <a:endParaRPr sz="1200" b="0" i="0" u="none" strike="noStrike">
              <a:solidFill>
                <a:schemeClr val="dk1"/>
              </a:solidFill>
              <a:latin typeface="Calibri"/>
              <a:ea typeface="Calibri"/>
              <a:cs typeface="Calibri"/>
              <a:sym typeface="Calibri"/>
            </a:endParaRPr>
          </a:p>
          <a:p>
            <a:pPr marL="0" lvl="0" indent="0" algn="l" rtl="0">
              <a:spcBef>
                <a:spcPts val="0"/>
              </a:spcBef>
              <a:spcAft>
                <a:spcPts val="0"/>
              </a:spcAft>
              <a:buNone/>
            </a:pPr>
            <a:r>
              <a:rPr lang="en-US" sz="1200" b="1" i="0" u="none" strike="noStrike">
                <a:solidFill>
                  <a:schemeClr val="dk1"/>
                </a:solidFill>
                <a:latin typeface="Calibri"/>
                <a:ea typeface="Calibri"/>
                <a:cs typeface="Calibri"/>
                <a:sym typeface="Calibri"/>
              </a:rPr>
              <a:t>Personal digital assistants (PDAs):</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we are now seeing a tremendous amount of advancement and market uptake in PDAs. Due to the small size</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and relatively high computing power of these devices, they are fast becoming a favorite among mobile professionals.</a:t>
            </a:r>
            <a:endParaRPr/>
          </a:p>
          <a:p>
            <a:pPr marL="0" lvl="0" indent="0" algn="l" rtl="0">
              <a:spcBef>
                <a:spcPts val="0"/>
              </a:spcBef>
              <a:spcAft>
                <a:spcPts val="0"/>
              </a:spcAft>
              <a:buNone/>
            </a:pPr>
            <a:endParaRPr sz="1200" b="0" i="0" u="none" strike="noStrike">
              <a:solidFill>
                <a:schemeClr val="dk1"/>
              </a:solidFill>
              <a:latin typeface="Calibri"/>
              <a:ea typeface="Calibri"/>
              <a:cs typeface="Calibri"/>
              <a:sym typeface="Calibri"/>
            </a:endParaRPr>
          </a:p>
          <a:p>
            <a:pPr marL="0" lvl="0" indent="0" algn="l" rtl="0">
              <a:spcBef>
                <a:spcPts val="0"/>
              </a:spcBef>
              <a:spcAft>
                <a:spcPts val="0"/>
              </a:spcAft>
              <a:buNone/>
            </a:pPr>
            <a:r>
              <a:rPr lang="en-US" sz="1200" b="1" i="0" u="none" strike="noStrike">
                <a:solidFill>
                  <a:schemeClr val="dk1"/>
                </a:solidFill>
                <a:latin typeface="Calibri"/>
                <a:ea typeface="Calibri"/>
                <a:cs typeface="Calibri"/>
                <a:sym typeface="Calibri"/>
              </a:rPr>
              <a:t>Smart Phones:</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we are just now starting to see viable products that offer both the capabilities of cell phones and PDAs. This is a powerful combination</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whose proponents view it as the device to end all devices.</a:t>
            </a:r>
            <a:endParaRPr/>
          </a:p>
          <a:p>
            <a:pPr marL="0" lvl="0" indent="0" algn="l" rtl="0">
              <a:spcBef>
                <a:spcPts val="0"/>
              </a:spcBef>
              <a:spcAft>
                <a:spcPts val="0"/>
              </a:spcAft>
              <a:buNone/>
            </a:pPr>
            <a:endParaRPr sz="1200" b="0" i="0" u="none" strike="noStrike">
              <a:solidFill>
                <a:schemeClr val="dk1"/>
              </a:solidFill>
              <a:latin typeface="Calibri"/>
              <a:ea typeface="Calibri"/>
              <a:cs typeface="Calibri"/>
              <a:sym typeface="Calibri"/>
            </a:endParaRPr>
          </a:p>
          <a:p>
            <a:pPr marL="0" lvl="0" indent="0" algn="l" rtl="0">
              <a:spcBef>
                <a:spcPts val="0"/>
              </a:spcBef>
              <a:spcAft>
                <a:spcPts val="0"/>
              </a:spcAft>
              <a:buNone/>
            </a:pPr>
            <a:r>
              <a:rPr lang="en-US" sz="1200" b="1" i="0" u="none" strike="noStrike">
                <a:solidFill>
                  <a:schemeClr val="dk1"/>
                </a:solidFill>
                <a:latin typeface="Calibri"/>
                <a:ea typeface="Calibri"/>
                <a:cs typeface="Calibri"/>
                <a:sym typeface="Calibri"/>
              </a:rPr>
              <a:t>Tablet computers:</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these are computers with a large screen and no builtin keyboard. Input is through a stylus. The idea is that using these computers</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is like using a tablet of paper. </a:t>
            </a:r>
            <a:endParaRPr/>
          </a:p>
          <a:p>
            <a:pPr marL="0" lvl="0" indent="0" algn="l" rtl="0">
              <a:spcBef>
                <a:spcPts val="0"/>
              </a:spcBef>
              <a:spcAft>
                <a:spcPts val="0"/>
              </a:spcAft>
              <a:buNone/>
            </a:pPr>
            <a:endParaRPr sz="1200" b="1" i="0" u="none" strike="noStrike">
              <a:solidFill>
                <a:schemeClr val="dk1"/>
              </a:solidFill>
              <a:latin typeface="Calibri"/>
              <a:ea typeface="Calibri"/>
              <a:cs typeface="Calibri"/>
              <a:sym typeface="Calibri"/>
            </a:endParaRPr>
          </a:p>
          <a:p>
            <a:pPr marL="0" lvl="0" indent="0" algn="l" rtl="0">
              <a:spcBef>
                <a:spcPts val="0"/>
              </a:spcBef>
              <a:spcAft>
                <a:spcPts val="0"/>
              </a:spcAft>
              <a:buNone/>
            </a:pPr>
            <a:r>
              <a:rPr lang="en-US" sz="1200" b="1" i="0" u="none" strike="noStrike">
                <a:solidFill>
                  <a:schemeClr val="dk1"/>
                </a:solidFill>
                <a:latin typeface="Calibri"/>
                <a:ea typeface="Calibri"/>
                <a:cs typeface="Calibri"/>
                <a:sym typeface="Calibri"/>
              </a:rPr>
              <a:t>Notebook computers:</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so far these have been the portable computing device of choice. Many people have gotten rid of their desktop computer</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and now just use a notebook, which they can carry around outside of the office. At the same time, many notebooks are powerful enough to use in the</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office just like a desktop computer.</a:t>
            </a:r>
            <a:endParaRPr/>
          </a:p>
        </p:txBody>
      </p:sp>
      <p:sp>
        <p:nvSpPr>
          <p:cNvPr id="93" name="Google Shape;93;p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0" name="Google Shape;100;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4" name="Google Shape;114;p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US"/>
              <a:t>Trainer Note:</a:t>
            </a:r>
            <a:endParaRPr/>
          </a:p>
          <a:p>
            <a:pPr marL="0" lvl="0" indent="0" algn="l" rtl="0">
              <a:spcBef>
                <a:spcPts val="0"/>
              </a:spcBef>
              <a:spcAft>
                <a:spcPts val="0"/>
              </a:spcAft>
              <a:buNone/>
            </a:pPr>
            <a:r>
              <a:rPr lang="en-US"/>
              <a:t>You can use a computer to type documents, send email, and browse the internet.</a:t>
            </a:r>
            <a:endParaRPr/>
          </a:p>
          <a:p>
            <a:pPr marL="0" lvl="0" indent="0" algn="l" rtl="0">
              <a:spcBef>
                <a:spcPts val="0"/>
              </a:spcBef>
              <a:spcAft>
                <a:spcPts val="0"/>
              </a:spcAft>
              <a:buNone/>
            </a:pPr>
            <a:r>
              <a:rPr lang="en-US"/>
              <a:t> You can also use it to handle spreadsheets, accounting, database management, presentations, games, and more. </a:t>
            </a:r>
            <a:endParaRPr/>
          </a:p>
          <a:p>
            <a:pPr marL="0" lvl="0" indent="0" algn="l" rtl="0">
              <a:spcBef>
                <a:spcPts val="0"/>
              </a:spcBef>
              <a:spcAft>
                <a:spcPts val="0"/>
              </a:spcAft>
              <a:buClr>
                <a:schemeClr val="dk1"/>
              </a:buClr>
              <a:buSzPts val="2000"/>
              <a:buFont typeface="Calibri"/>
              <a:buNone/>
            </a:pPr>
            <a:r>
              <a:rPr lang="en-US" sz="2000"/>
              <a:t>Software </a:t>
            </a:r>
            <a:endParaRPr/>
          </a:p>
          <a:p>
            <a:pPr marL="914400" lvl="2" indent="0" algn="l" rtl="0">
              <a:spcBef>
                <a:spcPts val="0"/>
              </a:spcBef>
              <a:spcAft>
                <a:spcPts val="0"/>
              </a:spcAft>
              <a:buNone/>
            </a:pPr>
            <a:r>
              <a:rPr lang="en-US" sz="1600"/>
              <a:t>Set of instructions  for the hardware to accomplish a task.</a:t>
            </a:r>
            <a:endParaRPr/>
          </a:p>
          <a:p>
            <a:pPr marL="285750" lvl="0" indent="-285750" algn="l" rtl="0">
              <a:spcBef>
                <a:spcPts val="0"/>
              </a:spcBef>
              <a:spcAft>
                <a:spcPts val="0"/>
              </a:spcAft>
              <a:buClr>
                <a:srgbClr val="002060"/>
              </a:buClr>
              <a:buSzPts val="1200"/>
              <a:buFont typeface="Noto Sans Symbols"/>
              <a:buChar char="⮚"/>
            </a:pPr>
            <a:r>
              <a:rPr lang="en-US" b="1">
                <a:solidFill>
                  <a:srgbClr val="002060"/>
                </a:solidFill>
                <a:latin typeface="Arial Rounded"/>
                <a:ea typeface="Arial Rounded"/>
                <a:cs typeface="Arial Rounded"/>
                <a:sym typeface="Arial Rounded"/>
              </a:rPr>
              <a:t>List down any ten hardware parts of computer.</a:t>
            </a:r>
            <a:endParaRPr/>
          </a:p>
          <a:p>
            <a:pPr marL="285750" lvl="0" indent="-285750" algn="l" rtl="0">
              <a:spcBef>
                <a:spcPts val="0"/>
              </a:spcBef>
              <a:spcAft>
                <a:spcPts val="0"/>
              </a:spcAft>
              <a:buClr>
                <a:srgbClr val="002060"/>
              </a:buClr>
              <a:buSzPts val="1200"/>
              <a:buFont typeface="Noto Sans Symbols"/>
              <a:buChar char="⮚"/>
            </a:pPr>
            <a:r>
              <a:rPr lang="en-US" b="1">
                <a:solidFill>
                  <a:srgbClr val="002060"/>
                </a:solidFill>
                <a:latin typeface="Arial Rounded"/>
                <a:ea typeface="Arial Rounded"/>
                <a:cs typeface="Arial Rounded"/>
                <a:sym typeface="Arial Rounded"/>
              </a:rPr>
              <a:t>List down any five storage devices.</a:t>
            </a:r>
            <a:endParaRPr/>
          </a:p>
          <a:p>
            <a:pPr marL="285750" lvl="0" indent="-285750" algn="l" rtl="0">
              <a:spcBef>
                <a:spcPts val="0"/>
              </a:spcBef>
              <a:spcAft>
                <a:spcPts val="0"/>
              </a:spcAft>
              <a:buClr>
                <a:srgbClr val="002060"/>
              </a:buClr>
              <a:buSzPts val="1200"/>
              <a:buFont typeface="Noto Sans Symbols"/>
              <a:buChar char="⮚"/>
            </a:pPr>
            <a:r>
              <a:rPr lang="en-US" b="1">
                <a:solidFill>
                  <a:srgbClr val="002060"/>
                </a:solidFill>
                <a:latin typeface="Arial Rounded"/>
                <a:ea typeface="Arial Rounded"/>
                <a:cs typeface="Arial Rounded"/>
                <a:sym typeface="Arial Rounded"/>
              </a:rPr>
              <a:t>List down any five input devices.</a:t>
            </a:r>
            <a:endParaRPr/>
          </a:p>
          <a:p>
            <a:pPr marL="285750" lvl="0" indent="-285750" algn="l" rtl="0">
              <a:spcBef>
                <a:spcPts val="0"/>
              </a:spcBef>
              <a:spcAft>
                <a:spcPts val="0"/>
              </a:spcAft>
              <a:buClr>
                <a:srgbClr val="002060"/>
              </a:buClr>
              <a:buSzPts val="1200"/>
              <a:buFont typeface="Noto Sans Symbols"/>
              <a:buChar char="⮚"/>
            </a:pPr>
            <a:r>
              <a:rPr lang="en-US" b="1">
                <a:solidFill>
                  <a:srgbClr val="002060"/>
                </a:solidFill>
                <a:latin typeface="Arial Rounded"/>
                <a:ea typeface="Arial Rounded"/>
                <a:cs typeface="Arial Rounded"/>
                <a:sym typeface="Arial Rounded"/>
              </a:rPr>
              <a:t>What is the device which converts picture on a paper to an electronic image in computer ?</a:t>
            </a:r>
            <a:endParaRPr/>
          </a:p>
          <a:p>
            <a:pPr marL="0" lvl="0" indent="0" algn="l" rtl="0">
              <a:spcBef>
                <a:spcPts val="0"/>
              </a:spcBef>
              <a:spcAft>
                <a:spcPts val="0"/>
              </a:spcAft>
              <a:buNone/>
            </a:pPr>
            <a:endParaRPr/>
          </a:p>
        </p:txBody>
      </p:sp>
      <p:sp>
        <p:nvSpPr>
          <p:cNvPr id="115" name="Google Shape;115;p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2" name="Google Shape;122;p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123" name="Google Shape;123;p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3" name="Google Shape;133;p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1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1400"/>
              <a:buFont typeface="Calibri"/>
              <a:buNone/>
            </a:pPr>
            <a:r>
              <a:rPr lang="en-US" sz="1400" b="1"/>
              <a:t>Function</a:t>
            </a:r>
            <a:endParaRPr/>
          </a:p>
          <a:p>
            <a:pPr marL="0" lvl="0" indent="0" algn="l" rtl="0">
              <a:spcBef>
                <a:spcPts val="0"/>
              </a:spcBef>
              <a:spcAft>
                <a:spcPts val="0"/>
              </a:spcAft>
              <a:buClr>
                <a:schemeClr val="dk1"/>
              </a:buClr>
              <a:buSzPts val="1400"/>
              <a:buFont typeface="Calibri"/>
              <a:buNone/>
            </a:pPr>
            <a:endParaRPr sz="1400" b="1"/>
          </a:p>
          <a:p>
            <a:pPr marL="0" lvl="0" indent="0" algn="l" rtl="0">
              <a:spcBef>
                <a:spcPts val="0"/>
              </a:spcBef>
              <a:spcAft>
                <a:spcPts val="0"/>
              </a:spcAft>
              <a:buNone/>
            </a:pPr>
            <a:r>
              <a:rPr lang="en-US" sz="1100"/>
              <a:t>The name function comes from math. It is used to calculate a value based on input.</a:t>
            </a:r>
            <a:endParaRPr/>
          </a:p>
          <a:p>
            <a:pPr marL="0" lvl="0" indent="0" algn="l" rtl="0">
              <a:spcBef>
                <a:spcPts val="0"/>
              </a:spcBef>
              <a:spcAft>
                <a:spcPts val="0"/>
              </a:spcAft>
              <a:buNone/>
            </a:pPr>
            <a:r>
              <a:rPr lang="en-US" sz="1100"/>
              <a:t>A function is something that takes a bunch of inputs and returns at least one values. </a:t>
            </a:r>
            <a:endParaRPr/>
          </a:p>
          <a:p>
            <a:pPr marL="0" lvl="0" indent="0" algn="l" rtl="0">
              <a:spcBef>
                <a:spcPts val="0"/>
              </a:spcBef>
              <a:spcAft>
                <a:spcPts val="0"/>
              </a:spcAft>
              <a:buNone/>
            </a:pPr>
            <a:r>
              <a:rPr lang="en-US" sz="1100"/>
              <a:t>If the returned values are entirely determined by the inputs, and the function doesn't have any side effects (logging, perhaps, or causing state changes outside itself), then it's called a pure function.</a:t>
            </a:r>
            <a:endParaRPr/>
          </a:p>
          <a:p>
            <a:pPr marL="0" lvl="0" indent="0" algn="l" rtl="0">
              <a:spcBef>
                <a:spcPts val="330"/>
              </a:spcBef>
              <a:spcAft>
                <a:spcPts val="0"/>
              </a:spcAft>
              <a:buNone/>
            </a:pPr>
            <a:endParaRPr sz="1100" b="1" u="sng"/>
          </a:p>
        </p:txBody>
      </p:sp>
      <p:sp>
        <p:nvSpPr>
          <p:cNvPr id="143" name="Google Shape;143;p1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1" name="Google Shape;151;p1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marR="0" lvl="0" indent="0" algn="l" rtl="0">
              <a:lnSpc>
                <a:spcPct val="115000"/>
              </a:lnSpc>
              <a:spcBef>
                <a:spcPts val="0"/>
              </a:spcBef>
              <a:spcAft>
                <a:spcPts val="0"/>
              </a:spcAft>
              <a:buNone/>
            </a:pPr>
            <a:r>
              <a:rPr lang="en-US" sz="1200">
                <a:latin typeface="Libre Franklin"/>
                <a:ea typeface="Libre Franklin"/>
                <a:cs typeface="Libre Franklin"/>
                <a:sym typeface="Libre Franklin"/>
              </a:rPr>
              <a:t> </a:t>
            </a:r>
            <a:endParaRPr sz="1050">
              <a:latin typeface="Calibri"/>
              <a:ea typeface="Calibri"/>
              <a:cs typeface="Calibri"/>
              <a:sym typeface="Calibri"/>
            </a:endParaRPr>
          </a:p>
          <a:p>
            <a:pPr marL="0" marR="0" lvl="0" indent="0" algn="l" rtl="0">
              <a:lnSpc>
                <a:spcPct val="115000"/>
              </a:lnSpc>
              <a:spcBef>
                <a:spcPts val="0"/>
              </a:spcBef>
              <a:spcAft>
                <a:spcPts val="0"/>
              </a:spcAft>
              <a:buNone/>
            </a:pPr>
            <a:r>
              <a:rPr lang="en-US" sz="1050">
                <a:latin typeface="Calibri"/>
                <a:ea typeface="Calibri"/>
                <a:cs typeface="Calibri"/>
                <a:sym typeface="Calibri"/>
              </a:rPr>
              <a:t> </a:t>
            </a:r>
            <a:endParaRPr/>
          </a:p>
          <a:p>
            <a:pPr marL="0" lvl="0" indent="0" algn="l" rtl="0">
              <a:spcBef>
                <a:spcPts val="1000"/>
              </a:spcBef>
              <a:spcAft>
                <a:spcPts val="0"/>
              </a:spcAft>
              <a:buNone/>
            </a:pPr>
            <a:endParaRPr/>
          </a:p>
        </p:txBody>
      </p:sp>
      <p:sp>
        <p:nvSpPr>
          <p:cNvPr id="152" name="Google Shape;152;p1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1" name="Google Shape;161;p1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marR="0" lvl="0" indent="0" algn="l" rtl="0">
              <a:lnSpc>
                <a:spcPct val="100000"/>
              </a:lnSpc>
              <a:spcBef>
                <a:spcPts val="0"/>
              </a:spcBef>
              <a:spcAft>
                <a:spcPts val="0"/>
              </a:spcAft>
              <a:buClr>
                <a:schemeClr val="dk1"/>
              </a:buClr>
              <a:buSzPts val="1200"/>
              <a:buFont typeface="Calibri"/>
              <a:buNone/>
            </a:pPr>
            <a:r>
              <a:rPr lang="en-US" sz="1200" b="1"/>
              <a:t>Aggregate Functions</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 </a:t>
            </a:r>
            <a:r>
              <a:rPr lang="en-US" sz="1200"/>
              <a:t>Are those that operate against a collection of values to return a single, summarizing value.</a:t>
            </a:r>
            <a:endParaRPr/>
          </a:p>
          <a:p>
            <a:pPr marL="0" lvl="0" indent="0" algn="l" rtl="0">
              <a:spcBef>
                <a:spcPts val="0"/>
              </a:spcBef>
              <a:spcAft>
                <a:spcPts val="0"/>
              </a:spcAft>
              <a:buNone/>
            </a:pPr>
            <a:r>
              <a:rPr lang="en-US" sz="1200"/>
              <a:t>The number of values that are processed by the function is wholly dependent on the number of queried rows. </a:t>
            </a:r>
            <a:endParaRPr/>
          </a:p>
          <a:p>
            <a:pPr marL="0" lvl="0" indent="0" algn="l" rtl="0">
              <a:spcBef>
                <a:spcPts val="0"/>
              </a:spcBef>
              <a:spcAft>
                <a:spcPts val="0"/>
              </a:spcAft>
              <a:buNone/>
            </a:pPr>
            <a:endParaRPr/>
          </a:p>
        </p:txBody>
      </p:sp>
      <p:sp>
        <p:nvSpPr>
          <p:cNvPr id="162" name="Google Shape;162;p1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p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71" name="Google Shape;171;p1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sz="1100" b="1" u="sng"/>
          </a:p>
        </p:txBody>
      </p:sp>
      <p:sp>
        <p:nvSpPr>
          <p:cNvPr id="172" name="Google Shape;172;p1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p1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0" name="Google Shape;180;p1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 </a:t>
            </a:r>
            <a:endParaRPr/>
          </a:p>
        </p:txBody>
      </p:sp>
      <p:sp>
        <p:nvSpPr>
          <p:cNvPr id="181" name="Google Shape;181;p1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p1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9" name="Google Shape;189;p1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190" name="Google Shape;190;p1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1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0" name="Google Shape;200;p1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 </a:t>
            </a:r>
            <a:endParaRPr/>
          </a:p>
        </p:txBody>
      </p:sp>
      <p:sp>
        <p:nvSpPr>
          <p:cNvPr id="201" name="Google Shape;201;p1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p1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9" name="Google Shape;209;p1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marR="0" lvl="0" indent="0" algn="l" rtl="0">
              <a:lnSpc>
                <a:spcPct val="100000"/>
              </a:lnSpc>
              <a:spcBef>
                <a:spcPts val="0"/>
              </a:spcBef>
              <a:spcAft>
                <a:spcPts val="0"/>
              </a:spcAft>
              <a:buClr>
                <a:schemeClr val="dk1"/>
              </a:buClr>
              <a:buSzPts val="1200"/>
              <a:buFont typeface="Calibri"/>
              <a:buNone/>
            </a:pPr>
            <a:r>
              <a:rPr lang="en-US" sz="1200"/>
              <a:t>The CURRENT_DATE, CURRENT_TIME, and CURRENT_TIMESTAMP functions listed in Table are built-in functions that fall into the date-and-time category of functions. Although the five platforms provide many additional functions beyond these SQL built-ins, the SQL standard defines only those listed in Table.</a:t>
            </a:r>
            <a:endParaRPr/>
          </a:p>
          <a:p>
            <a:pPr marL="0" lvl="0" indent="0" algn="l" rtl="0">
              <a:spcBef>
                <a:spcPts val="0"/>
              </a:spcBef>
              <a:spcAft>
                <a:spcPts val="0"/>
              </a:spcAft>
              <a:buNone/>
            </a:pPr>
            <a:endParaRPr/>
          </a:p>
        </p:txBody>
      </p:sp>
      <p:sp>
        <p:nvSpPr>
          <p:cNvPr id="210" name="Google Shape;210;p1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p1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9" name="Google Shape;219;p1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 </a:t>
            </a:r>
            <a:endParaRPr/>
          </a:p>
        </p:txBody>
      </p:sp>
      <p:sp>
        <p:nvSpPr>
          <p:cNvPr id="220" name="Google Shape;220;p1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p1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28" name="Google Shape;228;p1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sz="1100" b="1" u="sng"/>
          </a:p>
        </p:txBody>
      </p:sp>
      <p:sp>
        <p:nvSpPr>
          <p:cNvPr id="229" name="Google Shape;229;p1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Google Shape;236;p2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7" name="Google Shape;237;p2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238" name="Google Shape;238;p2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p2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8" name="Google Shape;248;p2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 </a:t>
            </a:r>
            <a:endParaRPr/>
          </a:p>
        </p:txBody>
      </p:sp>
      <p:sp>
        <p:nvSpPr>
          <p:cNvPr id="249" name="Google Shape;249;p2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p2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57" name="Google Shape;257;p2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sz="1100" b="1" u="sng"/>
          </a:p>
        </p:txBody>
      </p:sp>
      <p:sp>
        <p:nvSpPr>
          <p:cNvPr id="258" name="Google Shape;258;p2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
        <p:cNvGrpSpPr/>
        <p:nvPr/>
      </p:nvGrpSpPr>
      <p:grpSpPr>
        <a:xfrm>
          <a:off x="0" y="0"/>
          <a:ext cx="0" cy="0"/>
          <a:chOff x="0" y="0"/>
          <a:chExt cx="0" cy="0"/>
        </a:xfrm>
      </p:grpSpPr>
      <p:sp>
        <p:nvSpPr>
          <p:cNvPr id="265" name="Google Shape;265;p2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6" name="Google Shape;266;p2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267" name="Google Shape;267;p2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5"/>
        <p:cNvGrpSpPr/>
        <p:nvPr/>
      </p:nvGrpSpPr>
      <p:grpSpPr>
        <a:xfrm>
          <a:off x="0" y="0"/>
          <a:ext cx="0" cy="0"/>
          <a:chOff x="0" y="0"/>
          <a:chExt cx="0" cy="0"/>
        </a:xfrm>
      </p:grpSpPr>
      <p:sp>
        <p:nvSpPr>
          <p:cNvPr id="276" name="Google Shape;276;p2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77" name="Google Shape;277;p2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sz="1100" b="1" u="sng"/>
          </a:p>
        </p:txBody>
      </p:sp>
      <p:sp>
        <p:nvSpPr>
          <p:cNvPr id="278" name="Google Shape;278;p2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4"/>
        <p:cNvGrpSpPr/>
        <p:nvPr/>
      </p:nvGrpSpPr>
      <p:grpSpPr>
        <a:xfrm>
          <a:off x="0" y="0"/>
          <a:ext cx="0" cy="0"/>
          <a:chOff x="0" y="0"/>
          <a:chExt cx="0" cy="0"/>
        </a:xfrm>
      </p:grpSpPr>
      <p:sp>
        <p:nvSpPr>
          <p:cNvPr id="285" name="Google Shape;285;p2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86" name="Google Shape;286;p2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sz="1100" b="1" u="sng"/>
          </a:p>
        </p:txBody>
      </p:sp>
      <p:sp>
        <p:nvSpPr>
          <p:cNvPr id="287" name="Google Shape;287;p2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25</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3"/>
        <p:cNvGrpSpPr/>
        <p:nvPr/>
      </p:nvGrpSpPr>
      <p:grpSpPr>
        <a:xfrm>
          <a:off x="0" y="0"/>
          <a:ext cx="0" cy="0"/>
          <a:chOff x="0" y="0"/>
          <a:chExt cx="0" cy="0"/>
        </a:xfrm>
      </p:grpSpPr>
      <p:sp>
        <p:nvSpPr>
          <p:cNvPr id="294" name="Google Shape;294;p2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5" name="Google Shape;295;p2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 </a:t>
            </a:r>
            <a:r>
              <a:rPr lang="en-US" sz="1200" b="1">
                <a:solidFill>
                  <a:schemeClr val="dk1"/>
                </a:solidFill>
                <a:latin typeface="Calibri"/>
                <a:ea typeface="Calibri"/>
                <a:cs typeface="Calibri"/>
                <a:sym typeface="Calibri"/>
              </a:rPr>
              <a:t>NULLIF</a:t>
            </a:r>
            <a:endParaRPr sz="1200" b="1"/>
          </a:p>
          <a:p>
            <a:pPr marL="0" lvl="0" indent="0" algn="l" rtl="0">
              <a:spcBef>
                <a:spcPts val="0"/>
              </a:spcBef>
              <a:spcAft>
                <a:spcPts val="0"/>
              </a:spcAft>
              <a:buNone/>
            </a:pPr>
            <a:r>
              <a:rPr lang="en-US" sz="1200">
                <a:solidFill>
                  <a:schemeClr val="dk1"/>
                </a:solidFill>
                <a:latin typeface="Calibri"/>
                <a:ea typeface="Calibri"/>
                <a:cs typeface="Calibri"/>
                <a:sym typeface="Calibri"/>
              </a:rPr>
              <a:t>Compatibility: ANSI</a:t>
            </a:r>
            <a:endParaRPr sz="1200"/>
          </a:p>
          <a:p>
            <a:pPr marL="0" lvl="0" indent="0" algn="l" rtl="0">
              <a:spcBef>
                <a:spcPts val="0"/>
              </a:spcBef>
              <a:spcAft>
                <a:spcPts val="0"/>
              </a:spcAft>
              <a:buNone/>
            </a:pPr>
            <a:r>
              <a:rPr lang="en-US" sz="1200">
                <a:solidFill>
                  <a:schemeClr val="dk1"/>
                </a:solidFill>
                <a:latin typeface="Calibri"/>
                <a:ea typeface="Calibri"/>
                <a:cs typeface="Calibri"/>
                <a:sym typeface="Calibri"/>
              </a:rPr>
              <a:t>As handy as NULLIFZERO is, it only converts a zero to a NULL. Like its predecessor, the newer ANSI standard NULLIF function also can convert a zero to a NULL. However, it can convert anything to a NULL. To use the NULLIF, the SQL must pass the name of the column to compare and the value to compare for equal.</a:t>
            </a:r>
            <a:endParaRPr sz="1200"/>
          </a:p>
          <a:p>
            <a:pPr marL="0" lvl="0" indent="0" algn="l" rtl="0">
              <a:spcBef>
                <a:spcPts val="0"/>
              </a:spcBef>
              <a:spcAft>
                <a:spcPts val="0"/>
              </a:spcAft>
              <a:buNone/>
            </a:pPr>
            <a:r>
              <a:rPr lang="en-US" sz="1200">
                <a:solidFill>
                  <a:schemeClr val="dk1"/>
                </a:solidFill>
                <a:latin typeface="Calibri"/>
                <a:ea typeface="Calibri"/>
                <a:cs typeface="Calibri"/>
                <a:sym typeface="Calibri"/>
              </a:rPr>
              <a:t>The following is the syntax for using the NULLIF function.</a:t>
            </a:r>
            <a:endParaRPr sz="1200"/>
          </a:p>
          <a:p>
            <a:pPr marL="0" lvl="0" indent="0" algn="l" rtl="0">
              <a:spcBef>
                <a:spcPts val="0"/>
              </a:spcBef>
              <a:spcAft>
                <a:spcPts val="0"/>
              </a:spcAft>
              <a:buNone/>
            </a:pPr>
            <a:r>
              <a:rPr lang="en-US" sz="1200">
                <a:solidFill>
                  <a:schemeClr val="dk1"/>
                </a:solidFill>
                <a:latin typeface="Calibri"/>
                <a:ea typeface="Calibri"/>
                <a:cs typeface="Calibri"/>
                <a:sym typeface="Calibri"/>
              </a:rPr>
              <a:t>To show the operation of the NULLIF, literal values are shown in the next example:</a:t>
            </a:r>
            <a:endParaRPr sz="1200"/>
          </a:p>
          <a:p>
            <a:pPr marL="0" lvl="0" indent="0" algn="l" rtl="0">
              <a:spcBef>
                <a:spcPts val="0"/>
              </a:spcBef>
              <a:spcAft>
                <a:spcPts val="0"/>
              </a:spcAft>
              <a:buNone/>
            </a:pPr>
            <a:endParaRPr/>
          </a:p>
        </p:txBody>
      </p:sp>
      <p:sp>
        <p:nvSpPr>
          <p:cNvPr id="296" name="Google Shape;296;p2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26</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05" name="Google Shape;305;p2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sz="1100" b="1" u="sng"/>
          </a:p>
        </p:txBody>
      </p:sp>
      <p:sp>
        <p:nvSpPr>
          <p:cNvPr id="306" name="Google Shape;306;p2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27</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3"/>
        <p:cNvGrpSpPr/>
        <p:nvPr/>
      </p:nvGrpSpPr>
      <p:grpSpPr>
        <a:xfrm>
          <a:off x="0" y="0"/>
          <a:ext cx="0" cy="0"/>
          <a:chOff x="0" y="0"/>
          <a:chExt cx="0" cy="0"/>
        </a:xfrm>
      </p:grpSpPr>
      <p:sp>
        <p:nvSpPr>
          <p:cNvPr id="314" name="Google Shape;314;p2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5" name="Google Shape;315;p2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285750" lvl="1" indent="-76200" algn="l" rtl="0">
              <a:spcBef>
                <a:spcPts val="0"/>
              </a:spcBef>
              <a:spcAft>
                <a:spcPts val="0"/>
              </a:spcAft>
              <a:buClr>
                <a:schemeClr val="dk1"/>
              </a:buClr>
              <a:buSzPts val="1200"/>
              <a:buFont typeface="Arial"/>
              <a:buChar char="•"/>
            </a:pPr>
            <a:r>
              <a:rPr lang="en-US" sz="1200" b="0" i="0" u="none" strike="noStrike">
                <a:solidFill>
                  <a:schemeClr val="dk1"/>
                </a:solidFill>
                <a:latin typeface="Calibri"/>
                <a:ea typeface="Calibri"/>
                <a:cs typeface="Calibri"/>
                <a:sym typeface="Calibri"/>
              </a:rPr>
              <a:t> </a:t>
            </a:r>
            <a:r>
              <a:rPr lang="en-US" sz="1600"/>
              <a:t>The first version returns the </a:t>
            </a:r>
            <a:r>
              <a:rPr lang="en-US" sz="1600" b="1" i="1"/>
              <a:t>result</a:t>
            </a:r>
            <a:r>
              <a:rPr lang="en-US" sz="1600"/>
              <a:t> where </a:t>
            </a:r>
            <a:r>
              <a:rPr lang="en-US" sz="1600" b="1" i="1"/>
              <a:t>value</a:t>
            </a:r>
            <a:r>
              <a:rPr lang="en-US" sz="1600"/>
              <a:t>=</a:t>
            </a:r>
            <a:r>
              <a:rPr lang="en-US" sz="1600" b="1" i="1"/>
              <a:t>compare_value</a:t>
            </a:r>
            <a:r>
              <a:rPr lang="en-US" sz="1600"/>
              <a:t>. </a:t>
            </a:r>
            <a:endParaRPr/>
          </a:p>
          <a:p>
            <a:pPr marL="285750" lvl="1" indent="-101600" algn="l" rtl="0">
              <a:spcBef>
                <a:spcPts val="0"/>
              </a:spcBef>
              <a:spcAft>
                <a:spcPts val="0"/>
              </a:spcAft>
              <a:buClr>
                <a:schemeClr val="dk1"/>
              </a:buClr>
              <a:buSzPts val="1600"/>
              <a:buFont typeface="Arial"/>
              <a:buChar char="•"/>
            </a:pPr>
            <a:r>
              <a:rPr lang="en-US" sz="1600"/>
              <a:t>The second version returns the result for the first condition that is true. </a:t>
            </a:r>
            <a:endParaRPr/>
          </a:p>
          <a:p>
            <a:pPr marL="285750" lvl="1" indent="-101600" algn="l" rtl="0">
              <a:spcBef>
                <a:spcPts val="0"/>
              </a:spcBef>
              <a:spcAft>
                <a:spcPts val="0"/>
              </a:spcAft>
              <a:buClr>
                <a:schemeClr val="dk1"/>
              </a:buClr>
              <a:buSzPts val="1600"/>
              <a:buFont typeface="Arial"/>
              <a:buChar char="•"/>
            </a:pPr>
            <a:r>
              <a:rPr lang="en-US" sz="1600"/>
              <a:t>If there was no matching result value, the result after ELSE is returned, or NULL if there is no ELSE part.</a:t>
            </a:r>
            <a:endParaRPr sz="1600" b="1"/>
          </a:p>
          <a:p>
            <a:pPr marL="0" lvl="0" indent="0" algn="l" rtl="0">
              <a:spcBef>
                <a:spcPts val="0"/>
              </a:spcBef>
              <a:spcAft>
                <a:spcPts val="0"/>
              </a:spcAft>
              <a:buNone/>
            </a:pPr>
            <a:endParaRPr/>
          </a:p>
        </p:txBody>
      </p:sp>
      <p:sp>
        <p:nvSpPr>
          <p:cNvPr id="316" name="Google Shape;316;p2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28</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2"/>
        <p:cNvGrpSpPr/>
        <p:nvPr/>
      </p:nvGrpSpPr>
      <p:grpSpPr>
        <a:xfrm>
          <a:off x="0" y="0"/>
          <a:ext cx="0" cy="0"/>
          <a:chOff x="0" y="0"/>
          <a:chExt cx="0" cy="0"/>
        </a:xfrm>
      </p:grpSpPr>
      <p:sp>
        <p:nvSpPr>
          <p:cNvPr id="323" name="Google Shape;323;p2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24" name="Google Shape;324;p2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sz="1100" b="1" u="sng"/>
          </a:p>
        </p:txBody>
      </p:sp>
      <p:sp>
        <p:nvSpPr>
          <p:cNvPr id="325" name="Google Shape;325;p2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29</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p3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2" name="Google Shape;332;p3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 </a:t>
            </a:r>
            <a:endParaRPr/>
          </a:p>
        </p:txBody>
      </p:sp>
      <p:sp>
        <p:nvSpPr>
          <p:cNvPr id="333" name="Google Shape;333;p3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30</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1"/>
        <p:cNvGrpSpPr/>
        <p:nvPr/>
      </p:nvGrpSpPr>
      <p:grpSpPr>
        <a:xfrm>
          <a:off x="0" y="0"/>
          <a:ext cx="0" cy="0"/>
          <a:chOff x="0" y="0"/>
          <a:chExt cx="0" cy="0"/>
        </a:xfrm>
      </p:grpSpPr>
      <p:sp>
        <p:nvSpPr>
          <p:cNvPr id="342" name="Google Shape;342;p3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3" name="Google Shape;343;p3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 Aggregate functions cannot be nested in MYSQL</a:t>
            </a:r>
            <a:endParaRPr/>
          </a:p>
        </p:txBody>
      </p:sp>
      <p:sp>
        <p:nvSpPr>
          <p:cNvPr id="344" name="Google Shape;344;p3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31</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0"/>
        <p:cNvGrpSpPr/>
        <p:nvPr/>
      </p:nvGrpSpPr>
      <p:grpSpPr>
        <a:xfrm>
          <a:off x="0" y="0"/>
          <a:ext cx="0" cy="0"/>
          <a:chOff x="0" y="0"/>
          <a:chExt cx="0" cy="0"/>
        </a:xfrm>
      </p:grpSpPr>
      <p:sp>
        <p:nvSpPr>
          <p:cNvPr id="351" name="Google Shape;351;p3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2" name="Google Shape;352;p3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 </a:t>
            </a:r>
            <a:endParaRPr/>
          </a:p>
        </p:txBody>
      </p:sp>
      <p:sp>
        <p:nvSpPr>
          <p:cNvPr id="353" name="Google Shape;353;p3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32</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8"/>
        <p:cNvGrpSpPr/>
        <p:nvPr/>
      </p:nvGrpSpPr>
      <p:grpSpPr>
        <a:xfrm>
          <a:off x="0" y="0"/>
          <a:ext cx="0" cy="0"/>
          <a:chOff x="0" y="0"/>
          <a:chExt cx="0" cy="0"/>
        </a:xfrm>
      </p:grpSpPr>
      <p:sp>
        <p:nvSpPr>
          <p:cNvPr id="359" name="Google Shape;359;p3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60" name="Google Shape;360;p3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 </a:t>
            </a:r>
            <a:endParaRPr/>
          </a:p>
        </p:txBody>
      </p:sp>
      <p:sp>
        <p:nvSpPr>
          <p:cNvPr id="361" name="Google Shape;361;p3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33</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7"/>
        <p:cNvGrpSpPr/>
        <p:nvPr/>
      </p:nvGrpSpPr>
      <p:grpSpPr>
        <a:xfrm>
          <a:off x="0" y="0"/>
          <a:ext cx="0" cy="0"/>
          <a:chOff x="0" y="0"/>
          <a:chExt cx="0" cy="0"/>
        </a:xfrm>
      </p:grpSpPr>
      <p:sp>
        <p:nvSpPr>
          <p:cNvPr id="368" name="Google Shape;368;p3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9" name="Google Shape;369;p3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6"/>
        <p:cNvGrpSpPr/>
        <p:nvPr/>
      </p:nvGrpSpPr>
      <p:grpSpPr>
        <a:xfrm>
          <a:off x="0" y="0"/>
          <a:ext cx="0" cy="0"/>
          <a:chOff x="0" y="0"/>
          <a:chExt cx="0" cy="0"/>
        </a:xfrm>
      </p:grpSpPr>
      <p:sp>
        <p:nvSpPr>
          <p:cNvPr id="377" name="Google Shape;377;p3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8" name="Google Shape;378;p3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4"/>
        <p:cNvGrpSpPr/>
        <p:nvPr/>
      </p:nvGrpSpPr>
      <p:grpSpPr>
        <a:xfrm>
          <a:off x="0" y="0"/>
          <a:ext cx="0" cy="0"/>
          <a:chOff x="0" y="0"/>
          <a:chExt cx="0" cy="0"/>
        </a:xfrm>
      </p:grpSpPr>
      <p:sp>
        <p:nvSpPr>
          <p:cNvPr id="385" name="Google Shape;385;p3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86" name="Google Shape;386;p3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None/>
            </a:pPr>
            <a:endParaRPr sz="1110"/>
          </a:p>
        </p:txBody>
      </p:sp>
      <p:sp>
        <p:nvSpPr>
          <p:cNvPr id="387" name="Google Shape;387;p3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36</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3"/>
        <p:cNvGrpSpPr/>
        <p:nvPr/>
      </p:nvGrpSpPr>
      <p:grpSpPr>
        <a:xfrm>
          <a:off x="0" y="0"/>
          <a:ext cx="0" cy="0"/>
          <a:chOff x="0" y="0"/>
          <a:chExt cx="0" cy="0"/>
        </a:xfrm>
      </p:grpSpPr>
      <p:sp>
        <p:nvSpPr>
          <p:cNvPr id="394" name="Google Shape;394;p3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5" name="Google Shape;395;p3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0"/>
        <p:cNvGrpSpPr/>
        <p:nvPr/>
      </p:nvGrpSpPr>
      <p:grpSpPr>
        <a:xfrm>
          <a:off x="0" y="0"/>
          <a:ext cx="0" cy="0"/>
          <a:chOff x="0" y="0"/>
          <a:chExt cx="0" cy="0"/>
        </a:xfrm>
      </p:grpSpPr>
      <p:sp>
        <p:nvSpPr>
          <p:cNvPr id="401" name="Google Shape;401;p3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02" name="Google Shape;402;p3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403" name="Google Shape;403;p3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38</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9"/>
        <p:cNvGrpSpPr/>
        <p:nvPr/>
      </p:nvGrpSpPr>
      <p:grpSpPr>
        <a:xfrm>
          <a:off x="0" y="0"/>
          <a:ext cx="0" cy="0"/>
          <a:chOff x="0" y="0"/>
          <a:chExt cx="0" cy="0"/>
        </a:xfrm>
      </p:grpSpPr>
      <p:sp>
        <p:nvSpPr>
          <p:cNvPr id="410" name="Google Shape;410;p3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11" name="Google Shape;411;p3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412" name="Google Shape;412;p3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39</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8"/>
        <p:cNvGrpSpPr/>
        <p:nvPr/>
      </p:nvGrpSpPr>
      <p:grpSpPr>
        <a:xfrm>
          <a:off x="0" y="0"/>
          <a:ext cx="0" cy="0"/>
          <a:chOff x="0" y="0"/>
          <a:chExt cx="0" cy="0"/>
        </a:xfrm>
      </p:grpSpPr>
      <p:sp>
        <p:nvSpPr>
          <p:cNvPr id="419" name="Google Shape;419;p4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20" name="Google Shape;420;p4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421" name="Google Shape;421;p4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40</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7"/>
        <p:cNvGrpSpPr/>
        <p:nvPr/>
      </p:nvGrpSpPr>
      <p:grpSpPr>
        <a:xfrm>
          <a:off x="0" y="0"/>
          <a:ext cx="0" cy="0"/>
          <a:chOff x="0" y="0"/>
          <a:chExt cx="0" cy="0"/>
        </a:xfrm>
      </p:grpSpPr>
      <p:sp>
        <p:nvSpPr>
          <p:cNvPr id="428" name="Google Shape;428;p4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29" name="Google Shape;429;p4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4"/>
        <p:cNvGrpSpPr/>
        <p:nvPr/>
      </p:nvGrpSpPr>
      <p:grpSpPr>
        <a:xfrm>
          <a:off x="0" y="0"/>
          <a:ext cx="0" cy="0"/>
          <a:chOff x="0" y="0"/>
          <a:chExt cx="0" cy="0"/>
        </a:xfrm>
      </p:grpSpPr>
      <p:sp>
        <p:nvSpPr>
          <p:cNvPr id="435" name="Google Shape;435;p4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6" name="Google Shape;436;p4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4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43" name="Google Shape;443;p4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1295"/>
              <a:buFont typeface="Calibri"/>
              <a:buNone/>
            </a:pPr>
            <a:endParaRPr sz="1295">
              <a:latin typeface="Arial"/>
              <a:ea typeface="Arial"/>
              <a:cs typeface="Arial"/>
              <a:sym typeface="Arial"/>
            </a:endParaRPr>
          </a:p>
        </p:txBody>
      </p:sp>
      <p:sp>
        <p:nvSpPr>
          <p:cNvPr id="444" name="Google Shape;444;p4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43</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1"/>
        <p:cNvGrpSpPr/>
        <p:nvPr/>
      </p:nvGrpSpPr>
      <p:grpSpPr>
        <a:xfrm>
          <a:off x="0" y="0"/>
          <a:ext cx="0" cy="0"/>
          <a:chOff x="0" y="0"/>
          <a:chExt cx="0" cy="0"/>
        </a:xfrm>
      </p:grpSpPr>
      <p:sp>
        <p:nvSpPr>
          <p:cNvPr id="452" name="Google Shape;452;p4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53" name="Google Shape;453;p4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8"/>
        <p:cNvGrpSpPr/>
        <p:nvPr/>
      </p:nvGrpSpPr>
      <p:grpSpPr>
        <a:xfrm>
          <a:off x="0" y="0"/>
          <a:ext cx="0" cy="0"/>
          <a:chOff x="0" y="0"/>
          <a:chExt cx="0" cy="0"/>
        </a:xfrm>
      </p:grpSpPr>
      <p:sp>
        <p:nvSpPr>
          <p:cNvPr id="459" name="Google Shape;459;p4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60" name="Google Shape;460;p4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461" name="Google Shape;461;p4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45</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7"/>
        <p:cNvGrpSpPr/>
        <p:nvPr/>
      </p:nvGrpSpPr>
      <p:grpSpPr>
        <a:xfrm>
          <a:off x="0" y="0"/>
          <a:ext cx="0" cy="0"/>
          <a:chOff x="0" y="0"/>
          <a:chExt cx="0" cy="0"/>
        </a:xfrm>
      </p:grpSpPr>
      <p:sp>
        <p:nvSpPr>
          <p:cNvPr id="468" name="Google Shape;468;p4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69" name="Google Shape;469;p4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4"/>
        <p:cNvGrpSpPr/>
        <p:nvPr/>
      </p:nvGrpSpPr>
      <p:grpSpPr>
        <a:xfrm>
          <a:off x="0" y="0"/>
          <a:ext cx="0" cy="0"/>
          <a:chOff x="0" y="0"/>
          <a:chExt cx="0" cy="0"/>
        </a:xfrm>
      </p:grpSpPr>
      <p:sp>
        <p:nvSpPr>
          <p:cNvPr id="475" name="Google Shape;475;p4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76" name="Google Shape;476;p4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1"/>
        <p:cNvGrpSpPr/>
        <p:nvPr/>
      </p:nvGrpSpPr>
      <p:grpSpPr>
        <a:xfrm>
          <a:off x="0" y="0"/>
          <a:ext cx="0" cy="0"/>
          <a:chOff x="0" y="0"/>
          <a:chExt cx="0" cy="0"/>
        </a:xfrm>
      </p:grpSpPr>
      <p:sp>
        <p:nvSpPr>
          <p:cNvPr id="482" name="Google Shape;482;p4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83" name="Google Shape;483;p4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0"/>
        <p:cNvGrpSpPr/>
        <p:nvPr/>
      </p:nvGrpSpPr>
      <p:grpSpPr>
        <a:xfrm>
          <a:off x="0" y="0"/>
          <a:ext cx="0" cy="0"/>
          <a:chOff x="0" y="0"/>
          <a:chExt cx="0" cy="0"/>
        </a:xfrm>
      </p:grpSpPr>
      <p:sp>
        <p:nvSpPr>
          <p:cNvPr id="491" name="Google Shape;491;p4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2" name="Google Shape;492;p4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9"/>
        <p:cNvGrpSpPr/>
        <p:nvPr/>
      </p:nvGrpSpPr>
      <p:grpSpPr>
        <a:xfrm>
          <a:off x="0" y="0"/>
          <a:ext cx="0" cy="0"/>
          <a:chOff x="0" y="0"/>
          <a:chExt cx="0" cy="0"/>
        </a:xfrm>
      </p:grpSpPr>
      <p:sp>
        <p:nvSpPr>
          <p:cNvPr id="500" name="Google Shape;500;p5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1" name="Google Shape;501;p5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8"/>
        <p:cNvGrpSpPr/>
        <p:nvPr/>
      </p:nvGrpSpPr>
      <p:grpSpPr>
        <a:xfrm>
          <a:off x="0" y="0"/>
          <a:ext cx="0" cy="0"/>
          <a:chOff x="0" y="0"/>
          <a:chExt cx="0" cy="0"/>
        </a:xfrm>
      </p:grpSpPr>
      <p:sp>
        <p:nvSpPr>
          <p:cNvPr id="509" name="Google Shape;509;p5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10" name="Google Shape;510;p5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6"/>
        <p:cNvGrpSpPr/>
        <p:nvPr/>
      </p:nvGrpSpPr>
      <p:grpSpPr>
        <a:xfrm>
          <a:off x="0" y="0"/>
          <a:ext cx="0" cy="0"/>
          <a:chOff x="0" y="0"/>
          <a:chExt cx="0" cy="0"/>
        </a:xfrm>
      </p:grpSpPr>
      <p:sp>
        <p:nvSpPr>
          <p:cNvPr id="517" name="Google Shape;517;p5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18" name="Google Shape;518;p5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jpg"/><Relationship Id="rId1" Type="http://schemas.openxmlformats.org/officeDocument/2006/relationships/slideMaster" Target="../slideMasters/slideMaster1.xml"/><Relationship Id="rId4" Type="http://schemas.openxmlformats.org/officeDocument/2006/relationships/image" Target="../media/image5.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jpg"/><Relationship Id="rId1" Type="http://schemas.openxmlformats.org/officeDocument/2006/relationships/slideMaster" Target="../slideMasters/slideMaster1.xml"/><Relationship Id="rId4" Type="http://schemas.openxmlformats.org/officeDocument/2006/relationships/image" Target="../media/image6.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_Slide">
  <p:cSld name="Title_Slide">
    <p:bg>
      <p:bgPr>
        <a:blipFill>
          <a:blip r:embed="rId2">
            <a:alphaModFix/>
          </a:blip>
          <a:stretch>
            <a:fillRect/>
          </a:stretch>
        </a:blipFill>
        <a:effectLst/>
      </p:bgPr>
    </p:bg>
    <p:spTree>
      <p:nvGrpSpPr>
        <p:cNvPr id="1" name="Shape 13"/>
        <p:cNvGrpSpPr/>
        <p:nvPr/>
      </p:nvGrpSpPr>
      <p:grpSpPr>
        <a:xfrm>
          <a:off x="0" y="0"/>
          <a:ext cx="0" cy="0"/>
          <a:chOff x="0" y="0"/>
          <a:chExt cx="0" cy="0"/>
        </a:xfrm>
      </p:grpSpPr>
      <p:pic>
        <p:nvPicPr>
          <p:cNvPr id="14" name="Google Shape;14;p54"/>
          <p:cNvPicPr preferRelativeResize="0"/>
          <p:nvPr/>
        </p:nvPicPr>
        <p:blipFill rotWithShape="1">
          <a:blip r:embed="rId3">
            <a:alphaModFix/>
          </a:blip>
          <a:srcRect/>
          <a:stretch/>
        </p:blipFill>
        <p:spPr>
          <a:xfrm>
            <a:off x="0" y="13394"/>
            <a:ext cx="9144000" cy="6831211"/>
          </a:xfrm>
          <a:prstGeom prst="rect">
            <a:avLst/>
          </a:prstGeom>
          <a:noFill/>
          <a:ln>
            <a:noFill/>
          </a:ln>
        </p:spPr>
      </p:pic>
      <p:sp>
        <p:nvSpPr>
          <p:cNvPr id="15" name="Google Shape;15;p54"/>
          <p:cNvSpPr/>
          <p:nvPr/>
        </p:nvSpPr>
        <p:spPr>
          <a:xfrm>
            <a:off x="0" y="1905000"/>
            <a:ext cx="9144000" cy="1143000"/>
          </a:xfrm>
          <a:prstGeom prst="rect">
            <a:avLst/>
          </a:prstGeom>
          <a:gradFill>
            <a:gsLst>
              <a:gs pos="0">
                <a:srgbClr val="93C0C0"/>
              </a:gs>
              <a:gs pos="50000">
                <a:srgbClr val="BED6D6"/>
              </a:gs>
              <a:gs pos="100000">
                <a:srgbClr val="DFEBEB"/>
              </a:gs>
            </a:gsLst>
            <a:path path="circle">
              <a:fillToRect t="100000" r="100000"/>
            </a:path>
            <a:tileRect l="-100000" b="-100000"/>
          </a:gradFill>
          <a:ln>
            <a:noFill/>
          </a:ln>
        </p:spPr>
        <p:txBody>
          <a:bodyPr spcFirstLastPara="1" wrap="square" lIns="91425" tIns="45700" rIns="91425" bIns="45700" anchor="ctr" anchorCtr="0">
            <a:noAutofit/>
          </a:bodyPr>
          <a:lstStyle/>
          <a:p>
            <a:pPr marL="457200" marR="0" lvl="1" indent="0" algn="l" rtl="0">
              <a:spcBef>
                <a:spcPts val="0"/>
              </a:spcBef>
              <a:spcAft>
                <a:spcPts val="0"/>
              </a:spcAft>
              <a:buNone/>
            </a:pPr>
            <a:endParaRPr sz="2400" b="1" i="0" u="none" strike="noStrike" cap="none">
              <a:solidFill>
                <a:schemeClr val="lt1"/>
              </a:solidFill>
              <a:latin typeface="Calibri"/>
              <a:ea typeface="Calibri"/>
              <a:cs typeface="Calibri"/>
              <a:sym typeface="Calibri"/>
            </a:endParaRPr>
          </a:p>
        </p:txBody>
      </p:sp>
      <p:sp>
        <p:nvSpPr>
          <p:cNvPr id="16" name="Google Shape;16;p54"/>
          <p:cNvSpPr/>
          <p:nvPr/>
        </p:nvSpPr>
        <p:spPr>
          <a:xfrm>
            <a:off x="0" y="3048000"/>
            <a:ext cx="9144000" cy="1219200"/>
          </a:xfrm>
          <a:prstGeom prst="rect">
            <a:avLst/>
          </a:prstGeom>
          <a:gradFill>
            <a:gsLst>
              <a:gs pos="0">
                <a:srgbClr val="953735"/>
              </a:gs>
              <a:gs pos="50000">
                <a:srgbClr val="822824"/>
              </a:gs>
              <a:gs pos="100000">
                <a:srgbClr val="9C302C"/>
              </a:gs>
            </a:gsLst>
            <a:lin ang="10800000" scaled="0"/>
          </a:gradFill>
          <a:ln>
            <a:noFill/>
          </a:ln>
        </p:spPr>
        <p:txBody>
          <a:bodyPr spcFirstLastPara="1" wrap="square" lIns="91425" tIns="45700" rIns="91425" bIns="45700" anchor="ctr" anchorCtr="0">
            <a:noAutofit/>
          </a:bodyPr>
          <a:lstStyle/>
          <a:p>
            <a:pPr marL="457200" marR="0" lvl="1" indent="0" algn="l" rtl="0">
              <a:spcBef>
                <a:spcPts val="0"/>
              </a:spcBef>
              <a:spcAft>
                <a:spcPts val="0"/>
              </a:spcAft>
              <a:buNone/>
            </a:pPr>
            <a:endParaRPr sz="2800" b="0" i="0" u="none" strike="noStrike" cap="none">
              <a:solidFill>
                <a:schemeClr val="lt1"/>
              </a:solidFill>
              <a:latin typeface="Open Sans"/>
              <a:ea typeface="Open Sans"/>
              <a:cs typeface="Open Sans"/>
              <a:sym typeface="Open Sans"/>
            </a:endParaRPr>
          </a:p>
        </p:txBody>
      </p:sp>
      <p:pic>
        <p:nvPicPr>
          <p:cNvPr id="17" name="Google Shape;17;p54" descr="picture.jpg"/>
          <p:cNvPicPr preferRelativeResize="0"/>
          <p:nvPr/>
        </p:nvPicPr>
        <p:blipFill rotWithShape="1">
          <a:blip r:embed="rId4">
            <a:alphaModFix/>
          </a:blip>
          <a:srcRect/>
          <a:stretch/>
        </p:blipFill>
        <p:spPr>
          <a:xfrm>
            <a:off x="5792789" y="1752601"/>
            <a:ext cx="3046412" cy="2703513"/>
          </a:xfrm>
          <a:prstGeom prst="roundRect">
            <a:avLst>
              <a:gd name="adj" fmla="val 8594"/>
            </a:avLst>
          </a:prstGeom>
          <a:solidFill>
            <a:srgbClr val="ECECEC"/>
          </a:solidFill>
          <a:ln>
            <a:noFill/>
          </a:ln>
          <a:effectLst>
            <a:outerShdw blurRad="50800" dist="38100" dir="2700000" algn="tl" rotWithShape="0">
              <a:srgbClr val="000000">
                <a:alpha val="40000"/>
              </a:srgbClr>
            </a:outerShdw>
            <a:reflection stA="38000" endPos="28000" dist="5000" dir="5400000" sy="-100000" algn="bl" rotWithShape="0"/>
          </a:effec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Learn_How" type="obj">
  <p:cSld name="OBJECT">
    <p:spTree>
      <p:nvGrpSpPr>
        <p:cNvPr id="1" name="Shape 18"/>
        <p:cNvGrpSpPr/>
        <p:nvPr/>
      </p:nvGrpSpPr>
      <p:grpSpPr>
        <a:xfrm>
          <a:off x="0" y="0"/>
          <a:ext cx="0" cy="0"/>
          <a:chOff x="0" y="0"/>
          <a:chExt cx="0" cy="0"/>
        </a:xfrm>
      </p:grpSpPr>
      <p:sp>
        <p:nvSpPr>
          <p:cNvPr id="19" name="Google Shape;19;p55"/>
          <p:cNvSpPr txBox="1">
            <a:spLocks noGrp="1"/>
          </p:cNvSpPr>
          <p:nvPr>
            <p:ph type="title"/>
          </p:nvPr>
        </p:nvSpPr>
        <p:spPr>
          <a:xfrm>
            <a:off x="1303020" y="-152400"/>
            <a:ext cx="8298180" cy="11430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atin typeface="Verdana"/>
                <a:ea typeface="Verdana"/>
                <a:cs typeface="Verdana"/>
                <a:sym typeface="Verdana"/>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55"/>
          <p:cNvSpPr txBox="1">
            <a:spLocks noGrp="1"/>
          </p:cNvSpPr>
          <p:nvPr>
            <p:ph type="body" idx="1"/>
          </p:nvPr>
        </p:nvSpPr>
        <p:spPr>
          <a:xfrm>
            <a:off x="228600" y="1609725"/>
            <a:ext cx="8686800" cy="4946650"/>
          </a:xfrm>
          <a:prstGeom prst="rect">
            <a:avLst/>
          </a:prstGeom>
          <a:noFill/>
          <a:ln>
            <a:noFill/>
          </a:ln>
        </p:spPr>
        <p:txBody>
          <a:bodyPr spcFirstLastPara="1" wrap="square" lIns="91425" tIns="45700" rIns="91425" bIns="45700" anchor="t" anchorCtr="0">
            <a:noAutofit/>
          </a:bodyPr>
          <a:lstStyle>
            <a:lvl1pPr marL="457200" lvl="0" indent="-393700" algn="l">
              <a:spcBef>
                <a:spcPts val="520"/>
              </a:spcBef>
              <a:spcAft>
                <a:spcPts val="0"/>
              </a:spcAft>
              <a:buClr>
                <a:schemeClr val="dk1"/>
              </a:buClr>
              <a:buSzPts val="2600"/>
              <a:buFont typeface="Arial"/>
              <a:buChar char="•"/>
              <a:defRPr>
                <a:latin typeface="Calibri"/>
                <a:ea typeface="Calibri"/>
                <a:cs typeface="Calibri"/>
                <a:sym typeface="Calibri"/>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1" name="Google Shape;21;p55"/>
          <p:cNvSpPr txBox="1">
            <a:spLocks noGrp="1"/>
          </p:cNvSpPr>
          <p:nvPr>
            <p:ph type="sldNum" idx="12"/>
          </p:nvPr>
        </p:nvSpPr>
        <p:spPr>
          <a:xfrm>
            <a:off x="138752" y="6414139"/>
            <a:ext cx="457200" cy="277813"/>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400" b="0" i="0" u="none" strike="noStrike" cap="none">
                <a:solidFill>
                  <a:srgbClr val="953735"/>
                </a:solidFill>
                <a:latin typeface="Calibri"/>
                <a:ea typeface="Calibri"/>
                <a:cs typeface="Calibri"/>
                <a:sym typeface="Calibri"/>
              </a:defRPr>
            </a:lvl1pPr>
            <a:lvl2pPr marL="0" marR="0" lvl="1" indent="0" algn="l" rtl="0">
              <a:spcBef>
                <a:spcPts val="0"/>
              </a:spcBef>
              <a:buNone/>
              <a:defRPr sz="1400" b="0" i="0" u="none" strike="noStrike" cap="none">
                <a:solidFill>
                  <a:srgbClr val="953735"/>
                </a:solidFill>
                <a:latin typeface="Calibri"/>
                <a:ea typeface="Calibri"/>
                <a:cs typeface="Calibri"/>
                <a:sym typeface="Calibri"/>
              </a:defRPr>
            </a:lvl2pPr>
            <a:lvl3pPr marL="0" marR="0" lvl="2" indent="0" algn="l" rtl="0">
              <a:spcBef>
                <a:spcPts val="0"/>
              </a:spcBef>
              <a:buNone/>
              <a:defRPr sz="1400" b="0" i="0" u="none" strike="noStrike" cap="none">
                <a:solidFill>
                  <a:srgbClr val="953735"/>
                </a:solidFill>
                <a:latin typeface="Calibri"/>
                <a:ea typeface="Calibri"/>
                <a:cs typeface="Calibri"/>
                <a:sym typeface="Calibri"/>
              </a:defRPr>
            </a:lvl3pPr>
            <a:lvl4pPr marL="0" marR="0" lvl="3" indent="0" algn="l" rtl="0">
              <a:spcBef>
                <a:spcPts val="0"/>
              </a:spcBef>
              <a:buNone/>
              <a:defRPr sz="1400" b="0" i="0" u="none" strike="noStrike" cap="none">
                <a:solidFill>
                  <a:srgbClr val="953735"/>
                </a:solidFill>
                <a:latin typeface="Calibri"/>
                <a:ea typeface="Calibri"/>
                <a:cs typeface="Calibri"/>
                <a:sym typeface="Calibri"/>
              </a:defRPr>
            </a:lvl4pPr>
            <a:lvl5pPr marL="0" marR="0" lvl="4" indent="0" algn="l" rtl="0">
              <a:spcBef>
                <a:spcPts val="0"/>
              </a:spcBef>
              <a:buNone/>
              <a:defRPr sz="1400" b="0" i="0" u="none" strike="noStrike" cap="none">
                <a:solidFill>
                  <a:srgbClr val="953735"/>
                </a:solidFill>
                <a:latin typeface="Calibri"/>
                <a:ea typeface="Calibri"/>
                <a:cs typeface="Calibri"/>
                <a:sym typeface="Calibri"/>
              </a:defRPr>
            </a:lvl5pPr>
            <a:lvl6pPr marL="0" marR="0" lvl="5" indent="0" algn="l" rtl="0">
              <a:spcBef>
                <a:spcPts val="0"/>
              </a:spcBef>
              <a:buNone/>
              <a:defRPr sz="1400" b="0" i="0" u="none" strike="noStrike" cap="none">
                <a:solidFill>
                  <a:srgbClr val="953735"/>
                </a:solidFill>
                <a:latin typeface="Calibri"/>
                <a:ea typeface="Calibri"/>
                <a:cs typeface="Calibri"/>
                <a:sym typeface="Calibri"/>
              </a:defRPr>
            </a:lvl6pPr>
            <a:lvl7pPr marL="0" marR="0" lvl="6" indent="0" algn="l" rtl="0">
              <a:spcBef>
                <a:spcPts val="0"/>
              </a:spcBef>
              <a:buNone/>
              <a:defRPr sz="1400" b="0" i="0" u="none" strike="noStrike" cap="none">
                <a:solidFill>
                  <a:srgbClr val="953735"/>
                </a:solidFill>
                <a:latin typeface="Calibri"/>
                <a:ea typeface="Calibri"/>
                <a:cs typeface="Calibri"/>
                <a:sym typeface="Calibri"/>
              </a:defRPr>
            </a:lvl7pPr>
            <a:lvl8pPr marL="0" marR="0" lvl="7" indent="0" algn="l" rtl="0">
              <a:spcBef>
                <a:spcPts val="0"/>
              </a:spcBef>
              <a:buNone/>
              <a:defRPr sz="1400" b="0" i="0" u="none" strike="noStrike" cap="none">
                <a:solidFill>
                  <a:srgbClr val="953735"/>
                </a:solidFill>
                <a:latin typeface="Calibri"/>
                <a:ea typeface="Calibri"/>
                <a:cs typeface="Calibri"/>
                <a:sym typeface="Calibri"/>
              </a:defRPr>
            </a:lvl8pPr>
            <a:lvl9pPr marL="0" marR="0" lvl="8" indent="0" algn="l" rtl="0">
              <a:spcBef>
                <a:spcPts val="0"/>
              </a:spcBef>
              <a:buNone/>
              <a:defRPr sz="1400" b="0" i="0" u="none" strike="noStrike" cap="none">
                <a:solidFill>
                  <a:srgbClr val="953735"/>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Objectives">
  <p:cSld name="Objectives">
    <p:spTree>
      <p:nvGrpSpPr>
        <p:cNvPr id="1" name="Shape 22"/>
        <p:cNvGrpSpPr/>
        <p:nvPr/>
      </p:nvGrpSpPr>
      <p:grpSpPr>
        <a:xfrm>
          <a:off x="0" y="0"/>
          <a:ext cx="0" cy="0"/>
          <a:chOff x="0" y="0"/>
          <a:chExt cx="0" cy="0"/>
        </a:xfrm>
      </p:grpSpPr>
      <p:sp>
        <p:nvSpPr>
          <p:cNvPr id="23" name="Google Shape;23;p56"/>
          <p:cNvSpPr txBox="1">
            <a:spLocks noGrp="1"/>
          </p:cNvSpPr>
          <p:nvPr>
            <p:ph type="body" idx="1"/>
          </p:nvPr>
        </p:nvSpPr>
        <p:spPr>
          <a:xfrm>
            <a:off x="228600" y="1609725"/>
            <a:ext cx="8686800" cy="4946650"/>
          </a:xfrm>
          <a:prstGeom prst="rect">
            <a:avLst/>
          </a:prstGeom>
          <a:noFill/>
          <a:ln>
            <a:noFill/>
          </a:ln>
        </p:spPr>
        <p:txBody>
          <a:bodyPr spcFirstLastPara="1" wrap="square" lIns="91425" tIns="45700" rIns="91425" bIns="45700" anchor="t" anchorCtr="0">
            <a:noAutofit/>
          </a:bodyPr>
          <a:lstStyle>
            <a:lvl1pPr marL="457200" lvl="0" indent="-393700" algn="l">
              <a:spcBef>
                <a:spcPts val="520"/>
              </a:spcBef>
              <a:spcAft>
                <a:spcPts val="0"/>
              </a:spcAft>
              <a:buClr>
                <a:schemeClr val="dk1"/>
              </a:buClr>
              <a:buSzPts val="2600"/>
              <a:buFont typeface="Arial"/>
              <a:buChar char="•"/>
              <a:defRPr/>
            </a:lvl1pPr>
            <a:lvl2pPr marL="914400" lvl="1" indent="-381000" algn="l">
              <a:spcBef>
                <a:spcPts val="480"/>
              </a:spcBef>
              <a:spcAft>
                <a:spcPts val="0"/>
              </a:spcAft>
              <a:buClr>
                <a:schemeClr val="dk1"/>
              </a:buClr>
              <a:buSzPts val="2400"/>
              <a:buFont typeface="Arial"/>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56"/>
          <p:cNvSpPr txBox="1">
            <a:spLocks noGrp="1"/>
          </p:cNvSpPr>
          <p:nvPr>
            <p:ph type="sldNum" idx="12"/>
          </p:nvPr>
        </p:nvSpPr>
        <p:spPr>
          <a:xfrm>
            <a:off x="138752" y="6414139"/>
            <a:ext cx="457200" cy="277813"/>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400" b="0" i="0" u="none" strike="noStrike" cap="none">
                <a:solidFill>
                  <a:srgbClr val="953735"/>
                </a:solidFill>
                <a:latin typeface="Calibri"/>
                <a:ea typeface="Calibri"/>
                <a:cs typeface="Calibri"/>
                <a:sym typeface="Calibri"/>
              </a:defRPr>
            </a:lvl1pPr>
            <a:lvl2pPr marL="0" marR="0" lvl="1" indent="0" algn="l" rtl="0">
              <a:spcBef>
                <a:spcPts val="0"/>
              </a:spcBef>
              <a:buNone/>
              <a:defRPr sz="1400" b="0" i="0" u="none" strike="noStrike" cap="none">
                <a:solidFill>
                  <a:srgbClr val="953735"/>
                </a:solidFill>
                <a:latin typeface="Calibri"/>
                <a:ea typeface="Calibri"/>
                <a:cs typeface="Calibri"/>
                <a:sym typeface="Calibri"/>
              </a:defRPr>
            </a:lvl2pPr>
            <a:lvl3pPr marL="0" marR="0" lvl="2" indent="0" algn="l" rtl="0">
              <a:spcBef>
                <a:spcPts val="0"/>
              </a:spcBef>
              <a:buNone/>
              <a:defRPr sz="1400" b="0" i="0" u="none" strike="noStrike" cap="none">
                <a:solidFill>
                  <a:srgbClr val="953735"/>
                </a:solidFill>
                <a:latin typeface="Calibri"/>
                <a:ea typeface="Calibri"/>
                <a:cs typeface="Calibri"/>
                <a:sym typeface="Calibri"/>
              </a:defRPr>
            </a:lvl3pPr>
            <a:lvl4pPr marL="0" marR="0" lvl="3" indent="0" algn="l" rtl="0">
              <a:spcBef>
                <a:spcPts val="0"/>
              </a:spcBef>
              <a:buNone/>
              <a:defRPr sz="1400" b="0" i="0" u="none" strike="noStrike" cap="none">
                <a:solidFill>
                  <a:srgbClr val="953735"/>
                </a:solidFill>
                <a:latin typeface="Calibri"/>
                <a:ea typeface="Calibri"/>
                <a:cs typeface="Calibri"/>
                <a:sym typeface="Calibri"/>
              </a:defRPr>
            </a:lvl4pPr>
            <a:lvl5pPr marL="0" marR="0" lvl="4" indent="0" algn="l" rtl="0">
              <a:spcBef>
                <a:spcPts val="0"/>
              </a:spcBef>
              <a:buNone/>
              <a:defRPr sz="1400" b="0" i="0" u="none" strike="noStrike" cap="none">
                <a:solidFill>
                  <a:srgbClr val="953735"/>
                </a:solidFill>
                <a:latin typeface="Calibri"/>
                <a:ea typeface="Calibri"/>
                <a:cs typeface="Calibri"/>
                <a:sym typeface="Calibri"/>
              </a:defRPr>
            </a:lvl5pPr>
            <a:lvl6pPr marL="0" marR="0" lvl="5" indent="0" algn="l" rtl="0">
              <a:spcBef>
                <a:spcPts val="0"/>
              </a:spcBef>
              <a:buNone/>
              <a:defRPr sz="1400" b="0" i="0" u="none" strike="noStrike" cap="none">
                <a:solidFill>
                  <a:srgbClr val="953735"/>
                </a:solidFill>
                <a:latin typeface="Calibri"/>
                <a:ea typeface="Calibri"/>
                <a:cs typeface="Calibri"/>
                <a:sym typeface="Calibri"/>
              </a:defRPr>
            </a:lvl6pPr>
            <a:lvl7pPr marL="0" marR="0" lvl="6" indent="0" algn="l" rtl="0">
              <a:spcBef>
                <a:spcPts val="0"/>
              </a:spcBef>
              <a:buNone/>
              <a:defRPr sz="1400" b="0" i="0" u="none" strike="noStrike" cap="none">
                <a:solidFill>
                  <a:srgbClr val="953735"/>
                </a:solidFill>
                <a:latin typeface="Calibri"/>
                <a:ea typeface="Calibri"/>
                <a:cs typeface="Calibri"/>
                <a:sym typeface="Calibri"/>
              </a:defRPr>
            </a:lvl7pPr>
            <a:lvl8pPr marL="0" marR="0" lvl="7" indent="0" algn="l" rtl="0">
              <a:spcBef>
                <a:spcPts val="0"/>
              </a:spcBef>
              <a:buNone/>
              <a:defRPr sz="1400" b="0" i="0" u="none" strike="noStrike" cap="none">
                <a:solidFill>
                  <a:srgbClr val="953735"/>
                </a:solidFill>
                <a:latin typeface="Calibri"/>
                <a:ea typeface="Calibri"/>
                <a:cs typeface="Calibri"/>
                <a:sym typeface="Calibri"/>
              </a:defRPr>
            </a:lvl8pPr>
            <a:lvl9pPr marL="0" marR="0" lvl="8" indent="0" algn="l" rtl="0">
              <a:spcBef>
                <a:spcPts val="0"/>
              </a:spcBef>
              <a:buNone/>
              <a:defRPr sz="1400" b="0" i="0" u="none" strike="noStrike" cap="none">
                <a:solidFill>
                  <a:srgbClr val="953735"/>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
        <p:nvSpPr>
          <p:cNvPr id="25" name="Google Shape;25;p56"/>
          <p:cNvSpPr txBox="1">
            <a:spLocks noGrp="1"/>
          </p:cNvSpPr>
          <p:nvPr>
            <p:ph type="title"/>
          </p:nvPr>
        </p:nvSpPr>
        <p:spPr>
          <a:xfrm>
            <a:off x="1303020" y="-152400"/>
            <a:ext cx="8298180" cy="11430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matchingName="Course_Completion_Page">
  <p:cSld name="Course_Completion_Page">
    <p:bg>
      <p:bgPr>
        <a:blipFill>
          <a:blip r:embed="rId2">
            <a:alphaModFix/>
          </a:blip>
          <a:stretch>
            <a:fillRect/>
          </a:stretch>
        </a:blipFill>
        <a:effectLst/>
      </p:bgPr>
    </p:bg>
    <p:spTree>
      <p:nvGrpSpPr>
        <p:cNvPr id="1" name="Shape 26"/>
        <p:cNvGrpSpPr/>
        <p:nvPr/>
      </p:nvGrpSpPr>
      <p:grpSpPr>
        <a:xfrm>
          <a:off x="0" y="0"/>
          <a:ext cx="0" cy="0"/>
          <a:chOff x="0" y="0"/>
          <a:chExt cx="0" cy="0"/>
        </a:xfrm>
      </p:grpSpPr>
      <p:pic>
        <p:nvPicPr>
          <p:cNvPr id="27" name="Google Shape;27;p57"/>
          <p:cNvPicPr preferRelativeResize="0"/>
          <p:nvPr/>
        </p:nvPicPr>
        <p:blipFill rotWithShape="1">
          <a:blip r:embed="rId3">
            <a:alphaModFix/>
          </a:blip>
          <a:srcRect/>
          <a:stretch/>
        </p:blipFill>
        <p:spPr>
          <a:xfrm>
            <a:off x="0" y="13394"/>
            <a:ext cx="9144000" cy="6831211"/>
          </a:xfrm>
          <a:prstGeom prst="rect">
            <a:avLst/>
          </a:prstGeom>
          <a:noFill/>
          <a:ln>
            <a:noFill/>
          </a:ln>
        </p:spPr>
      </p:pic>
      <p:sp>
        <p:nvSpPr>
          <p:cNvPr id="28" name="Google Shape;28;p57"/>
          <p:cNvSpPr/>
          <p:nvPr/>
        </p:nvSpPr>
        <p:spPr>
          <a:xfrm>
            <a:off x="0" y="1905000"/>
            <a:ext cx="9144000" cy="1143000"/>
          </a:xfrm>
          <a:prstGeom prst="rect">
            <a:avLst/>
          </a:prstGeom>
          <a:gradFill>
            <a:gsLst>
              <a:gs pos="0">
                <a:srgbClr val="93C0C0"/>
              </a:gs>
              <a:gs pos="50000">
                <a:srgbClr val="BED6D6"/>
              </a:gs>
              <a:gs pos="100000">
                <a:srgbClr val="DFEBEB"/>
              </a:gs>
            </a:gsLst>
            <a:path path="circle">
              <a:fillToRect t="100000" r="100000"/>
            </a:path>
            <a:tileRect l="-100000" b="-100000"/>
          </a:gradFill>
          <a:ln>
            <a:noFill/>
          </a:ln>
        </p:spPr>
        <p:txBody>
          <a:bodyPr spcFirstLastPara="1" wrap="square" lIns="91425" tIns="45700" rIns="91425" bIns="45700" anchor="ctr" anchorCtr="0">
            <a:noAutofit/>
          </a:bodyPr>
          <a:lstStyle/>
          <a:p>
            <a:pPr marL="457200" marR="0" lvl="1" indent="0" algn="l" rtl="0">
              <a:spcBef>
                <a:spcPts val="0"/>
              </a:spcBef>
              <a:spcAft>
                <a:spcPts val="0"/>
              </a:spcAft>
              <a:buNone/>
            </a:pPr>
            <a:endParaRPr sz="2400" b="1" i="0" u="none" strike="noStrike" cap="none">
              <a:solidFill>
                <a:schemeClr val="lt1"/>
              </a:solidFill>
              <a:latin typeface="Calibri"/>
              <a:ea typeface="Calibri"/>
              <a:cs typeface="Calibri"/>
              <a:sym typeface="Calibri"/>
            </a:endParaRPr>
          </a:p>
        </p:txBody>
      </p:sp>
      <p:sp>
        <p:nvSpPr>
          <p:cNvPr id="29" name="Google Shape;29;p57"/>
          <p:cNvSpPr/>
          <p:nvPr/>
        </p:nvSpPr>
        <p:spPr>
          <a:xfrm>
            <a:off x="0" y="3048000"/>
            <a:ext cx="9144000" cy="1219200"/>
          </a:xfrm>
          <a:prstGeom prst="rect">
            <a:avLst/>
          </a:prstGeom>
          <a:gradFill>
            <a:gsLst>
              <a:gs pos="0">
                <a:srgbClr val="953735"/>
              </a:gs>
              <a:gs pos="50000">
                <a:srgbClr val="822824"/>
              </a:gs>
              <a:gs pos="100000">
                <a:srgbClr val="9C302C"/>
              </a:gs>
            </a:gsLst>
            <a:lin ang="10800000" scaled="0"/>
          </a:gradFill>
          <a:ln>
            <a:noFill/>
          </a:ln>
        </p:spPr>
        <p:txBody>
          <a:bodyPr spcFirstLastPara="1" wrap="square" lIns="91425" tIns="45700" rIns="91425" bIns="45700" anchor="ctr" anchorCtr="0">
            <a:noAutofit/>
          </a:bodyPr>
          <a:lstStyle/>
          <a:p>
            <a:pPr marL="457200" marR="0" lvl="1" indent="0" algn="l" rtl="0">
              <a:spcBef>
                <a:spcPts val="0"/>
              </a:spcBef>
              <a:spcAft>
                <a:spcPts val="0"/>
              </a:spcAft>
              <a:buNone/>
            </a:pPr>
            <a:endParaRPr sz="2800" b="0" i="0" u="none" strike="noStrike" cap="none">
              <a:solidFill>
                <a:schemeClr val="lt1"/>
              </a:solidFill>
              <a:latin typeface="Open Sans"/>
              <a:ea typeface="Open Sans"/>
              <a:cs typeface="Open Sans"/>
              <a:sym typeface="Open Sans"/>
            </a:endParaRPr>
          </a:p>
        </p:txBody>
      </p:sp>
      <p:pic>
        <p:nvPicPr>
          <p:cNvPr id="30" name="Google Shape;30;p57" descr="present-1_03.jpg"/>
          <p:cNvPicPr preferRelativeResize="0"/>
          <p:nvPr/>
        </p:nvPicPr>
        <p:blipFill rotWithShape="1">
          <a:blip r:embed="rId4">
            <a:alphaModFix/>
          </a:blip>
          <a:srcRect/>
          <a:stretch/>
        </p:blipFill>
        <p:spPr>
          <a:xfrm>
            <a:off x="5791200" y="1712913"/>
            <a:ext cx="3048000" cy="2706687"/>
          </a:xfrm>
          <a:prstGeom prst="rect">
            <a:avLst/>
          </a:prstGeom>
          <a:noFill/>
          <a:ln>
            <a:noFill/>
          </a:ln>
          <a:effectLst>
            <a:outerShdw blurRad="292100" dist="139700" dir="2700000" algn="tl" rotWithShape="0">
              <a:srgbClr val="333333">
                <a:alpha val="64705"/>
              </a:srgbClr>
            </a:outerShdw>
          </a:effec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31"/>
        <p:cNvGrpSpPr/>
        <p:nvPr/>
      </p:nvGrpSpPr>
      <p:grpSpPr>
        <a:xfrm>
          <a:off x="0" y="0"/>
          <a:ext cx="0" cy="0"/>
          <a:chOff x="0" y="0"/>
          <a:chExt cx="0" cy="0"/>
        </a:xfrm>
      </p:grpSpPr>
      <p:sp>
        <p:nvSpPr>
          <p:cNvPr id="32" name="Google Shape;32;p58"/>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chemeClr val="dk1"/>
              </a:buClr>
              <a:buSzPts val="2800"/>
              <a:buChar char="•"/>
              <a:defRPr sz="2800">
                <a:latin typeface="Calibri"/>
                <a:ea typeface="Calibri"/>
                <a:cs typeface="Calibri"/>
                <a:sym typeface="Calibri"/>
              </a:defRPr>
            </a:lvl1pPr>
            <a:lvl2pPr marL="914400" lvl="1" indent="-381000" algn="l">
              <a:spcBef>
                <a:spcPts val="480"/>
              </a:spcBef>
              <a:spcAft>
                <a:spcPts val="0"/>
              </a:spcAft>
              <a:buClr>
                <a:schemeClr val="dk1"/>
              </a:buClr>
              <a:buSzPts val="2400"/>
              <a:buChar char="–"/>
              <a:defRPr sz="2400">
                <a:latin typeface="Calibri"/>
                <a:ea typeface="Calibri"/>
                <a:cs typeface="Calibri"/>
                <a:sym typeface="Calibri"/>
              </a:defRPr>
            </a:lvl2pPr>
            <a:lvl3pPr marL="1371600" lvl="2" indent="-355600" algn="l">
              <a:spcBef>
                <a:spcPts val="400"/>
              </a:spcBef>
              <a:spcAft>
                <a:spcPts val="0"/>
              </a:spcAft>
              <a:buClr>
                <a:schemeClr val="dk1"/>
              </a:buClr>
              <a:buSzPts val="2000"/>
              <a:buChar char="•"/>
              <a:defRPr sz="2000">
                <a:latin typeface="Calibri"/>
                <a:ea typeface="Calibri"/>
                <a:cs typeface="Calibri"/>
                <a:sym typeface="Calibri"/>
              </a:defRPr>
            </a:lvl3pPr>
            <a:lvl4pPr marL="1828800" lvl="3" indent="-342900" algn="l">
              <a:spcBef>
                <a:spcPts val="360"/>
              </a:spcBef>
              <a:spcAft>
                <a:spcPts val="0"/>
              </a:spcAft>
              <a:buClr>
                <a:schemeClr val="dk1"/>
              </a:buClr>
              <a:buSzPts val="1800"/>
              <a:buChar char="–"/>
              <a:defRPr sz="1800">
                <a:latin typeface="Calibri"/>
                <a:ea typeface="Calibri"/>
                <a:cs typeface="Calibri"/>
                <a:sym typeface="Calibri"/>
              </a:defRPr>
            </a:lvl4pPr>
            <a:lvl5pPr marL="2286000" lvl="4" indent="-342900" algn="l">
              <a:spcBef>
                <a:spcPts val="360"/>
              </a:spcBef>
              <a:spcAft>
                <a:spcPts val="0"/>
              </a:spcAft>
              <a:buClr>
                <a:schemeClr val="dk1"/>
              </a:buClr>
              <a:buSzPts val="1800"/>
              <a:buChar char="»"/>
              <a:defRPr sz="1800">
                <a:latin typeface="Calibri"/>
                <a:ea typeface="Calibri"/>
                <a:cs typeface="Calibri"/>
                <a:sym typeface="Calibri"/>
              </a:defRPr>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3" name="Google Shape;33;p58"/>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chemeClr val="dk1"/>
              </a:buClr>
              <a:buSzPts val="2800"/>
              <a:buChar char="•"/>
              <a:defRPr sz="2800">
                <a:latin typeface="Calibri"/>
                <a:ea typeface="Calibri"/>
                <a:cs typeface="Calibri"/>
                <a:sym typeface="Calibri"/>
              </a:defRPr>
            </a:lvl1pPr>
            <a:lvl2pPr marL="914400" lvl="1" indent="-381000" algn="l">
              <a:spcBef>
                <a:spcPts val="480"/>
              </a:spcBef>
              <a:spcAft>
                <a:spcPts val="0"/>
              </a:spcAft>
              <a:buClr>
                <a:schemeClr val="dk1"/>
              </a:buClr>
              <a:buSzPts val="2400"/>
              <a:buChar char="–"/>
              <a:defRPr sz="2400">
                <a:latin typeface="Calibri"/>
                <a:ea typeface="Calibri"/>
                <a:cs typeface="Calibri"/>
                <a:sym typeface="Calibri"/>
              </a:defRPr>
            </a:lvl2pPr>
            <a:lvl3pPr marL="1371600" lvl="2" indent="-355600" algn="l">
              <a:spcBef>
                <a:spcPts val="400"/>
              </a:spcBef>
              <a:spcAft>
                <a:spcPts val="0"/>
              </a:spcAft>
              <a:buClr>
                <a:schemeClr val="dk1"/>
              </a:buClr>
              <a:buSzPts val="2000"/>
              <a:buChar char="•"/>
              <a:defRPr sz="2000">
                <a:latin typeface="Calibri"/>
                <a:ea typeface="Calibri"/>
                <a:cs typeface="Calibri"/>
                <a:sym typeface="Calibri"/>
              </a:defRPr>
            </a:lvl3pPr>
            <a:lvl4pPr marL="1828800" lvl="3" indent="-342900" algn="l">
              <a:spcBef>
                <a:spcPts val="360"/>
              </a:spcBef>
              <a:spcAft>
                <a:spcPts val="0"/>
              </a:spcAft>
              <a:buClr>
                <a:schemeClr val="dk1"/>
              </a:buClr>
              <a:buSzPts val="1800"/>
              <a:buChar char="–"/>
              <a:defRPr sz="1800">
                <a:latin typeface="Calibri"/>
                <a:ea typeface="Calibri"/>
                <a:cs typeface="Calibri"/>
                <a:sym typeface="Calibri"/>
              </a:defRPr>
            </a:lvl4pPr>
            <a:lvl5pPr marL="2286000" lvl="4" indent="-342900" algn="l">
              <a:spcBef>
                <a:spcPts val="360"/>
              </a:spcBef>
              <a:spcAft>
                <a:spcPts val="0"/>
              </a:spcAft>
              <a:buClr>
                <a:schemeClr val="dk1"/>
              </a:buClr>
              <a:buSzPts val="1800"/>
              <a:buChar char="»"/>
              <a:defRPr sz="1800">
                <a:latin typeface="Calibri"/>
                <a:ea typeface="Calibri"/>
                <a:cs typeface="Calibri"/>
                <a:sym typeface="Calibri"/>
              </a:defRPr>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4" name="Google Shape;34;p58"/>
          <p:cNvSpPr txBox="1">
            <a:spLocks noGrp="1"/>
          </p:cNvSpPr>
          <p:nvPr>
            <p:ph type="title"/>
          </p:nvPr>
        </p:nvSpPr>
        <p:spPr>
          <a:xfrm>
            <a:off x="1303020" y="-152400"/>
            <a:ext cx="8298180" cy="11430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58"/>
          <p:cNvSpPr txBox="1">
            <a:spLocks noGrp="1"/>
          </p:cNvSpPr>
          <p:nvPr>
            <p:ph type="sldNum" idx="12"/>
          </p:nvPr>
        </p:nvSpPr>
        <p:spPr>
          <a:xfrm>
            <a:off x="138752" y="6414139"/>
            <a:ext cx="457200" cy="277813"/>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400" b="0">
                <a:solidFill>
                  <a:srgbClr val="953735"/>
                </a:solidFill>
                <a:latin typeface="Calibri"/>
                <a:ea typeface="Calibri"/>
                <a:cs typeface="Calibri"/>
                <a:sym typeface="Calibri"/>
              </a:defRPr>
            </a:lvl1pPr>
            <a:lvl2pPr marL="0" marR="0" lvl="1" indent="0" algn="l" rtl="0">
              <a:spcBef>
                <a:spcPts val="0"/>
              </a:spcBef>
              <a:buNone/>
              <a:defRPr sz="1400" b="0">
                <a:solidFill>
                  <a:srgbClr val="953735"/>
                </a:solidFill>
                <a:latin typeface="Calibri"/>
                <a:ea typeface="Calibri"/>
                <a:cs typeface="Calibri"/>
                <a:sym typeface="Calibri"/>
              </a:defRPr>
            </a:lvl2pPr>
            <a:lvl3pPr marL="0" marR="0" lvl="2" indent="0" algn="l" rtl="0">
              <a:spcBef>
                <a:spcPts val="0"/>
              </a:spcBef>
              <a:buNone/>
              <a:defRPr sz="1400" b="0">
                <a:solidFill>
                  <a:srgbClr val="953735"/>
                </a:solidFill>
                <a:latin typeface="Calibri"/>
                <a:ea typeface="Calibri"/>
                <a:cs typeface="Calibri"/>
                <a:sym typeface="Calibri"/>
              </a:defRPr>
            </a:lvl3pPr>
            <a:lvl4pPr marL="0" marR="0" lvl="3" indent="0" algn="l" rtl="0">
              <a:spcBef>
                <a:spcPts val="0"/>
              </a:spcBef>
              <a:buNone/>
              <a:defRPr sz="1400" b="0">
                <a:solidFill>
                  <a:srgbClr val="953735"/>
                </a:solidFill>
                <a:latin typeface="Calibri"/>
                <a:ea typeface="Calibri"/>
                <a:cs typeface="Calibri"/>
                <a:sym typeface="Calibri"/>
              </a:defRPr>
            </a:lvl4pPr>
            <a:lvl5pPr marL="0" marR="0" lvl="4" indent="0" algn="l" rtl="0">
              <a:spcBef>
                <a:spcPts val="0"/>
              </a:spcBef>
              <a:buNone/>
              <a:defRPr sz="1400" b="0">
                <a:solidFill>
                  <a:srgbClr val="953735"/>
                </a:solidFill>
                <a:latin typeface="Calibri"/>
                <a:ea typeface="Calibri"/>
                <a:cs typeface="Calibri"/>
                <a:sym typeface="Calibri"/>
              </a:defRPr>
            </a:lvl5pPr>
            <a:lvl6pPr marL="0" marR="0" lvl="5" indent="0" algn="l" rtl="0">
              <a:spcBef>
                <a:spcPts val="0"/>
              </a:spcBef>
              <a:buNone/>
              <a:defRPr sz="1400" b="0">
                <a:solidFill>
                  <a:srgbClr val="953735"/>
                </a:solidFill>
                <a:latin typeface="Calibri"/>
                <a:ea typeface="Calibri"/>
                <a:cs typeface="Calibri"/>
                <a:sym typeface="Calibri"/>
              </a:defRPr>
            </a:lvl6pPr>
            <a:lvl7pPr marL="0" marR="0" lvl="6" indent="0" algn="l" rtl="0">
              <a:spcBef>
                <a:spcPts val="0"/>
              </a:spcBef>
              <a:buNone/>
              <a:defRPr sz="1400" b="0">
                <a:solidFill>
                  <a:srgbClr val="953735"/>
                </a:solidFill>
                <a:latin typeface="Calibri"/>
                <a:ea typeface="Calibri"/>
                <a:cs typeface="Calibri"/>
                <a:sym typeface="Calibri"/>
              </a:defRPr>
            </a:lvl7pPr>
            <a:lvl8pPr marL="0" marR="0" lvl="7" indent="0" algn="l" rtl="0">
              <a:spcBef>
                <a:spcPts val="0"/>
              </a:spcBef>
              <a:buNone/>
              <a:defRPr sz="1400" b="0">
                <a:solidFill>
                  <a:srgbClr val="953735"/>
                </a:solidFill>
                <a:latin typeface="Calibri"/>
                <a:ea typeface="Calibri"/>
                <a:cs typeface="Calibri"/>
                <a:sym typeface="Calibri"/>
              </a:defRPr>
            </a:lvl8pPr>
            <a:lvl9pPr marL="0" marR="0" lvl="8" indent="0" algn="l" rtl="0">
              <a:spcBef>
                <a:spcPts val="0"/>
              </a:spcBef>
              <a:buNone/>
              <a:defRPr sz="1400" b="0">
                <a:solidFill>
                  <a:srgbClr val="953735"/>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p:cSld name="Comparison">
    <p:spTree>
      <p:nvGrpSpPr>
        <p:cNvPr id="1" name="Shape 36"/>
        <p:cNvGrpSpPr/>
        <p:nvPr/>
      </p:nvGrpSpPr>
      <p:grpSpPr>
        <a:xfrm>
          <a:off x="0" y="0"/>
          <a:ext cx="0" cy="0"/>
          <a:chOff x="0" y="0"/>
          <a:chExt cx="0" cy="0"/>
        </a:xfrm>
      </p:grpSpPr>
      <p:sp>
        <p:nvSpPr>
          <p:cNvPr id="37" name="Google Shape;37;p59"/>
          <p:cNvSpPr txBox="1">
            <a:spLocks noGrp="1"/>
          </p:cNvSpPr>
          <p:nvPr>
            <p:ph type="body" idx="1"/>
          </p:nvPr>
        </p:nvSpPr>
        <p:spPr>
          <a:xfrm>
            <a:off x="457200" y="1657350"/>
            <a:ext cx="4040188"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None/>
              <a:defRPr sz="2400" b="1">
                <a:latin typeface="Calibri"/>
                <a:ea typeface="Calibri"/>
                <a:cs typeface="Calibri"/>
                <a:sym typeface="Calibri"/>
              </a:defRPr>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38" name="Google Shape;38;p59"/>
          <p:cNvSpPr txBox="1">
            <a:spLocks noGrp="1"/>
          </p:cNvSpPr>
          <p:nvPr>
            <p:ph type="body" idx="2"/>
          </p:nvPr>
        </p:nvSpPr>
        <p:spPr>
          <a:xfrm>
            <a:off x="457200" y="2297112"/>
            <a:ext cx="4040188" cy="3951288"/>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Clr>
                <a:schemeClr val="dk1"/>
              </a:buClr>
              <a:buSzPts val="2400"/>
              <a:buChar char="•"/>
              <a:defRPr sz="2400">
                <a:latin typeface="Calibri"/>
                <a:ea typeface="Calibri"/>
                <a:cs typeface="Calibri"/>
                <a:sym typeface="Calibri"/>
              </a:defRPr>
            </a:lvl1pPr>
            <a:lvl2pPr marL="914400" lvl="1" indent="-355600" algn="l">
              <a:spcBef>
                <a:spcPts val="400"/>
              </a:spcBef>
              <a:spcAft>
                <a:spcPts val="0"/>
              </a:spcAft>
              <a:buClr>
                <a:schemeClr val="dk1"/>
              </a:buClr>
              <a:buSzPts val="2000"/>
              <a:buChar char="–"/>
              <a:defRPr sz="2000">
                <a:latin typeface="Calibri"/>
                <a:ea typeface="Calibri"/>
                <a:cs typeface="Calibri"/>
                <a:sym typeface="Calibri"/>
              </a:defRPr>
            </a:lvl2pPr>
            <a:lvl3pPr marL="1371600" lvl="2" indent="-342900" algn="l">
              <a:spcBef>
                <a:spcPts val="360"/>
              </a:spcBef>
              <a:spcAft>
                <a:spcPts val="0"/>
              </a:spcAft>
              <a:buClr>
                <a:schemeClr val="dk1"/>
              </a:buClr>
              <a:buSzPts val="1800"/>
              <a:buChar char="•"/>
              <a:defRPr sz="1800">
                <a:latin typeface="Calibri"/>
                <a:ea typeface="Calibri"/>
                <a:cs typeface="Calibri"/>
                <a:sym typeface="Calibri"/>
              </a:defRPr>
            </a:lvl3pPr>
            <a:lvl4pPr marL="1828800" lvl="3" indent="-330200" algn="l">
              <a:spcBef>
                <a:spcPts val="320"/>
              </a:spcBef>
              <a:spcAft>
                <a:spcPts val="0"/>
              </a:spcAft>
              <a:buClr>
                <a:schemeClr val="dk1"/>
              </a:buClr>
              <a:buSzPts val="1600"/>
              <a:buChar char="–"/>
              <a:defRPr sz="1600">
                <a:latin typeface="Calibri"/>
                <a:ea typeface="Calibri"/>
                <a:cs typeface="Calibri"/>
                <a:sym typeface="Calibri"/>
              </a:defRPr>
            </a:lvl4pPr>
            <a:lvl5pPr marL="2286000" lvl="4" indent="-330200" algn="l">
              <a:spcBef>
                <a:spcPts val="320"/>
              </a:spcBef>
              <a:spcAft>
                <a:spcPts val="0"/>
              </a:spcAft>
              <a:buClr>
                <a:schemeClr val="dk1"/>
              </a:buClr>
              <a:buSzPts val="1600"/>
              <a:buChar char="»"/>
              <a:defRPr sz="1600">
                <a:latin typeface="Calibri"/>
                <a:ea typeface="Calibri"/>
                <a:cs typeface="Calibri"/>
                <a:sym typeface="Calibri"/>
              </a:defRPr>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39" name="Google Shape;39;p59"/>
          <p:cNvSpPr txBox="1">
            <a:spLocks noGrp="1"/>
          </p:cNvSpPr>
          <p:nvPr>
            <p:ph type="body" idx="3"/>
          </p:nvPr>
        </p:nvSpPr>
        <p:spPr>
          <a:xfrm>
            <a:off x="4645025" y="1657350"/>
            <a:ext cx="4041775"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None/>
              <a:defRPr sz="2400" b="1">
                <a:latin typeface="Calibri"/>
                <a:ea typeface="Calibri"/>
                <a:cs typeface="Calibri"/>
                <a:sym typeface="Calibri"/>
              </a:defRPr>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0" name="Google Shape;40;p59"/>
          <p:cNvSpPr txBox="1">
            <a:spLocks noGrp="1"/>
          </p:cNvSpPr>
          <p:nvPr>
            <p:ph type="body" idx="4"/>
          </p:nvPr>
        </p:nvSpPr>
        <p:spPr>
          <a:xfrm>
            <a:off x="4645025" y="2297112"/>
            <a:ext cx="4041775" cy="3951288"/>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Clr>
                <a:schemeClr val="dk1"/>
              </a:buClr>
              <a:buSzPts val="2400"/>
              <a:buChar char="•"/>
              <a:defRPr sz="2400">
                <a:latin typeface="Calibri"/>
                <a:ea typeface="Calibri"/>
                <a:cs typeface="Calibri"/>
                <a:sym typeface="Calibri"/>
              </a:defRPr>
            </a:lvl1pPr>
            <a:lvl2pPr marL="914400" lvl="1" indent="-355600" algn="l">
              <a:spcBef>
                <a:spcPts val="400"/>
              </a:spcBef>
              <a:spcAft>
                <a:spcPts val="0"/>
              </a:spcAft>
              <a:buClr>
                <a:schemeClr val="dk1"/>
              </a:buClr>
              <a:buSzPts val="2000"/>
              <a:buChar char="–"/>
              <a:defRPr sz="2000">
                <a:latin typeface="Calibri"/>
                <a:ea typeface="Calibri"/>
                <a:cs typeface="Calibri"/>
                <a:sym typeface="Calibri"/>
              </a:defRPr>
            </a:lvl2pPr>
            <a:lvl3pPr marL="1371600" lvl="2" indent="-342900" algn="l">
              <a:spcBef>
                <a:spcPts val="360"/>
              </a:spcBef>
              <a:spcAft>
                <a:spcPts val="0"/>
              </a:spcAft>
              <a:buClr>
                <a:schemeClr val="dk1"/>
              </a:buClr>
              <a:buSzPts val="1800"/>
              <a:buChar char="•"/>
              <a:defRPr sz="1800">
                <a:latin typeface="Calibri"/>
                <a:ea typeface="Calibri"/>
                <a:cs typeface="Calibri"/>
                <a:sym typeface="Calibri"/>
              </a:defRPr>
            </a:lvl3pPr>
            <a:lvl4pPr marL="1828800" lvl="3" indent="-330200" algn="l">
              <a:spcBef>
                <a:spcPts val="320"/>
              </a:spcBef>
              <a:spcAft>
                <a:spcPts val="0"/>
              </a:spcAft>
              <a:buClr>
                <a:schemeClr val="dk1"/>
              </a:buClr>
              <a:buSzPts val="1600"/>
              <a:buChar char="–"/>
              <a:defRPr sz="1600">
                <a:latin typeface="Calibri"/>
                <a:ea typeface="Calibri"/>
                <a:cs typeface="Calibri"/>
                <a:sym typeface="Calibri"/>
              </a:defRPr>
            </a:lvl4pPr>
            <a:lvl5pPr marL="2286000" lvl="4" indent="-330200" algn="l">
              <a:spcBef>
                <a:spcPts val="320"/>
              </a:spcBef>
              <a:spcAft>
                <a:spcPts val="0"/>
              </a:spcAft>
              <a:buClr>
                <a:schemeClr val="dk1"/>
              </a:buClr>
              <a:buSzPts val="1600"/>
              <a:buChar char="»"/>
              <a:defRPr sz="1600">
                <a:latin typeface="Calibri"/>
                <a:ea typeface="Calibri"/>
                <a:cs typeface="Calibri"/>
                <a:sym typeface="Calibri"/>
              </a:defRPr>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1" name="Google Shape;41;p59"/>
          <p:cNvSpPr txBox="1">
            <a:spLocks noGrp="1"/>
          </p:cNvSpPr>
          <p:nvPr>
            <p:ph type="title"/>
          </p:nvPr>
        </p:nvSpPr>
        <p:spPr>
          <a:xfrm>
            <a:off x="1303020" y="-152400"/>
            <a:ext cx="8298180" cy="11430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59"/>
          <p:cNvSpPr txBox="1">
            <a:spLocks noGrp="1"/>
          </p:cNvSpPr>
          <p:nvPr>
            <p:ph type="sldNum" idx="12"/>
          </p:nvPr>
        </p:nvSpPr>
        <p:spPr>
          <a:xfrm>
            <a:off x="138752" y="6414139"/>
            <a:ext cx="457200" cy="277813"/>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400" b="0">
                <a:solidFill>
                  <a:srgbClr val="953735"/>
                </a:solidFill>
                <a:latin typeface="Calibri"/>
                <a:ea typeface="Calibri"/>
                <a:cs typeface="Calibri"/>
                <a:sym typeface="Calibri"/>
              </a:defRPr>
            </a:lvl1pPr>
            <a:lvl2pPr marL="0" marR="0" lvl="1" indent="0" algn="l" rtl="0">
              <a:spcBef>
                <a:spcPts val="0"/>
              </a:spcBef>
              <a:buNone/>
              <a:defRPr sz="1400" b="0">
                <a:solidFill>
                  <a:srgbClr val="953735"/>
                </a:solidFill>
                <a:latin typeface="Calibri"/>
                <a:ea typeface="Calibri"/>
                <a:cs typeface="Calibri"/>
                <a:sym typeface="Calibri"/>
              </a:defRPr>
            </a:lvl2pPr>
            <a:lvl3pPr marL="0" marR="0" lvl="2" indent="0" algn="l" rtl="0">
              <a:spcBef>
                <a:spcPts val="0"/>
              </a:spcBef>
              <a:buNone/>
              <a:defRPr sz="1400" b="0">
                <a:solidFill>
                  <a:srgbClr val="953735"/>
                </a:solidFill>
                <a:latin typeface="Calibri"/>
                <a:ea typeface="Calibri"/>
                <a:cs typeface="Calibri"/>
                <a:sym typeface="Calibri"/>
              </a:defRPr>
            </a:lvl3pPr>
            <a:lvl4pPr marL="0" marR="0" lvl="3" indent="0" algn="l" rtl="0">
              <a:spcBef>
                <a:spcPts val="0"/>
              </a:spcBef>
              <a:buNone/>
              <a:defRPr sz="1400" b="0">
                <a:solidFill>
                  <a:srgbClr val="953735"/>
                </a:solidFill>
                <a:latin typeface="Calibri"/>
                <a:ea typeface="Calibri"/>
                <a:cs typeface="Calibri"/>
                <a:sym typeface="Calibri"/>
              </a:defRPr>
            </a:lvl4pPr>
            <a:lvl5pPr marL="0" marR="0" lvl="4" indent="0" algn="l" rtl="0">
              <a:spcBef>
                <a:spcPts val="0"/>
              </a:spcBef>
              <a:buNone/>
              <a:defRPr sz="1400" b="0">
                <a:solidFill>
                  <a:srgbClr val="953735"/>
                </a:solidFill>
                <a:latin typeface="Calibri"/>
                <a:ea typeface="Calibri"/>
                <a:cs typeface="Calibri"/>
                <a:sym typeface="Calibri"/>
              </a:defRPr>
            </a:lvl5pPr>
            <a:lvl6pPr marL="0" marR="0" lvl="5" indent="0" algn="l" rtl="0">
              <a:spcBef>
                <a:spcPts val="0"/>
              </a:spcBef>
              <a:buNone/>
              <a:defRPr sz="1400" b="0">
                <a:solidFill>
                  <a:srgbClr val="953735"/>
                </a:solidFill>
                <a:latin typeface="Calibri"/>
                <a:ea typeface="Calibri"/>
                <a:cs typeface="Calibri"/>
                <a:sym typeface="Calibri"/>
              </a:defRPr>
            </a:lvl6pPr>
            <a:lvl7pPr marL="0" marR="0" lvl="6" indent="0" algn="l" rtl="0">
              <a:spcBef>
                <a:spcPts val="0"/>
              </a:spcBef>
              <a:buNone/>
              <a:defRPr sz="1400" b="0">
                <a:solidFill>
                  <a:srgbClr val="953735"/>
                </a:solidFill>
                <a:latin typeface="Calibri"/>
                <a:ea typeface="Calibri"/>
                <a:cs typeface="Calibri"/>
                <a:sym typeface="Calibri"/>
              </a:defRPr>
            </a:lvl7pPr>
            <a:lvl8pPr marL="0" marR="0" lvl="7" indent="0" algn="l" rtl="0">
              <a:spcBef>
                <a:spcPts val="0"/>
              </a:spcBef>
              <a:buNone/>
              <a:defRPr sz="1400" b="0">
                <a:solidFill>
                  <a:srgbClr val="953735"/>
                </a:solidFill>
                <a:latin typeface="Calibri"/>
                <a:ea typeface="Calibri"/>
                <a:cs typeface="Calibri"/>
                <a:sym typeface="Calibri"/>
              </a:defRPr>
            </a:lvl8pPr>
            <a:lvl9pPr marL="0" marR="0" lvl="8" indent="0" algn="l" rtl="0">
              <a:spcBef>
                <a:spcPts val="0"/>
              </a:spcBef>
              <a:buNone/>
              <a:defRPr sz="1400" b="0">
                <a:solidFill>
                  <a:srgbClr val="953735"/>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2.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8">
            <a:alphaModFix/>
          </a:blip>
          <a:stretch>
            <a:fillRect/>
          </a:stretch>
        </a:blipFill>
        <a:effectLst/>
      </p:bgPr>
    </p:bg>
    <p:spTree>
      <p:nvGrpSpPr>
        <p:cNvPr id="1" name="Shape 9"/>
        <p:cNvGrpSpPr/>
        <p:nvPr/>
      </p:nvGrpSpPr>
      <p:grpSpPr>
        <a:xfrm>
          <a:off x="0" y="0"/>
          <a:ext cx="0" cy="0"/>
          <a:chOff x="0" y="0"/>
          <a:chExt cx="0" cy="0"/>
        </a:xfrm>
      </p:grpSpPr>
      <p:pic>
        <p:nvPicPr>
          <p:cNvPr id="10" name="Google Shape;10;p53"/>
          <p:cNvPicPr preferRelativeResize="0"/>
          <p:nvPr/>
        </p:nvPicPr>
        <p:blipFill rotWithShape="1">
          <a:blip r:embed="rId9">
            <a:alphaModFix/>
          </a:blip>
          <a:srcRect/>
          <a:stretch/>
        </p:blipFill>
        <p:spPr>
          <a:xfrm>
            <a:off x="0" y="13394"/>
            <a:ext cx="9144000" cy="6831211"/>
          </a:xfrm>
          <a:prstGeom prst="rect">
            <a:avLst/>
          </a:prstGeom>
          <a:noFill/>
          <a:ln>
            <a:noFill/>
          </a:ln>
        </p:spPr>
      </p:pic>
      <p:sp>
        <p:nvSpPr>
          <p:cNvPr id="11" name="Google Shape;11;p53"/>
          <p:cNvSpPr txBox="1">
            <a:spLocks noGrp="1"/>
          </p:cNvSpPr>
          <p:nvPr>
            <p:ph type="title"/>
          </p:nvPr>
        </p:nvSpPr>
        <p:spPr>
          <a:xfrm>
            <a:off x="1303020" y="-152400"/>
            <a:ext cx="8298180" cy="11430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2800" b="0" i="0" u="none" strike="noStrike" cap="none">
                <a:solidFill>
                  <a:srgbClr val="FFFFFF"/>
                </a:solidFill>
                <a:latin typeface="Verdana"/>
                <a:ea typeface="Verdana"/>
                <a:cs typeface="Verdana"/>
                <a:sym typeface="Verdana"/>
              </a:defRPr>
            </a:lvl1pPr>
            <a:lvl2pPr marR="0" lvl="1" algn="l" rtl="0">
              <a:spcBef>
                <a:spcPts val="0"/>
              </a:spcBef>
              <a:spcAft>
                <a:spcPts val="0"/>
              </a:spcAft>
              <a:buSzPts val="1400"/>
              <a:buNone/>
              <a:defRPr sz="3600" b="0" i="0" u="none" strike="noStrike" cap="none">
                <a:solidFill>
                  <a:srgbClr val="FFFFFF"/>
                </a:solidFill>
                <a:latin typeface="Corsiva"/>
                <a:ea typeface="Corsiva"/>
                <a:cs typeface="Corsiva"/>
                <a:sym typeface="Corsiva"/>
              </a:defRPr>
            </a:lvl2pPr>
            <a:lvl3pPr marR="0" lvl="2" algn="l" rtl="0">
              <a:spcBef>
                <a:spcPts val="0"/>
              </a:spcBef>
              <a:spcAft>
                <a:spcPts val="0"/>
              </a:spcAft>
              <a:buSzPts val="1400"/>
              <a:buNone/>
              <a:defRPr sz="3600" b="0" i="0" u="none" strike="noStrike" cap="none">
                <a:solidFill>
                  <a:srgbClr val="FFFFFF"/>
                </a:solidFill>
                <a:latin typeface="Corsiva"/>
                <a:ea typeface="Corsiva"/>
                <a:cs typeface="Corsiva"/>
                <a:sym typeface="Corsiva"/>
              </a:defRPr>
            </a:lvl3pPr>
            <a:lvl4pPr marR="0" lvl="3" algn="l" rtl="0">
              <a:spcBef>
                <a:spcPts val="0"/>
              </a:spcBef>
              <a:spcAft>
                <a:spcPts val="0"/>
              </a:spcAft>
              <a:buSzPts val="1400"/>
              <a:buNone/>
              <a:defRPr sz="3600" b="0" i="0" u="none" strike="noStrike" cap="none">
                <a:solidFill>
                  <a:srgbClr val="FFFFFF"/>
                </a:solidFill>
                <a:latin typeface="Corsiva"/>
                <a:ea typeface="Corsiva"/>
                <a:cs typeface="Corsiva"/>
                <a:sym typeface="Corsiva"/>
              </a:defRPr>
            </a:lvl4pPr>
            <a:lvl5pPr marR="0" lvl="4" algn="l" rtl="0">
              <a:spcBef>
                <a:spcPts val="0"/>
              </a:spcBef>
              <a:spcAft>
                <a:spcPts val="0"/>
              </a:spcAft>
              <a:buSzPts val="1400"/>
              <a:buNone/>
              <a:defRPr sz="3600" b="0" i="0" u="none" strike="noStrike" cap="none">
                <a:solidFill>
                  <a:srgbClr val="FFFFFF"/>
                </a:solidFill>
                <a:latin typeface="Corsiva"/>
                <a:ea typeface="Corsiva"/>
                <a:cs typeface="Corsiva"/>
                <a:sym typeface="Corsiva"/>
              </a:defRPr>
            </a:lvl5pPr>
            <a:lvl6pPr marR="0" lvl="5" algn="l" rtl="0">
              <a:spcBef>
                <a:spcPts val="0"/>
              </a:spcBef>
              <a:spcAft>
                <a:spcPts val="0"/>
              </a:spcAft>
              <a:buSzPts val="1400"/>
              <a:buNone/>
              <a:defRPr sz="3600" b="0" i="0" u="none" strike="noStrike" cap="none">
                <a:solidFill>
                  <a:srgbClr val="FFFFFF"/>
                </a:solidFill>
                <a:latin typeface="Corsiva"/>
                <a:ea typeface="Corsiva"/>
                <a:cs typeface="Corsiva"/>
                <a:sym typeface="Corsiva"/>
              </a:defRPr>
            </a:lvl6pPr>
            <a:lvl7pPr marR="0" lvl="6" algn="l" rtl="0">
              <a:spcBef>
                <a:spcPts val="0"/>
              </a:spcBef>
              <a:spcAft>
                <a:spcPts val="0"/>
              </a:spcAft>
              <a:buSzPts val="1400"/>
              <a:buNone/>
              <a:defRPr sz="3600" b="0" i="0" u="none" strike="noStrike" cap="none">
                <a:solidFill>
                  <a:srgbClr val="FFFFFF"/>
                </a:solidFill>
                <a:latin typeface="Corsiva"/>
                <a:ea typeface="Corsiva"/>
                <a:cs typeface="Corsiva"/>
                <a:sym typeface="Corsiva"/>
              </a:defRPr>
            </a:lvl7pPr>
            <a:lvl8pPr marR="0" lvl="7" algn="l" rtl="0">
              <a:spcBef>
                <a:spcPts val="0"/>
              </a:spcBef>
              <a:spcAft>
                <a:spcPts val="0"/>
              </a:spcAft>
              <a:buSzPts val="1400"/>
              <a:buNone/>
              <a:defRPr sz="3600" b="0" i="0" u="none" strike="noStrike" cap="none">
                <a:solidFill>
                  <a:srgbClr val="FFFFFF"/>
                </a:solidFill>
                <a:latin typeface="Corsiva"/>
                <a:ea typeface="Corsiva"/>
                <a:cs typeface="Corsiva"/>
                <a:sym typeface="Corsiva"/>
              </a:defRPr>
            </a:lvl8pPr>
            <a:lvl9pPr marR="0" lvl="8" algn="l" rtl="0">
              <a:spcBef>
                <a:spcPts val="0"/>
              </a:spcBef>
              <a:spcAft>
                <a:spcPts val="0"/>
              </a:spcAft>
              <a:buSzPts val="1400"/>
              <a:buNone/>
              <a:defRPr sz="3600" b="0" i="0" u="none" strike="noStrike" cap="none">
                <a:solidFill>
                  <a:srgbClr val="FFFFFF"/>
                </a:solidFill>
                <a:latin typeface="Corsiva"/>
                <a:ea typeface="Corsiva"/>
                <a:cs typeface="Corsiva"/>
                <a:sym typeface="Corsiva"/>
              </a:defRPr>
            </a:lvl9pPr>
          </a:lstStyle>
          <a:p>
            <a:endParaRPr/>
          </a:p>
        </p:txBody>
      </p:sp>
      <p:sp>
        <p:nvSpPr>
          <p:cNvPr id="12" name="Google Shape;12;p53"/>
          <p:cNvSpPr txBox="1">
            <a:spLocks noGrp="1"/>
          </p:cNvSpPr>
          <p:nvPr>
            <p:ph type="body" idx="1"/>
          </p:nvPr>
        </p:nvSpPr>
        <p:spPr>
          <a:xfrm>
            <a:off x="228600" y="1609725"/>
            <a:ext cx="8686800" cy="4946650"/>
          </a:xfrm>
          <a:prstGeom prst="rect">
            <a:avLst/>
          </a:prstGeom>
          <a:noFill/>
          <a:ln>
            <a:noFill/>
          </a:ln>
        </p:spPr>
        <p:txBody>
          <a:bodyPr spcFirstLastPara="1" wrap="square" lIns="91425" tIns="45700" rIns="91425" bIns="45700" anchor="t" anchorCtr="0">
            <a:noAutofit/>
          </a:bodyPr>
          <a:lstStyle>
            <a:lvl1pPr marL="457200" marR="0" lvl="0" indent="-393700" algn="l" rtl="0">
              <a:spcBef>
                <a:spcPts val="520"/>
              </a:spcBef>
              <a:spcAft>
                <a:spcPts val="0"/>
              </a:spcAft>
              <a:buClr>
                <a:schemeClr val="dk1"/>
              </a:buClr>
              <a:buSzPts val="2600"/>
              <a:buFont typeface="Arial"/>
              <a:buChar char="•"/>
              <a:defRPr sz="2600" b="0" i="0" u="none" strike="noStrike" cap="none">
                <a:solidFill>
                  <a:schemeClr val="dk1"/>
                </a:solidFill>
                <a:latin typeface="Calibri"/>
                <a:ea typeface="Calibri"/>
                <a:cs typeface="Calibri"/>
                <a:sym typeface="Calibri"/>
              </a:defRPr>
            </a:lvl1pPr>
            <a:lvl2pPr marL="914400" marR="0" lvl="1"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12.jp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10" Type="http://schemas.openxmlformats.org/officeDocument/2006/relationships/image" Target="../media/image14.jpg"/><Relationship Id="rId4" Type="http://schemas.openxmlformats.org/officeDocument/2006/relationships/image" Target="../media/image8.png"/><Relationship Id="rId9" Type="http://schemas.openxmlformats.org/officeDocument/2006/relationships/image" Target="../media/image13.png"/></Relationships>
</file>

<file path=ppt/slides/_rels/slide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hyperlink" Target="http://appfinder.lisisoft.com/app/sql-functions.html" TargetMode="External"/><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20.jpg"/></Relationships>
</file>

<file path=ppt/slides/_rels/slide11.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8.xml"/><Relationship Id="rId1" Type="http://schemas.openxmlformats.org/officeDocument/2006/relationships/slideLayout" Target="../slideLayouts/slideLayout3.xml"/><Relationship Id="rId4" Type="http://schemas.openxmlformats.org/officeDocument/2006/relationships/image" Target="../media/image22.png"/></Relationships>
</file>

<file path=ppt/slides/_rels/slide4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9.xml"/><Relationship Id="rId1" Type="http://schemas.openxmlformats.org/officeDocument/2006/relationships/slideLayout" Target="../slideLayouts/slideLayout3.xml"/><Relationship Id="rId4" Type="http://schemas.openxmlformats.org/officeDocument/2006/relationships/image" Target="../media/image24.png"/></Relationships>
</file>

<file path=ppt/slides/_rels/slide5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0.xml"/><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6"/>
        <p:cNvGrpSpPr/>
        <p:nvPr/>
      </p:nvGrpSpPr>
      <p:grpSpPr>
        <a:xfrm>
          <a:off x="0" y="0"/>
          <a:ext cx="0" cy="0"/>
          <a:chOff x="0" y="0"/>
          <a:chExt cx="0" cy="0"/>
        </a:xfrm>
      </p:grpSpPr>
      <p:sp>
        <p:nvSpPr>
          <p:cNvPr id="47" name="Google Shape;47;p1"/>
          <p:cNvSpPr/>
          <p:nvPr/>
        </p:nvSpPr>
        <p:spPr>
          <a:xfrm>
            <a:off x="-1" y="1905000"/>
            <a:ext cx="5781675" cy="1143000"/>
          </a:xfrm>
          <a:prstGeom prst="rect">
            <a:avLst/>
          </a:prstGeom>
          <a:noFill/>
          <a:ln>
            <a:noFill/>
          </a:ln>
        </p:spPr>
        <p:txBody>
          <a:bodyPr spcFirstLastPara="1" wrap="square" lIns="91425" tIns="45700" rIns="91425" bIns="45700" anchor="ctr" anchorCtr="0">
            <a:noAutofit/>
          </a:bodyPr>
          <a:lstStyle/>
          <a:p>
            <a:pPr marL="457200" marR="0" lvl="1" indent="0" algn="l" rtl="0">
              <a:spcBef>
                <a:spcPts val="0"/>
              </a:spcBef>
              <a:spcAft>
                <a:spcPts val="0"/>
              </a:spcAft>
              <a:buNone/>
            </a:pPr>
            <a:r>
              <a:rPr lang="en-US" sz="2200" b="1" i="0" u="none" strike="noStrike" cap="none">
                <a:solidFill>
                  <a:schemeClr val="dk1"/>
                </a:solidFill>
                <a:latin typeface="Open Sans"/>
                <a:ea typeface="Open Sans"/>
                <a:cs typeface="Open Sans"/>
                <a:sym typeface="Open Sans"/>
              </a:rPr>
              <a:t>ANSI SQL</a:t>
            </a:r>
            <a:endParaRPr sz="2200" b="1" i="0" u="none" strike="noStrike" cap="none">
              <a:solidFill>
                <a:schemeClr val="dk1"/>
              </a:solidFill>
              <a:latin typeface="Open Sans"/>
              <a:ea typeface="Open Sans"/>
              <a:cs typeface="Open Sans"/>
              <a:sym typeface="Open Sans"/>
            </a:endParaRPr>
          </a:p>
        </p:txBody>
      </p:sp>
      <p:sp>
        <p:nvSpPr>
          <p:cNvPr id="48" name="Google Shape;48;p1"/>
          <p:cNvSpPr/>
          <p:nvPr/>
        </p:nvSpPr>
        <p:spPr>
          <a:xfrm>
            <a:off x="0" y="3048000"/>
            <a:ext cx="5754414" cy="1219200"/>
          </a:xfrm>
          <a:prstGeom prst="rect">
            <a:avLst/>
          </a:prstGeom>
          <a:noFill/>
          <a:ln>
            <a:noFill/>
          </a:ln>
        </p:spPr>
        <p:txBody>
          <a:bodyPr spcFirstLastPara="1" wrap="square" lIns="91425" tIns="45700" rIns="91425" bIns="45700" anchor="ctr" anchorCtr="0">
            <a:noAutofit/>
          </a:bodyPr>
          <a:lstStyle/>
          <a:p>
            <a:pPr marL="457200" marR="0" lvl="1" indent="0" algn="l" rtl="0">
              <a:spcBef>
                <a:spcPts val="0"/>
              </a:spcBef>
              <a:spcAft>
                <a:spcPts val="0"/>
              </a:spcAft>
              <a:buNone/>
            </a:pPr>
            <a:r>
              <a:rPr lang="en-US" sz="2300" b="0" i="0" u="none" strike="noStrike" cap="none">
                <a:solidFill>
                  <a:schemeClr val="lt1"/>
                </a:solidFill>
                <a:latin typeface="Cambria"/>
                <a:ea typeface="Cambria"/>
                <a:cs typeface="Cambria"/>
                <a:sym typeface="Cambria"/>
              </a:rPr>
              <a:t>SQL Functions</a:t>
            </a:r>
            <a:endParaRPr sz="2300" b="0" i="0" u="none" strike="noStrike" cap="none">
              <a:solidFill>
                <a:schemeClr val="lt1"/>
              </a:solidFill>
              <a:latin typeface="Cambria"/>
              <a:ea typeface="Cambria"/>
              <a:cs typeface="Cambria"/>
              <a:sym typeface="Cambria"/>
            </a:endParaRPr>
          </a:p>
        </p:txBody>
      </p:sp>
      <p:sp>
        <p:nvSpPr>
          <p:cNvPr id="49" name="Google Shape;49;p1"/>
          <p:cNvSpPr/>
          <p:nvPr/>
        </p:nvSpPr>
        <p:spPr>
          <a:xfrm>
            <a:off x="498797" y="4733925"/>
            <a:ext cx="2190751" cy="457200"/>
          </a:xfrm>
          <a:prstGeom prst="rect">
            <a:avLst/>
          </a:prstGeom>
          <a:noFill/>
          <a:ln>
            <a:noFill/>
          </a:ln>
        </p:spPr>
        <p:txBody>
          <a:bodyPr spcFirstLastPara="1" wrap="square" lIns="91425" tIns="45700" rIns="91425" bIns="45700" anchor="ctr" anchorCtr="0">
            <a:noAutofit/>
          </a:bodyPr>
          <a:lstStyle/>
          <a:p>
            <a:pPr marL="342900" marR="0" lvl="0" indent="-342900" algn="l" rtl="0">
              <a:lnSpc>
                <a:spcPct val="100000"/>
              </a:lnSpc>
              <a:spcBef>
                <a:spcPts val="0"/>
              </a:spcBef>
              <a:spcAft>
                <a:spcPts val="0"/>
              </a:spcAft>
              <a:buClr>
                <a:srgbClr val="953735"/>
              </a:buClr>
              <a:buSzPts val="1400"/>
              <a:buFont typeface="Arial"/>
              <a:buNone/>
            </a:pPr>
            <a:r>
              <a:rPr lang="en-US" sz="1400" b="1" i="0" u="none" strike="noStrike" cap="none">
                <a:solidFill>
                  <a:srgbClr val="953735"/>
                </a:solidFill>
                <a:latin typeface="Calibri"/>
                <a:ea typeface="Calibri"/>
                <a:cs typeface="Calibri"/>
                <a:sym typeface="Calibri"/>
              </a:rPr>
              <a:t>LEVEL – LEARNER</a:t>
            </a:r>
            <a:endParaRPr sz="1400" b="1" i="0" u="none" strike="noStrike" cap="none">
              <a:solidFill>
                <a:srgbClr val="953735"/>
              </a:solidFill>
              <a:latin typeface="Calibri"/>
              <a:ea typeface="Calibri"/>
              <a:cs typeface="Calibri"/>
              <a:sym typeface="Calibri"/>
            </a:endParaRPr>
          </a:p>
        </p:txBody>
      </p:sp>
      <p:sp>
        <p:nvSpPr>
          <p:cNvPr id="50" name="Google Shape;50;p1"/>
          <p:cNvSpPr txBox="1"/>
          <p:nvPr/>
        </p:nvSpPr>
        <p:spPr>
          <a:xfrm>
            <a:off x="138752" y="6414139"/>
            <a:ext cx="457200" cy="277813"/>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b="0" i="0" u="none" strike="noStrike" cap="none">
                <a:solidFill>
                  <a:schemeClr val="dk1"/>
                </a:solidFill>
                <a:latin typeface="Calibri"/>
                <a:ea typeface="Calibri"/>
                <a:cs typeface="Calibri"/>
                <a:sym typeface="Calibri"/>
              </a:rPr>
              <a:t>1</a:t>
            </a:fld>
            <a:endParaRPr sz="1800" b="0" i="0" u="none" strike="noStrike" cap="none">
              <a:solidFill>
                <a:schemeClr val="dk1"/>
              </a:solidFill>
              <a:latin typeface="Calibri"/>
              <a:ea typeface="Calibri"/>
              <a:cs typeface="Calibri"/>
              <a:sym typeface="Calibri"/>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2"/>
          <p:cNvSpPr/>
          <p:nvPr/>
        </p:nvSpPr>
        <p:spPr>
          <a:xfrm>
            <a:off x="2133600" y="1295400"/>
            <a:ext cx="6858000" cy="3810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000" b="0" i="0" u="none" strike="noStrike" cap="none">
              <a:solidFill>
                <a:srgbClr val="E5B8B7"/>
              </a:solidFill>
              <a:latin typeface="Arial"/>
              <a:ea typeface="Arial"/>
              <a:cs typeface="Arial"/>
              <a:sym typeface="Arial"/>
            </a:endParaRPr>
          </a:p>
        </p:txBody>
      </p:sp>
      <p:sp>
        <p:nvSpPr>
          <p:cNvPr id="56" name="Google Shape;56;p2"/>
          <p:cNvSpPr txBox="1"/>
          <p:nvPr/>
        </p:nvSpPr>
        <p:spPr>
          <a:xfrm>
            <a:off x="5109725" y="3124200"/>
            <a:ext cx="1138675" cy="33655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b="0" i="0" u="none" strike="noStrike" cap="none">
                <a:solidFill>
                  <a:schemeClr val="dk1"/>
                </a:solidFill>
                <a:latin typeface="Calibri"/>
                <a:ea typeface="Calibri"/>
                <a:cs typeface="Calibri"/>
                <a:sym typeface="Calibri"/>
              </a:rPr>
              <a:t>Questions</a:t>
            </a:r>
            <a:endParaRPr/>
          </a:p>
        </p:txBody>
      </p:sp>
      <p:sp>
        <p:nvSpPr>
          <p:cNvPr id="57" name="Google Shape;57;p2"/>
          <p:cNvSpPr txBox="1"/>
          <p:nvPr/>
        </p:nvSpPr>
        <p:spPr>
          <a:xfrm>
            <a:off x="654701" y="5452646"/>
            <a:ext cx="1754188"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b="0" i="0" u="none" strike="noStrike" cap="none">
                <a:solidFill>
                  <a:schemeClr val="dk1"/>
                </a:solidFill>
                <a:latin typeface="Calibri"/>
                <a:ea typeface="Calibri"/>
                <a:cs typeface="Calibri"/>
                <a:sym typeface="Calibri"/>
              </a:rPr>
              <a:t>Coding Standards</a:t>
            </a:r>
            <a:endParaRPr/>
          </a:p>
        </p:txBody>
      </p:sp>
      <p:pic>
        <p:nvPicPr>
          <p:cNvPr id="58" name="Google Shape;58;p2"/>
          <p:cNvPicPr preferRelativeResize="0"/>
          <p:nvPr/>
        </p:nvPicPr>
        <p:blipFill rotWithShape="1">
          <a:blip r:embed="rId3">
            <a:alphaModFix/>
          </a:blip>
          <a:srcRect/>
          <a:stretch/>
        </p:blipFill>
        <p:spPr>
          <a:xfrm>
            <a:off x="1094030" y="4318045"/>
            <a:ext cx="838889" cy="1015955"/>
          </a:xfrm>
          <a:prstGeom prst="rect">
            <a:avLst/>
          </a:prstGeom>
          <a:noFill/>
          <a:ln>
            <a:noFill/>
          </a:ln>
        </p:spPr>
      </p:pic>
      <p:pic>
        <p:nvPicPr>
          <p:cNvPr id="59" name="Google Shape;59;p2"/>
          <p:cNvPicPr preferRelativeResize="0"/>
          <p:nvPr/>
        </p:nvPicPr>
        <p:blipFill rotWithShape="1">
          <a:blip r:embed="rId4">
            <a:alphaModFix/>
          </a:blip>
          <a:srcRect/>
          <a:stretch/>
        </p:blipFill>
        <p:spPr>
          <a:xfrm>
            <a:off x="7086600" y="4122060"/>
            <a:ext cx="1081088" cy="1135740"/>
          </a:xfrm>
          <a:prstGeom prst="rect">
            <a:avLst/>
          </a:prstGeom>
          <a:noFill/>
          <a:ln>
            <a:noFill/>
          </a:ln>
        </p:spPr>
      </p:pic>
      <p:sp>
        <p:nvSpPr>
          <p:cNvPr id="60" name="Google Shape;60;p2"/>
          <p:cNvSpPr txBox="1"/>
          <p:nvPr/>
        </p:nvSpPr>
        <p:spPr>
          <a:xfrm>
            <a:off x="2969170" y="3124200"/>
            <a:ext cx="1145630"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b="0" i="0" u="none" strike="noStrike" cap="none">
                <a:solidFill>
                  <a:schemeClr val="dk1"/>
                </a:solidFill>
                <a:latin typeface="Calibri"/>
                <a:ea typeface="Calibri"/>
                <a:cs typeface="Calibri"/>
                <a:sym typeface="Calibri"/>
              </a:rPr>
              <a:t>Reference</a:t>
            </a:r>
            <a:endParaRPr sz="1600" b="0" i="0" u="none" strike="noStrike" cap="none">
              <a:solidFill>
                <a:schemeClr val="dk1"/>
              </a:solidFill>
              <a:latin typeface="Calibri"/>
              <a:ea typeface="Calibri"/>
              <a:cs typeface="Calibri"/>
              <a:sym typeface="Calibri"/>
            </a:endParaRPr>
          </a:p>
        </p:txBody>
      </p:sp>
      <p:sp>
        <p:nvSpPr>
          <p:cNvPr id="61" name="Google Shape;61;p2"/>
          <p:cNvSpPr txBox="1"/>
          <p:nvPr/>
        </p:nvSpPr>
        <p:spPr>
          <a:xfrm>
            <a:off x="6529688" y="5410200"/>
            <a:ext cx="2192882"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b="0" i="0" u="none" strike="noStrike" cap="none">
                <a:solidFill>
                  <a:schemeClr val="dk1"/>
                </a:solidFill>
                <a:latin typeface="Calibri"/>
                <a:ea typeface="Calibri"/>
                <a:cs typeface="Calibri"/>
                <a:sym typeface="Calibri"/>
              </a:rPr>
              <a:t>Test Your Understanding</a:t>
            </a:r>
            <a:endParaRPr/>
          </a:p>
        </p:txBody>
      </p:sp>
      <p:pic>
        <p:nvPicPr>
          <p:cNvPr id="62" name="Google Shape;62;p2"/>
          <p:cNvPicPr preferRelativeResize="0"/>
          <p:nvPr/>
        </p:nvPicPr>
        <p:blipFill rotWithShape="1">
          <a:blip r:embed="rId5">
            <a:alphaModFix/>
          </a:blip>
          <a:srcRect/>
          <a:stretch/>
        </p:blipFill>
        <p:spPr>
          <a:xfrm>
            <a:off x="2971800" y="1828800"/>
            <a:ext cx="1143000" cy="1143000"/>
          </a:xfrm>
          <a:prstGeom prst="rect">
            <a:avLst/>
          </a:prstGeom>
          <a:noFill/>
          <a:ln>
            <a:noFill/>
          </a:ln>
        </p:spPr>
      </p:pic>
      <p:sp>
        <p:nvSpPr>
          <p:cNvPr id="63" name="Google Shape;63;p2"/>
          <p:cNvSpPr txBox="1">
            <a:spLocks noGrp="1"/>
          </p:cNvSpPr>
          <p:nvPr>
            <p:ph type="title"/>
          </p:nvPr>
        </p:nvSpPr>
        <p:spPr>
          <a:xfrm>
            <a:off x="1303020" y="-152400"/>
            <a:ext cx="829818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Icons Used</a:t>
            </a:r>
            <a:endParaRPr/>
          </a:p>
        </p:txBody>
      </p:sp>
      <p:pic>
        <p:nvPicPr>
          <p:cNvPr id="64" name="Google Shape;64;p2" descr="http://t2.gstatic.com/images?q=tbn:ANd9GcTq6Gw3TUbGqr1NfzAlLJNRtI_NL4uDHS0wJZ6Pn9ByRZwZ7-wEOQ"/>
          <p:cNvPicPr preferRelativeResize="0"/>
          <p:nvPr/>
        </p:nvPicPr>
        <p:blipFill rotWithShape="1">
          <a:blip r:embed="rId6">
            <a:alphaModFix/>
          </a:blip>
          <a:srcRect t="11924" b="14526"/>
          <a:stretch/>
        </p:blipFill>
        <p:spPr>
          <a:xfrm>
            <a:off x="2619921" y="4243552"/>
            <a:ext cx="1723758" cy="1014248"/>
          </a:xfrm>
          <a:prstGeom prst="rect">
            <a:avLst/>
          </a:prstGeom>
          <a:noFill/>
          <a:ln>
            <a:noFill/>
          </a:ln>
        </p:spPr>
      </p:pic>
      <p:sp>
        <p:nvSpPr>
          <p:cNvPr id="65" name="Google Shape;65;p2"/>
          <p:cNvSpPr txBox="1"/>
          <p:nvPr/>
        </p:nvSpPr>
        <p:spPr>
          <a:xfrm>
            <a:off x="2952341" y="5410200"/>
            <a:ext cx="1295400"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b="0" i="0" u="none" strike="noStrike" cap="none">
                <a:solidFill>
                  <a:schemeClr val="dk1"/>
                </a:solidFill>
                <a:latin typeface="Calibri"/>
                <a:ea typeface="Calibri"/>
                <a:cs typeface="Calibri"/>
                <a:sym typeface="Calibri"/>
              </a:rPr>
              <a:t>Lend A Hand</a:t>
            </a:r>
            <a:endParaRPr sz="1600" b="0" i="0" u="none" strike="noStrike" cap="none">
              <a:solidFill>
                <a:schemeClr val="dk1"/>
              </a:solidFill>
              <a:latin typeface="Calibri"/>
              <a:ea typeface="Calibri"/>
              <a:cs typeface="Calibri"/>
              <a:sym typeface="Calibri"/>
            </a:endParaRPr>
          </a:p>
        </p:txBody>
      </p:sp>
      <p:sp>
        <p:nvSpPr>
          <p:cNvPr id="66" name="Google Shape;66;p2"/>
          <p:cNvSpPr txBox="1"/>
          <p:nvPr/>
        </p:nvSpPr>
        <p:spPr>
          <a:xfrm>
            <a:off x="444391" y="3124200"/>
            <a:ext cx="2047875"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b="0" i="0" u="none" strike="noStrike" cap="none">
                <a:solidFill>
                  <a:schemeClr val="dk1"/>
                </a:solidFill>
                <a:latin typeface="Calibri"/>
                <a:ea typeface="Calibri"/>
                <a:cs typeface="Calibri"/>
                <a:sym typeface="Calibri"/>
              </a:rPr>
              <a:t>Hands on Exercise</a:t>
            </a:r>
            <a:endParaRPr/>
          </a:p>
        </p:txBody>
      </p:sp>
      <p:pic>
        <p:nvPicPr>
          <p:cNvPr id="67" name="Google Shape;67;p2"/>
          <p:cNvPicPr preferRelativeResize="0"/>
          <p:nvPr/>
        </p:nvPicPr>
        <p:blipFill rotWithShape="1">
          <a:blip r:embed="rId7">
            <a:alphaModFix/>
          </a:blip>
          <a:srcRect/>
          <a:stretch/>
        </p:blipFill>
        <p:spPr>
          <a:xfrm>
            <a:off x="831438" y="1752600"/>
            <a:ext cx="1364074" cy="1264730"/>
          </a:xfrm>
          <a:prstGeom prst="rect">
            <a:avLst/>
          </a:prstGeom>
          <a:noFill/>
          <a:ln>
            <a:noFill/>
          </a:ln>
        </p:spPr>
      </p:pic>
      <p:sp>
        <p:nvSpPr>
          <p:cNvPr id="68" name="Google Shape;68;p2"/>
          <p:cNvSpPr txBox="1"/>
          <p:nvPr/>
        </p:nvSpPr>
        <p:spPr>
          <a:xfrm>
            <a:off x="6858000" y="3124200"/>
            <a:ext cx="1676400"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b="0" i="0" u="none" strike="noStrike" cap="none">
                <a:solidFill>
                  <a:schemeClr val="dk1"/>
                </a:solidFill>
                <a:latin typeface="Calibri"/>
                <a:ea typeface="Calibri"/>
                <a:cs typeface="Calibri"/>
                <a:sym typeface="Calibri"/>
              </a:rPr>
              <a:t>Points To Ponder</a:t>
            </a:r>
            <a:endParaRPr sz="1600" b="0" i="0" u="none" strike="noStrike" cap="none">
              <a:solidFill>
                <a:schemeClr val="dk1"/>
              </a:solidFill>
              <a:latin typeface="Calibri"/>
              <a:ea typeface="Calibri"/>
              <a:cs typeface="Calibri"/>
              <a:sym typeface="Calibri"/>
            </a:endParaRPr>
          </a:p>
        </p:txBody>
      </p:sp>
      <p:pic>
        <p:nvPicPr>
          <p:cNvPr id="69" name="Google Shape;69;p2" descr="http://t2.gstatic.com/images?q=tbn:ANd9GcTfD2kqrLbbP4SCEky63amKn0MHHD2pb6asclslqC_5LJNYRepLwA"/>
          <p:cNvPicPr preferRelativeResize="0"/>
          <p:nvPr/>
        </p:nvPicPr>
        <p:blipFill rotWithShape="1">
          <a:blip r:embed="rId8">
            <a:alphaModFix/>
          </a:blip>
          <a:srcRect/>
          <a:stretch/>
        </p:blipFill>
        <p:spPr>
          <a:xfrm>
            <a:off x="7055400" y="1676400"/>
            <a:ext cx="1095375" cy="1218798"/>
          </a:xfrm>
          <a:prstGeom prst="rect">
            <a:avLst/>
          </a:prstGeom>
          <a:noFill/>
          <a:ln>
            <a:noFill/>
          </a:ln>
        </p:spPr>
      </p:pic>
      <p:pic>
        <p:nvPicPr>
          <p:cNvPr id="70" name="Google Shape;70;p2" descr="C:\Users\161895.CTS\AppData\Local\Microsoft\Windows\Temporary Internet Files\Content.Outlook\9ZMHTED3\actions_view_pim_tasks.png"/>
          <p:cNvPicPr preferRelativeResize="0"/>
          <p:nvPr/>
        </p:nvPicPr>
        <p:blipFill rotWithShape="1">
          <a:blip r:embed="rId9">
            <a:alphaModFix/>
          </a:blip>
          <a:srcRect/>
          <a:stretch/>
        </p:blipFill>
        <p:spPr>
          <a:xfrm>
            <a:off x="4992305" y="4230305"/>
            <a:ext cx="1027495" cy="1027495"/>
          </a:xfrm>
          <a:prstGeom prst="rect">
            <a:avLst/>
          </a:prstGeom>
          <a:noFill/>
          <a:ln>
            <a:noFill/>
          </a:ln>
        </p:spPr>
      </p:pic>
      <p:sp>
        <p:nvSpPr>
          <p:cNvPr id="71" name="Google Shape;71;p2"/>
          <p:cNvSpPr txBox="1"/>
          <p:nvPr/>
        </p:nvSpPr>
        <p:spPr>
          <a:xfrm>
            <a:off x="5029200" y="5410200"/>
            <a:ext cx="1127675"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b="0" i="0" u="none" strike="noStrike" cap="none">
                <a:solidFill>
                  <a:schemeClr val="dk1"/>
                </a:solidFill>
                <a:latin typeface="Calibri"/>
                <a:ea typeface="Calibri"/>
                <a:cs typeface="Calibri"/>
                <a:sym typeface="Calibri"/>
              </a:rPr>
              <a:t>Summary</a:t>
            </a:r>
            <a:endParaRPr sz="1800" b="0" i="0" u="none" strike="noStrike" cap="none">
              <a:solidFill>
                <a:schemeClr val="dk1"/>
              </a:solidFill>
              <a:latin typeface="Calibri"/>
              <a:ea typeface="Calibri"/>
              <a:cs typeface="Calibri"/>
              <a:sym typeface="Calibri"/>
            </a:endParaRPr>
          </a:p>
        </p:txBody>
      </p:sp>
      <p:pic>
        <p:nvPicPr>
          <p:cNvPr id="72" name="Google Shape;72;p2"/>
          <p:cNvPicPr preferRelativeResize="0"/>
          <p:nvPr/>
        </p:nvPicPr>
        <p:blipFill rotWithShape="1">
          <a:blip r:embed="rId10">
            <a:alphaModFix/>
          </a:blip>
          <a:srcRect/>
          <a:stretch/>
        </p:blipFill>
        <p:spPr>
          <a:xfrm>
            <a:off x="4976776" y="1676400"/>
            <a:ext cx="1278376" cy="1308917"/>
          </a:xfrm>
          <a:prstGeom prst="rect">
            <a:avLst/>
          </a:prstGeom>
          <a:noFill/>
          <a:ln>
            <a:noFill/>
          </a:ln>
        </p:spPr>
      </p:pic>
      <p:sp>
        <p:nvSpPr>
          <p:cNvPr id="73" name="Google Shape;73;p2"/>
          <p:cNvSpPr txBox="1">
            <a:spLocks noGrp="1"/>
          </p:cNvSpPr>
          <p:nvPr>
            <p:ph type="sldNum" idx="12"/>
          </p:nvPr>
        </p:nvSpPr>
        <p:spPr>
          <a:xfrm>
            <a:off x="138752" y="6414139"/>
            <a:ext cx="457200" cy="277813"/>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fld id="{00000000-1234-1234-1234-123412341234}" type="slidenum">
              <a:rPr lang="en-US"/>
              <a:t>2</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p3"/>
          <p:cNvSpPr txBox="1">
            <a:spLocks noGrp="1"/>
          </p:cNvSpPr>
          <p:nvPr>
            <p:ph type="title"/>
          </p:nvPr>
        </p:nvSpPr>
        <p:spPr>
          <a:xfrm>
            <a:off x="1303020" y="-152400"/>
            <a:ext cx="829818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Overview</a:t>
            </a:r>
            <a:endParaRPr/>
          </a:p>
        </p:txBody>
      </p:sp>
      <p:sp>
        <p:nvSpPr>
          <p:cNvPr id="79" name="Google Shape;79;p3"/>
          <p:cNvSpPr txBox="1">
            <a:spLocks noGrp="1"/>
          </p:cNvSpPr>
          <p:nvPr>
            <p:ph type="body" idx="1"/>
          </p:nvPr>
        </p:nvSpPr>
        <p:spPr>
          <a:xfrm>
            <a:off x="2895600" y="2057400"/>
            <a:ext cx="5728993" cy="3352800"/>
          </a:xfrm>
          <a:prstGeom prst="rect">
            <a:avLst/>
          </a:prstGeom>
          <a:noFill/>
          <a:ln>
            <a:noFill/>
          </a:ln>
        </p:spPr>
        <p:txBody>
          <a:bodyPr spcFirstLastPara="1" wrap="square" lIns="91425" tIns="45700" rIns="91425" bIns="45700" anchor="t" anchorCtr="0">
            <a:noAutofit/>
          </a:bodyPr>
          <a:lstStyle/>
          <a:p>
            <a:pPr marL="0" lvl="0" indent="0" algn="just" rtl="0">
              <a:lnSpc>
                <a:spcPct val="120000"/>
              </a:lnSpc>
              <a:spcBef>
                <a:spcPts val="0"/>
              </a:spcBef>
              <a:spcAft>
                <a:spcPts val="0"/>
              </a:spcAft>
              <a:buClr>
                <a:schemeClr val="dk1"/>
              </a:buClr>
              <a:buSzPts val="2400"/>
              <a:buNone/>
            </a:pPr>
            <a:r>
              <a:rPr lang="en-US" sz="2400"/>
              <a:t>SQL Functions session provides knowledge and understanding of the use of functions available in ANSI and finally apply the syntax learned as part of this session in a case study provided. </a:t>
            </a:r>
            <a:endParaRPr sz="2400"/>
          </a:p>
        </p:txBody>
      </p:sp>
      <p:pic>
        <p:nvPicPr>
          <p:cNvPr id="80" name="Google Shape;80;p3"/>
          <p:cNvPicPr preferRelativeResize="0"/>
          <p:nvPr/>
        </p:nvPicPr>
        <p:blipFill rotWithShape="1">
          <a:blip r:embed="rId3">
            <a:alphaModFix/>
          </a:blip>
          <a:srcRect/>
          <a:stretch/>
        </p:blipFill>
        <p:spPr>
          <a:xfrm>
            <a:off x="228600" y="1752600"/>
            <a:ext cx="2680994" cy="4747592"/>
          </a:xfrm>
          <a:prstGeom prst="rect">
            <a:avLst/>
          </a:prstGeom>
          <a:noFill/>
          <a:ln>
            <a:noFill/>
          </a:ln>
        </p:spPr>
      </p:pic>
      <p:sp>
        <p:nvSpPr>
          <p:cNvPr id="81" name="Google Shape;81;p3"/>
          <p:cNvSpPr txBox="1">
            <a:spLocks noGrp="1"/>
          </p:cNvSpPr>
          <p:nvPr>
            <p:ph type="sldNum" idx="12"/>
          </p:nvPr>
        </p:nvSpPr>
        <p:spPr>
          <a:xfrm>
            <a:off x="138752" y="6414139"/>
            <a:ext cx="457200" cy="277813"/>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fld id="{00000000-1234-1234-1234-123412341234}" type="slidenum">
              <a:rPr lang="en-US"/>
              <a:t>3</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80"/>
                                        </p:tgtEl>
                                        <p:attrNameLst>
                                          <p:attrName>style.visibility</p:attrName>
                                        </p:attrNameLst>
                                      </p:cBhvr>
                                      <p:to>
                                        <p:strVal val="visible"/>
                                      </p:to>
                                    </p:set>
                                    <p:animEffect transition="in" filter="fade">
                                      <p:cBhvr>
                                        <p:cTn id="7" dur="500"/>
                                        <p:tgtEl>
                                          <p:spTgt spid="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4"/>
          <p:cNvSpPr txBox="1">
            <a:spLocks noGrp="1"/>
          </p:cNvSpPr>
          <p:nvPr>
            <p:ph type="body" idx="1"/>
          </p:nvPr>
        </p:nvSpPr>
        <p:spPr>
          <a:xfrm>
            <a:off x="381000" y="1219200"/>
            <a:ext cx="8458200" cy="4114800"/>
          </a:xfrm>
          <a:prstGeom prst="rect">
            <a:avLst/>
          </a:prstGeom>
          <a:noFill/>
          <a:ln>
            <a:noFill/>
          </a:ln>
        </p:spPr>
        <p:txBody>
          <a:bodyPr spcFirstLastPara="1" wrap="square" lIns="91425" tIns="45700" rIns="91425" bIns="45700" anchor="t" anchorCtr="0">
            <a:noAutofit/>
          </a:bodyPr>
          <a:lstStyle/>
          <a:p>
            <a:pPr marL="57150" lvl="0" indent="-57150" algn="l" rtl="0">
              <a:lnSpc>
                <a:spcPct val="120000"/>
              </a:lnSpc>
              <a:spcBef>
                <a:spcPts val="0"/>
              </a:spcBef>
              <a:spcAft>
                <a:spcPts val="0"/>
              </a:spcAft>
              <a:buClr>
                <a:schemeClr val="dk1"/>
              </a:buClr>
              <a:buSzPts val="2400"/>
              <a:buNone/>
            </a:pPr>
            <a:r>
              <a:rPr lang="en-US" sz="2400"/>
              <a:t>To understand the SQL functions concepts  that a developer needs to know to work with it.</a:t>
            </a:r>
            <a:endParaRPr/>
          </a:p>
          <a:p>
            <a:pPr marL="57150" lvl="0" indent="-57150" algn="l" rtl="0">
              <a:lnSpc>
                <a:spcPct val="120000"/>
              </a:lnSpc>
              <a:spcBef>
                <a:spcPts val="0"/>
              </a:spcBef>
              <a:spcAft>
                <a:spcPts val="0"/>
              </a:spcAft>
              <a:buClr>
                <a:schemeClr val="dk1"/>
              </a:buClr>
              <a:buSzPts val="2400"/>
              <a:buNone/>
            </a:pPr>
            <a:endParaRPr sz="2400"/>
          </a:p>
          <a:p>
            <a:pPr marL="731520" lvl="1" indent="-365760" algn="l" rtl="0">
              <a:lnSpc>
                <a:spcPct val="120000"/>
              </a:lnSpc>
              <a:spcBef>
                <a:spcPts val="0"/>
              </a:spcBef>
              <a:spcAft>
                <a:spcPts val="0"/>
              </a:spcAft>
              <a:buClr>
                <a:schemeClr val="dk1"/>
              </a:buClr>
              <a:buSzPts val="2200"/>
              <a:buFont typeface="Arial"/>
              <a:buChar char="•"/>
            </a:pPr>
            <a:r>
              <a:rPr lang="en-US" sz="2200"/>
              <a:t>Types of SQL Function</a:t>
            </a:r>
            <a:endParaRPr/>
          </a:p>
          <a:p>
            <a:pPr marL="731520" lvl="1" indent="-365760" algn="l" rtl="0">
              <a:lnSpc>
                <a:spcPct val="120000"/>
              </a:lnSpc>
              <a:spcBef>
                <a:spcPts val="0"/>
              </a:spcBef>
              <a:spcAft>
                <a:spcPts val="0"/>
              </a:spcAft>
              <a:buClr>
                <a:schemeClr val="dk1"/>
              </a:buClr>
              <a:buSzPts val="2200"/>
              <a:buFont typeface="Arial"/>
              <a:buChar char="•"/>
            </a:pPr>
            <a:r>
              <a:rPr lang="en-US" sz="2200"/>
              <a:t>Numeric, character &amp; Date </a:t>
            </a:r>
            <a:endParaRPr sz="2200"/>
          </a:p>
          <a:p>
            <a:pPr marL="365760" lvl="1" indent="0" algn="l" rtl="0">
              <a:lnSpc>
                <a:spcPct val="120000"/>
              </a:lnSpc>
              <a:spcBef>
                <a:spcPts val="0"/>
              </a:spcBef>
              <a:spcAft>
                <a:spcPts val="0"/>
              </a:spcAft>
              <a:buClr>
                <a:schemeClr val="dk1"/>
              </a:buClr>
              <a:buSzPts val="2200"/>
              <a:buNone/>
            </a:pPr>
            <a:r>
              <a:rPr lang="en-US" sz="2200"/>
              <a:t>      Time functions</a:t>
            </a:r>
            <a:endParaRPr/>
          </a:p>
          <a:p>
            <a:pPr marL="731520" lvl="1" indent="-365760" algn="l" rtl="0">
              <a:lnSpc>
                <a:spcPct val="120000"/>
              </a:lnSpc>
              <a:spcBef>
                <a:spcPts val="0"/>
              </a:spcBef>
              <a:spcAft>
                <a:spcPts val="0"/>
              </a:spcAft>
              <a:buClr>
                <a:schemeClr val="dk1"/>
              </a:buClr>
              <a:buSzPts val="2200"/>
              <a:buFont typeface="Arial"/>
              <a:buChar char="•"/>
            </a:pPr>
            <a:r>
              <a:rPr lang="en-US" sz="2200"/>
              <a:t>Aggregate Function </a:t>
            </a:r>
            <a:endParaRPr/>
          </a:p>
          <a:p>
            <a:pPr marL="731520" lvl="1" indent="-365760" algn="l" rtl="0">
              <a:lnSpc>
                <a:spcPct val="120000"/>
              </a:lnSpc>
              <a:spcBef>
                <a:spcPts val="0"/>
              </a:spcBef>
              <a:spcAft>
                <a:spcPts val="0"/>
              </a:spcAft>
              <a:buClr>
                <a:schemeClr val="dk1"/>
              </a:buClr>
              <a:buSzPts val="2200"/>
              <a:buFont typeface="Arial"/>
              <a:buChar char="•"/>
            </a:pPr>
            <a:r>
              <a:rPr lang="en-US" sz="2200"/>
              <a:t>Mathematical Function </a:t>
            </a:r>
            <a:endParaRPr/>
          </a:p>
          <a:p>
            <a:pPr marL="731520" lvl="1" indent="-365760" algn="l" rtl="0">
              <a:lnSpc>
                <a:spcPct val="120000"/>
              </a:lnSpc>
              <a:spcBef>
                <a:spcPts val="0"/>
              </a:spcBef>
              <a:spcAft>
                <a:spcPts val="0"/>
              </a:spcAft>
              <a:buClr>
                <a:schemeClr val="dk1"/>
              </a:buClr>
              <a:buSzPts val="2200"/>
              <a:buFont typeface="Arial"/>
              <a:buChar char="•"/>
            </a:pPr>
            <a:r>
              <a:rPr lang="en-US" sz="2200"/>
              <a:t>Nesting of Functions</a:t>
            </a:r>
            <a:endParaRPr/>
          </a:p>
          <a:p>
            <a:pPr marL="57150" lvl="0" indent="-57150" algn="l" rtl="0">
              <a:lnSpc>
                <a:spcPct val="120000"/>
              </a:lnSpc>
              <a:spcBef>
                <a:spcPts val="0"/>
              </a:spcBef>
              <a:spcAft>
                <a:spcPts val="0"/>
              </a:spcAft>
              <a:buClr>
                <a:schemeClr val="dk1"/>
              </a:buClr>
              <a:buSzPts val="2200"/>
              <a:buNone/>
            </a:pPr>
            <a:endParaRPr sz="2200"/>
          </a:p>
        </p:txBody>
      </p:sp>
      <p:sp>
        <p:nvSpPr>
          <p:cNvPr id="87" name="Google Shape;87;p4"/>
          <p:cNvSpPr txBox="1">
            <a:spLocks noGrp="1"/>
          </p:cNvSpPr>
          <p:nvPr>
            <p:ph type="title"/>
          </p:nvPr>
        </p:nvSpPr>
        <p:spPr>
          <a:xfrm>
            <a:off x="1303020" y="-152400"/>
            <a:ext cx="829818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Objective</a:t>
            </a:r>
            <a:endParaRPr/>
          </a:p>
        </p:txBody>
      </p:sp>
      <p:pic>
        <p:nvPicPr>
          <p:cNvPr id="88" name="Google Shape;88;p4"/>
          <p:cNvPicPr preferRelativeResize="0"/>
          <p:nvPr/>
        </p:nvPicPr>
        <p:blipFill rotWithShape="1">
          <a:blip r:embed="rId3">
            <a:alphaModFix/>
          </a:blip>
          <a:srcRect b="29116"/>
          <a:stretch/>
        </p:blipFill>
        <p:spPr>
          <a:xfrm>
            <a:off x="5562600" y="2438400"/>
            <a:ext cx="2856186" cy="2880567"/>
          </a:xfrm>
          <a:prstGeom prst="rect">
            <a:avLst/>
          </a:prstGeom>
          <a:noFill/>
          <a:ln>
            <a:noFill/>
          </a:ln>
        </p:spPr>
      </p:pic>
      <p:sp>
        <p:nvSpPr>
          <p:cNvPr id="89" name="Google Shape;89;p4"/>
          <p:cNvSpPr txBox="1">
            <a:spLocks noGrp="1"/>
          </p:cNvSpPr>
          <p:nvPr>
            <p:ph type="sldNum" idx="12"/>
          </p:nvPr>
        </p:nvSpPr>
        <p:spPr>
          <a:xfrm>
            <a:off x="138752" y="6414139"/>
            <a:ext cx="457200" cy="277813"/>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fld id="{00000000-1234-1234-1234-123412341234}" type="slidenum">
              <a:rPr lang="en-US"/>
              <a:t>4</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88"/>
                                        </p:tgtEl>
                                        <p:attrNameLst>
                                          <p:attrName>style.visibility</p:attrName>
                                        </p:attrNameLst>
                                      </p:cBhvr>
                                      <p:to>
                                        <p:strVal val="visible"/>
                                      </p:to>
                                    </p:set>
                                    <p:animEffect transition="in" filter="fade">
                                      <p:cBhvr>
                                        <p:cTn id="7" dur="500"/>
                                        <p:tgtEl>
                                          <p:spTgt spid="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5"/>
          <p:cNvSpPr txBox="1">
            <a:spLocks noGrp="1"/>
          </p:cNvSpPr>
          <p:nvPr>
            <p:ph type="body" idx="1"/>
          </p:nvPr>
        </p:nvSpPr>
        <p:spPr>
          <a:xfrm>
            <a:off x="138750" y="1305832"/>
            <a:ext cx="8305800" cy="4793100"/>
          </a:xfrm>
          <a:prstGeom prst="rect">
            <a:avLst/>
          </a:prstGeom>
          <a:noFill/>
          <a:ln>
            <a:noFill/>
          </a:ln>
        </p:spPr>
        <p:txBody>
          <a:bodyPr spcFirstLastPara="1" wrap="square" lIns="91425" tIns="45700" rIns="91425" bIns="45700" anchor="t" anchorCtr="0">
            <a:noAutofit/>
          </a:bodyPr>
          <a:lstStyle/>
          <a:p>
            <a:pPr marL="0" lvl="0" indent="0" algn="l" rtl="0">
              <a:lnSpc>
                <a:spcPct val="120000"/>
              </a:lnSpc>
              <a:spcBef>
                <a:spcPts val="0"/>
              </a:spcBef>
              <a:spcAft>
                <a:spcPts val="0"/>
              </a:spcAft>
              <a:buClr>
                <a:schemeClr val="dk1"/>
              </a:buClr>
              <a:buSzPts val="2400"/>
              <a:buNone/>
            </a:pPr>
            <a:r>
              <a:rPr lang="en-US" sz="2400"/>
              <a:t>For complete understanding of ANSI SQL we are going to make use of </a:t>
            </a:r>
            <a:r>
              <a:rPr lang="en-US" sz="2400" b="1"/>
              <a:t>Product Management System</a:t>
            </a:r>
            <a:r>
              <a:rPr lang="en-US" sz="2400"/>
              <a:t> (</a:t>
            </a:r>
            <a:r>
              <a:rPr lang="en-US" sz="2400" b="1"/>
              <a:t>PMS</a:t>
            </a:r>
            <a:r>
              <a:rPr lang="en-US" sz="2400"/>
              <a:t>) for ABC Traders.</a:t>
            </a:r>
            <a:endParaRPr/>
          </a:p>
          <a:p>
            <a:pPr marL="0" lvl="0" indent="0" algn="l" rtl="0">
              <a:lnSpc>
                <a:spcPct val="120000"/>
              </a:lnSpc>
              <a:spcBef>
                <a:spcPts val="1800"/>
              </a:spcBef>
              <a:spcAft>
                <a:spcPts val="0"/>
              </a:spcAft>
              <a:buClr>
                <a:schemeClr val="dk1"/>
              </a:buClr>
              <a:buSzPts val="2400"/>
              <a:buNone/>
            </a:pPr>
            <a:r>
              <a:rPr lang="en-US" sz="2400"/>
              <a:t>ABC Traders is a company which buys collectable model cars, trains, trucks, buses, trains and ships directly from manufacturers and sells them to distributors across the globe. In order to manage the stocking, supply and payment transactions the above software is developed.</a:t>
            </a:r>
            <a:endParaRPr/>
          </a:p>
          <a:p>
            <a:pPr marL="0" lvl="0" indent="0" algn="l" rtl="0">
              <a:lnSpc>
                <a:spcPct val="120000"/>
              </a:lnSpc>
              <a:spcBef>
                <a:spcPts val="1800"/>
              </a:spcBef>
              <a:spcAft>
                <a:spcPts val="0"/>
              </a:spcAft>
              <a:buClr>
                <a:schemeClr val="dk1"/>
              </a:buClr>
              <a:buSzPts val="2400"/>
              <a:buNone/>
            </a:pPr>
            <a:r>
              <a:rPr lang="en-US" sz="2400"/>
              <a:t>As per the requirement of the trading company a inventory system is developed to collect the information of products and customers and their payment processing.</a:t>
            </a:r>
            <a:endParaRPr/>
          </a:p>
          <a:p>
            <a:pPr marL="0" lvl="0" indent="0" algn="l" rtl="0">
              <a:lnSpc>
                <a:spcPct val="120000"/>
              </a:lnSpc>
              <a:spcBef>
                <a:spcPts val="480"/>
              </a:spcBef>
              <a:spcAft>
                <a:spcPts val="0"/>
              </a:spcAft>
              <a:buClr>
                <a:schemeClr val="dk1"/>
              </a:buClr>
              <a:buSzPts val="2400"/>
              <a:buNone/>
            </a:pPr>
            <a:endParaRPr sz="2400"/>
          </a:p>
        </p:txBody>
      </p:sp>
      <p:sp>
        <p:nvSpPr>
          <p:cNvPr id="96" name="Google Shape;96;p5"/>
          <p:cNvSpPr txBox="1">
            <a:spLocks noGrp="1"/>
          </p:cNvSpPr>
          <p:nvPr>
            <p:ph type="title"/>
          </p:nvPr>
        </p:nvSpPr>
        <p:spPr>
          <a:xfrm>
            <a:off x="1303020" y="-152400"/>
            <a:ext cx="829818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Scenario</a:t>
            </a:r>
            <a:endParaRPr/>
          </a:p>
        </p:txBody>
      </p:sp>
      <p:sp>
        <p:nvSpPr>
          <p:cNvPr id="97" name="Google Shape;97;p5"/>
          <p:cNvSpPr txBox="1">
            <a:spLocks noGrp="1"/>
          </p:cNvSpPr>
          <p:nvPr>
            <p:ph type="sldNum" idx="12"/>
          </p:nvPr>
        </p:nvSpPr>
        <p:spPr>
          <a:xfrm>
            <a:off x="138752" y="6414139"/>
            <a:ext cx="457200" cy="277813"/>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fld id="{00000000-1234-1234-1234-123412341234}" type="slidenum">
              <a:rPr lang="en-US"/>
              <a:t>5</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6"/>
          <p:cNvSpPr txBox="1">
            <a:spLocks noGrp="1"/>
          </p:cNvSpPr>
          <p:nvPr>
            <p:ph type="title"/>
          </p:nvPr>
        </p:nvSpPr>
        <p:spPr>
          <a:xfrm>
            <a:off x="1303020" y="-152400"/>
            <a:ext cx="829818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Database tables</a:t>
            </a:r>
            <a:endParaRPr/>
          </a:p>
        </p:txBody>
      </p:sp>
      <p:sp>
        <p:nvSpPr>
          <p:cNvPr id="103" name="Google Shape;103;p6"/>
          <p:cNvSpPr txBox="1">
            <a:spLocks noGrp="1"/>
          </p:cNvSpPr>
          <p:nvPr>
            <p:ph type="body" idx="1"/>
          </p:nvPr>
        </p:nvSpPr>
        <p:spPr>
          <a:xfrm>
            <a:off x="595950" y="962575"/>
            <a:ext cx="8686800" cy="4946700"/>
          </a:xfrm>
          <a:prstGeom prst="rect">
            <a:avLst/>
          </a:prstGeom>
          <a:noFill/>
          <a:ln>
            <a:noFill/>
          </a:ln>
        </p:spPr>
        <p:txBody>
          <a:bodyPr spcFirstLastPara="1" wrap="square" lIns="91425" tIns="45700" rIns="91425" bIns="45700" anchor="t" anchorCtr="0">
            <a:noAutofit/>
          </a:bodyPr>
          <a:lstStyle/>
          <a:p>
            <a:pPr marL="0" lvl="0" indent="0" algn="l" rtl="0">
              <a:lnSpc>
                <a:spcPct val="120000"/>
              </a:lnSpc>
              <a:spcBef>
                <a:spcPts val="0"/>
              </a:spcBef>
              <a:spcAft>
                <a:spcPts val="0"/>
              </a:spcAft>
              <a:buClr>
                <a:schemeClr val="dk1"/>
              </a:buClr>
              <a:buSzPts val="2400"/>
              <a:buNone/>
            </a:pPr>
            <a:r>
              <a:rPr lang="en-US" sz="2400"/>
              <a:t>There are many entities involved in </a:t>
            </a:r>
            <a:r>
              <a:rPr lang="en-US" sz="2400" b="1"/>
              <a:t>Product Management System. PMS</a:t>
            </a:r>
            <a:r>
              <a:rPr lang="en-US" sz="2400"/>
              <a:t> as given below which we will be dealing with throughout this course</a:t>
            </a:r>
            <a:endParaRPr/>
          </a:p>
          <a:p>
            <a:pPr marL="0" lvl="0" indent="365760" algn="l" rtl="0">
              <a:lnSpc>
                <a:spcPct val="120000"/>
              </a:lnSpc>
              <a:spcBef>
                <a:spcPts val="0"/>
              </a:spcBef>
              <a:spcAft>
                <a:spcPts val="0"/>
              </a:spcAft>
              <a:buClr>
                <a:schemeClr val="dk1"/>
              </a:buClr>
              <a:buSzPts val="2400"/>
              <a:buNone/>
            </a:pPr>
            <a:endParaRPr sz="2400"/>
          </a:p>
          <a:p>
            <a:pPr marL="0" lvl="0" indent="365760" algn="l" rtl="0">
              <a:lnSpc>
                <a:spcPct val="120000"/>
              </a:lnSpc>
              <a:spcBef>
                <a:spcPts val="0"/>
              </a:spcBef>
              <a:spcAft>
                <a:spcPts val="0"/>
              </a:spcAft>
              <a:buClr>
                <a:schemeClr val="dk1"/>
              </a:buClr>
              <a:buSzPts val="2400"/>
              <a:buNone/>
            </a:pPr>
            <a:endParaRPr sz="2400"/>
          </a:p>
        </p:txBody>
      </p:sp>
      <p:sp>
        <p:nvSpPr>
          <p:cNvPr id="104" name="Google Shape;104;p6"/>
          <p:cNvSpPr/>
          <p:nvPr/>
        </p:nvSpPr>
        <p:spPr>
          <a:xfrm rot="5400000">
            <a:off x="1547496" y="3988339"/>
            <a:ext cx="1845946" cy="2134870"/>
          </a:xfrm>
          <a:prstGeom prst="bracePair">
            <a:avLst/>
          </a:prstGeom>
          <a:solidFill>
            <a:srgbClr val="595959"/>
          </a:solidFill>
          <a:ln>
            <a:noFill/>
          </a:ln>
        </p:spPr>
        <p:txBody>
          <a:bodyPr spcFirstLastPara="1" wrap="square" lIns="91425" tIns="45700" rIns="91425" bIns="45700" anchor="ctr" anchorCtr="0">
            <a:noAutofit/>
          </a:bodyPr>
          <a:lstStyle/>
          <a:p>
            <a:pPr marL="0" marR="0" lvl="0" indent="0" algn="ctr" rtl="0">
              <a:lnSpc>
                <a:spcPct val="120000"/>
              </a:lnSpc>
              <a:spcBef>
                <a:spcPts val="0"/>
              </a:spcBef>
              <a:spcAft>
                <a:spcPts val="0"/>
              </a:spcAft>
              <a:buNone/>
            </a:pPr>
            <a:r>
              <a:rPr lang="en-US" sz="1600" b="1" i="1" u="none" strike="noStrike" cap="none">
                <a:solidFill>
                  <a:srgbClr val="92D050"/>
                </a:solidFill>
                <a:latin typeface="Cambria"/>
                <a:ea typeface="Cambria"/>
                <a:cs typeface="Cambria"/>
                <a:sym typeface="Cambria"/>
              </a:rPr>
              <a:t>Payments</a:t>
            </a:r>
            <a:endParaRPr/>
          </a:p>
          <a:p>
            <a:pPr marL="0" marR="0" lvl="0" indent="0" algn="l" rtl="0">
              <a:lnSpc>
                <a:spcPct val="120000"/>
              </a:lnSpc>
              <a:spcBef>
                <a:spcPts val="0"/>
              </a:spcBef>
              <a:spcAft>
                <a:spcPts val="0"/>
              </a:spcAft>
              <a:buNone/>
            </a:pPr>
            <a:r>
              <a:rPr lang="en-US" sz="1300" b="0" i="0" u="none" strike="noStrike" cap="none">
                <a:solidFill>
                  <a:srgbClr val="92D050"/>
                </a:solidFill>
                <a:latin typeface="Calibri"/>
                <a:ea typeface="Calibri"/>
                <a:cs typeface="Calibri"/>
                <a:sym typeface="Calibri"/>
              </a:rPr>
              <a:t>To maintain information of payments done e.g. payment date,  amount etc. </a:t>
            </a:r>
            <a:endParaRPr sz="1300" b="0" i="0" u="none" strike="noStrike" cap="none">
              <a:solidFill>
                <a:srgbClr val="92D050"/>
              </a:solidFill>
              <a:latin typeface="Calibri"/>
              <a:ea typeface="Calibri"/>
              <a:cs typeface="Calibri"/>
              <a:sym typeface="Calibri"/>
            </a:endParaRPr>
          </a:p>
        </p:txBody>
      </p:sp>
      <p:sp>
        <p:nvSpPr>
          <p:cNvPr id="105" name="Google Shape;105;p6"/>
          <p:cNvSpPr/>
          <p:nvPr/>
        </p:nvSpPr>
        <p:spPr>
          <a:xfrm rot="5400000">
            <a:off x="2646835" y="2397824"/>
            <a:ext cx="1842774" cy="2068515"/>
          </a:xfrm>
          <a:prstGeom prst="bracePair">
            <a:avLst/>
          </a:prstGeom>
          <a:solidFill>
            <a:srgbClr val="595959"/>
          </a:solidFill>
          <a:ln>
            <a:noFill/>
          </a:ln>
        </p:spPr>
        <p:txBody>
          <a:bodyPr spcFirstLastPara="1" wrap="square" lIns="91425" tIns="45700" rIns="91425" bIns="45700" anchor="ctr" anchorCtr="0">
            <a:noAutofit/>
          </a:bodyPr>
          <a:lstStyle/>
          <a:p>
            <a:pPr marL="0" marR="0" lvl="0" indent="0" algn="ctr" rtl="0">
              <a:lnSpc>
                <a:spcPct val="120000"/>
              </a:lnSpc>
              <a:spcBef>
                <a:spcPts val="0"/>
              </a:spcBef>
              <a:spcAft>
                <a:spcPts val="0"/>
              </a:spcAft>
              <a:buNone/>
            </a:pPr>
            <a:r>
              <a:rPr lang="en-US" sz="1600" b="1" i="1" u="none" strike="noStrike" cap="none">
                <a:solidFill>
                  <a:srgbClr val="92D050"/>
                </a:solidFill>
                <a:latin typeface="Cambria"/>
                <a:ea typeface="Cambria"/>
                <a:cs typeface="Cambria"/>
                <a:sym typeface="Cambria"/>
              </a:rPr>
              <a:t>Customer</a:t>
            </a:r>
            <a:endParaRPr/>
          </a:p>
          <a:p>
            <a:pPr marL="0" marR="0" lvl="0" indent="0" algn="l" rtl="0">
              <a:lnSpc>
                <a:spcPct val="120000"/>
              </a:lnSpc>
              <a:spcBef>
                <a:spcPts val="0"/>
              </a:spcBef>
              <a:spcAft>
                <a:spcPts val="0"/>
              </a:spcAft>
              <a:buNone/>
            </a:pPr>
            <a:r>
              <a:rPr lang="en-US" sz="1300" b="0" i="0" u="none" strike="noStrike" cap="none">
                <a:solidFill>
                  <a:srgbClr val="92D050"/>
                </a:solidFill>
                <a:latin typeface="Calibri"/>
                <a:ea typeface="Calibri"/>
                <a:cs typeface="Calibri"/>
                <a:sym typeface="Calibri"/>
              </a:rPr>
              <a:t>To maintain customer details  e.g. Customer Name, address</a:t>
            </a:r>
            <a:endParaRPr/>
          </a:p>
          <a:p>
            <a:pPr marL="0" marR="0" lvl="0" indent="0" algn="l" rtl="0">
              <a:lnSpc>
                <a:spcPct val="120000"/>
              </a:lnSpc>
              <a:spcBef>
                <a:spcPts val="0"/>
              </a:spcBef>
              <a:spcAft>
                <a:spcPts val="0"/>
              </a:spcAft>
              <a:buNone/>
            </a:pPr>
            <a:r>
              <a:rPr lang="en-US" sz="1300" b="0" i="0" u="none" strike="noStrike" cap="none">
                <a:solidFill>
                  <a:srgbClr val="92D050"/>
                </a:solidFill>
                <a:latin typeface="Calibri"/>
                <a:ea typeface="Calibri"/>
                <a:cs typeface="Calibri"/>
                <a:sym typeface="Calibri"/>
              </a:rPr>
              <a:t> </a:t>
            </a:r>
            <a:endParaRPr sz="1300" b="0" i="0" u="none" strike="noStrike" cap="none">
              <a:solidFill>
                <a:srgbClr val="92D050"/>
              </a:solidFill>
              <a:latin typeface="Calibri"/>
              <a:ea typeface="Calibri"/>
              <a:cs typeface="Calibri"/>
              <a:sym typeface="Calibri"/>
            </a:endParaRPr>
          </a:p>
        </p:txBody>
      </p:sp>
      <p:sp>
        <p:nvSpPr>
          <p:cNvPr id="106" name="Google Shape;106;p6"/>
          <p:cNvSpPr/>
          <p:nvPr/>
        </p:nvSpPr>
        <p:spPr>
          <a:xfrm rot="5400000">
            <a:off x="3682871" y="4079111"/>
            <a:ext cx="1886998" cy="1963901"/>
          </a:xfrm>
          <a:prstGeom prst="bracePair">
            <a:avLst/>
          </a:prstGeom>
          <a:solidFill>
            <a:srgbClr val="595959"/>
          </a:solidFill>
          <a:ln>
            <a:noFill/>
          </a:ln>
        </p:spPr>
        <p:txBody>
          <a:bodyPr spcFirstLastPara="1" wrap="square" lIns="91425" tIns="45700" rIns="91425" bIns="45700" anchor="ctr" anchorCtr="0">
            <a:noAutofit/>
          </a:bodyPr>
          <a:lstStyle/>
          <a:p>
            <a:pPr marL="0" marR="0" lvl="0" indent="0" algn="ctr" rtl="0">
              <a:lnSpc>
                <a:spcPct val="120000"/>
              </a:lnSpc>
              <a:spcBef>
                <a:spcPts val="0"/>
              </a:spcBef>
              <a:spcAft>
                <a:spcPts val="0"/>
              </a:spcAft>
              <a:buNone/>
            </a:pPr>
            <a:r>
              <a:rPr lang="en-US" sz="1600" b="1" i="1" u="none" strike="noStrike" cap="none">
                <a:solidFill>
                  <a:srgbClr val="92D050"/>
                </a:solidFill>
                <a:latin typeface="Cambria"/>
                <a:ea typeface="Cambria"/>
                <a:cs typeface="Cambria"/>
                <a:sym typeface="Cambria"/>
              </a:rPr>
              <a:t>Orders</a:t>
            </a:r>
            <a:endParaRPr sz="1600" b="1" i="1" u="none" strike="noStrike" cap="none">
              <a:solidFill>
                <a:srgbClr val="92D050"/>
              </a:solidFill>
              <a:latin typeface="Cambria"/>
              <a:ea typeface="Cambria"/>
              <a:cs typeface="Cambria"/>
              <a:sym typeface="Cambria"/>
            </a:endParaRPr>
          </a:p>
          <a:p>
            <a:pPr marL="0" marR="0" lvl="0" indent="0" algn="l" rtl="0">
              <a:lnSpc>
                <a:spcPct val="120000"/>
              </a:lnSpc>
              <a:spcBef>
                <a:spcPts val="0"/>
              </a:spcBef>
              <a:spcAft>
                <a:spcPts val="0"/>
              </a:spcAft>
              <a:buNone/>
            </a:pPr>
            <a:r>
              <a:rPr lang="en-US" sz="1300" b="0" i="0" u="none" strike="noStrike" cap="none">
                <a:solidFill>
                  <a:srgbClr val="92D050"/>
                </a:solidFill>
                <a:latin typeface="Calibri"/>
                <a:ea typeface="Calibri"/>
                <a:cs typeface="Calibri"/>
                <a:sym typeface="Calibri"/>
              </a:rPr>
              <a:t>To maintain Orders done by customers e.g. order no ,date etc. </a:t>
            </a:r>
            <a:endParaRPr sz="1300" b="0" i="0" u="none" strike="noStrike" cap="none">
              <a:solidFill>
                <a:srgbClr val="92D050"/>
              </a:solidFill>
              <a:latin typeface="Calibri"/>
              <a:ea typeface="Calibri"/>
              <a:cs typeface="Calibri"/>
              <a:sym typeface="Calibri"/>
            </a:endParaRPr>
          </a:p>
        </p:txBody>
      </p:sp>
      <p:sp>
        <p:nvSpPr>
          <p:cNvPr id="107" name="Google Shape;107;p6"/>
          <p:cNvSpPr/>
          <p:nvPr/>
        </p:nvSpPr>
        <p:spPr>
          <a:xfrm rot="5400000">
            <a:off x="393861" y="2299714"/>
            <a:ext cx="1789427" cy="2272348"/>
          </a:xfrm>
          <a:prstGeom prst="bracePair">
            <a:avLst/>
          </a:prstGeom>
          <a:solidFill>
            <a:srgbClr val="595959"/>
          </a:solidFill>
          <a:ln>
            <a:noFill/>
          </a:ln>
        </p:spPr>
        <p:txBody>
          <a:bodyPr spcFirstLastPara="1" wrap="square" lIns="91425" tIns="45700" rIns="91425" bIns="45700" anchor="ctr" anchorCtr="0">
            <a:noAutofit/>
          </a:bodyPr>
          <a:lstStyle/>
          <a:p>
            <a:pPr marL="0" marR="0" lvl="0" indent="0" algn="ctr" rtl="0">
              <a:lnSpc>
                <a:spcPct val="120000"/>
              </a:lnSpc>
              <a:spcBef>
                <a:spcPts val="0"/>
              </a:spcBef>
              <a:spcAft>
                <a:spcPts val="0"/>
              </a:spcAft>
              <a:buNone/>
            </a:pPr>
            <a:r>
              <a:rPr lang="en-US" sz="1600" b="1" i="1" u="none" strike="noStrike" cap="none">
                <a:solidFill>
                  <a:srgbClr val="92D050"/>
                </a:solidFill>
                <a:latin typeface="Cambria"/>
                <a:ea typeface="Cambria"/>
                <a:cs typeface="Cambria"/>
                <a:sym typeface="Cambria"/>
              </a:rPr>
              <a:t>Offices </a:t>
            </a:r>
            <a:endParaRPr sz="1200" b="0" i="0" u="none" strike="noStrike" cap="none">
              <a:solidFill>
                <a:srgbClr val="92D050"/>
              </a:solidFill>
              <a:latin typeface="Calibri"/>
              <a:ea typeface="Calibri"/>
              <a:cs typeface="Calibri"/>
              <a:sym typeface="Calibri"/>
            </a:endParaRPr>
          </a:p>
          <a:p>
            <a:pPr marL="0" marR="0" lvl="0" indent="0" algn="l" rtl="0">
              <a:lnSpc>
                <a:spcPct val="120000"/>
              </a:lnSpc>
              <a:spcBef>
                <a:spcPts val="0"/>
              </a:spcBef>
              <a:spcAft>
                <a:spcPts val="0"/>
              </a:spcAft>
              <a:buNone/>
            </a:pPr>
            <a:r>
              <a:rPr lang="en-US" sz="1300" b="0" i="0" u="none" strike="noStrike" cap="none">
                <a:solidFill>
                  <a:srgbClr val="92D050"/>
                </a:solidFill>
                <a:latin typeface="Calibri"/>
                <a:ea typeface="Calibri"/>
                <a:cs typeface="Calibri"/>
                <a:sym typeface="Calibri"/>
              </a:rPr>
              <a:t>To maintain information of Offices e.g. Office code, address, city etc. </a:t>
            </a:r>
            <a:endParaRPr sz="1300" b="0" i="0" u="none" strike="noStrike" cap="none">
              <a:solidFill>
                <a:srgbClr val="92D050"/>
              </a:solidFill>
              <a:latin typeface="Calibri"/>
              <a:ea typeface="Calibri"/>
              <a:cs typeface="Calibri"/>
              <a:sym typeface="Calibri"/>
            </a:endParaRPr>
          </a:p>
        </p:txBody>
      </p:sp>
      <p:sp>
        <p:nvSpPr>
          <p:cNvPr id="108" name="Google Shape;108;p6"/>
          <p:cNvSpPr/>
          <p:nvPr/>
        </p:nvSpPr>
        <p:spPr>
          <a:xfrm rot="5400000">
            <a:off x="4827905" y="2407190"/>
            <a:ext cx="1789429" cy="2057400"/>
          </a:xfrm>
          <a:prstGeom prst="bracePair">
            <a:avLst/>
          </a:prstGeom>
          <a:solidFill>
            <a:srgbClr val="595959"/>
          </a:solidFill>
          <a:ln>
            <a:noFill/>
          </a:ln>
        </p:spPr>
        <p:txBody>
          <a:bodyPr spcFirstLastPara="1" wrap="square" lIns="91425" tIns="45700" rIns="91425" bIns="45700" anchor="ctr" anchorCtr="0">
            <a:noAutofit/>
          </a:bodyPr>
          <a:lstStyle/>
          <a:p>
            <a:pPr marL="0" marR="0" lvl="0" indent="0" algn="ctr" rtl="0">
              <a:lnSpc>
                <a:spcPct val="120000"/>
              </a:lnSpc>
              <a:spcBef>
                <a:spcPts val="0"/>
              </a:spcBef>
              <a:spcAft>
                <a:spcPts val="0"/>
              </a:spcAft>
              <a:buNone/>
            </a:pPr>
            <a:r>
              <a:rPr lang="en-US" sz="1600" b="1" i="1" u="none" strike="noStrike" cap="none">
                <a:solidFill>
                  <a:srgbClr val="92D050"/>
                </a:solidFill>
                <a:latin typeface="Cambria"/>
                <a:ea typeface="Cambria"/>
                <a:cs typeface="Cambria"/>
                <a:sym typeface="Cambria"/>
              </a:rPr>
              <a:t>Employees</a:t>
            </a:r>
            <a:endParaRPr sz="1600" b="1" i="1" u="none" strike="noStrike" cap="none">
              <a:solidFill>
                <a:srgbClr val="92D050"/>
              </a:solidFill>
              <a:latin typeface="Cambria"/>
              <a:ea typeface="Cambria"/>
              <a:cs typeface="Cambria"/>
              <a:sym typeface="Cambria"/>
            </a:endParaRPr>
          </a:p>
          <a:p>
            <a:pPr marL="0" marR="0" lvl="0" indent="0" algn="l" rtl="0">
              <a:lnSpc>
                <a:spcPct val="120000"/>
              </a:lnSpc>
              <a:spcBef>
                <a:spcPts val="0"/>
              </a:spcBef>
              <a:spcAft>
                <a:spcPts val="0"/>
              </a:spcAft>
              <a:buNone/>
            </a:pPr>
            <a:r>
              <a:rPr lang="en-US" sz="1300" b="0" i="0" u="none" strike="noStrike" cap="none">
                <a:solidFill>
                  <a:srgbClr val="92D050"/>
                </a:solidFill>
                <a:latin typeface="Cambria"/>
                <a:ea typeface="Cambria"/>
                <a:cs typeface="Cambria"/>
                <a:sym typeface="Cambria"/>
              </a:rPr>
              <a:t>To maintain employee  </a:t>
            </a:r>
            <a:endParaRPr sz="1300" b="0" i="0" u="none" strike="noStrike" cap="none">
              <a:solidFill>
                <a:srgbClr val="92D050"/>
              </a:solidFill>
              <a:latin typeface="Cambria"/>
              <a:ea typeface="Cambria"/>
              <a:cs typeface="Cambria"/>
              <a:sym typeface="Cambria"/>
            </a:endParaRPr>
          </a:p>
          <a:p>
            <a:pPr marL="0" marR="0" lvl="0" indent="0" algn="l" rtl="0">
              <a:lnSpc>
                <a:spcPct val="120000"/>
              </a:lnSpc>
              <a:spcBef>
                <a:spcPts val="0"/>
              </a:spcBef>
              <a:spcAft>
                <a:spcPts val="0"/>
              </a:spcAft>
              <a:buNone/>
            </a:pPr>
            <a:r>
              <a:rPr lang="en-US" sz="1300" b="0" i="0" u="none" strike="noStrike" cap="none">
                <a:solidFill>
                  <a:srgbClr val="92D050"/>
                </a:solidFill>
                <a:latin typeface="Cambria"/>
                <a:ea typeface="Cambria"/>
                <a:cs typeface="Cambria"/>
                <a:sym typeface="Cambria"/>
              </a:rPr>
              <a:t>details  e.g.  id,</a:t>
            </a:r>
            <a:endParaRPr sz="1300" b="0" i="0" u="none" strike="noStrike" cap="none">
              <a:solidFill>
                <a:srgbClr val="92D050"/>
              </a:solidFill>
              <a:latin typeface="Cambria"/>
              <a:ea typeface="Cambria"/>
              <a:cs typeface="Cambria"/>
              <a:sym typeface="Cambria"/>
            </a:endParaRPr>
          </a:p>
          <a:p>
            <a:pPr marL="0" marR="0" lvl="0" indent="0" algn="l" rtl="0">
              <a:lnSpc>
                <a:spcPct val="120000"/>
              </a:lnSpc>
              <a:spcBef>
                <a:spcPts val="0"/>
              </a:spcBef>
              <a:spcAft>
                <a:spcPts val="0"/>
              </a:spcAft>
              <a:buNone/>
            </a:pPr>
            <a:r>
              <a:rPr lang="en-US" sz="1300" b="0" i="0" u="none" strike="noStrike" cap="none">
                <a:solidFill>
                  <a:srgbClr val="92D050"/>
                </a:solidFill>
                <a:latin typeface="Cambria"/>
                <a:ea typeface="Cambria"/>
                <a:cs typeface="Cambria"/>
                <a:sym typeface="Cambria"/>
              </a:rPr>
              <a:t>Name etc. </a:t>
            </a:r>
            <a:endParaRPr sz="1300" b="0" i="0" u="none" strike="noStrike" cap="none">
              <a:solidFill>
                <a:srgbClr val="92D050"/>
              </a:solidFill>
              <a:latin typeface="Cambria"/>
              <a:ea typeface="Cambria"/>
              <a:cs typeface="Cambria"/>
              <a:sym typeface="Cambria"/>
            </a:endParaRPr>
          </a:p>
        </p:txBody>
      </p:sp>
      <p:sp>
        <p:nvSpPr>
          <p:cNvPr id="109" name="Google Shape;109;p6"/>
          <p:cNvSpPr/>
          <p:nvPr/>
        </p:nvSpPr>
        <p:spPr>
          <a:xfrm rot="5400000">
            <a:off x="6991985" y="2376709"/>
            <a:ext cx="1789429" cy="2057400"/>
          </a:xfrm>
          <a:prstGeom prst="bracePair">
            <a:avLst/>
          </a:prstGeom>
          <a:solidFill>
            <a:srgbClr val="595959"/>
          </a:solidFill>
          <a:ln>
            <a:noFill/>
          </a:ln>
        </p:spPr>
        <p:txBody>
          <a:bodyPr spcFirstLastPara="1" wrap="square" lIns="91425" tIns="45700" rIns="91425" bIns="45700" anchor="ctr" anchorCtr="0">
            <a:noAutofit/>
          </a:bodyPr>
          <a:lstStyle/>
          <a:p>
            <a:pPr marL="0" marR="0" lvl="0" indent="0" algn="ctr" rtl="0">
              <a:lnSpc>
                <a:spcPct val="120000"/>
              </a:lnSpc>
              <a:spcBef>
                <a:spcPts val="0"/>
              </a:spcBef>
              <a:spcAft>
                <a:spcPts val="0"/>
              </a:spcAft>
              <a:buNone/>
            </a:pPr>
            <a:r>
              <a:rPr lang="en-US" sz="1600" b="1" i="1" u="none" strike="noStrike" cap="none">
                <a:solidFill>
                  <a:srgbClr val="92D050"/>
                </a:solidFill>
                <a:latin typeface="Cambria"/>
                <a:ea typeface="Cambria"/>
                <a:cs typeface="Cambria"/>
                <a:sym typeface="Cambria"/>
              </a:rPr>
              <a:t>Products</a:t>
            </a:r>
            <a:endParaRPr/>
          </a:p>
          <a:p>
            <a:pPr marL="0" marR="0" lvl="0" indent="0" algn="l" rtl="0">
              <a:lnSpc>
                <a:spcPct val="120000"/>
              </a:lnSpc>
              <a:spcBef>
                <a:spcPts val="0"/>
              </a:spcBef>
              <a:spcAft>
                <a:spcPts val="0"/>
              </a:spcAft>
              <a:buNone/>
            </a:pPr>
            <a:r>
              <a:rPr lang="en-US" sz="1300" b="0" i="0" u="none" strike="noStrike" cap="none">
                <a:solidFill>
                  <a:srgbClr val="92D050"/>
                </a:solidFill>
                <a:latin typeface="Cambria"/>
                <a:ea typeface="Cambria"/>
                <a:cs typeface="Cambria"/>
                <a:sym typeface="Cambria"/>
              </a:rPr>
              <a:t>To </a:t>
            </a:r>
            <a:r>
              <a:rPr lang="en-US" sz="1300" b="0" i="0" u="none" strike="noStrike" cap="none">
                <a:solidFill>
                  <a:srgbClr val="92D050"/>
                </a:solidFill>
                <a:latin typeface="Calibri"/>
                <a:ea typeface="Calibri"/>
                <a:cs typeface="Calibri"/>
                <a:sym typeface="Calibri"/>
              </a:rPr>
              <a:t>maintain information of products e.g. product id, name etc</a:t>
            </a:r>
            <a:r>
              <a:rPr lang="en-US" sz="1300" b="0" i="0" u="none" strike="noStrike" cap="none">
                <a:solidFill>
                  <a:srgbClr val="92D050"/>
                </a:solidFill>
                <a:latin typeface="Cambria"/>
                <a:ea typeface="Cambria"/>
                <a:cs typeface="Cambria"/>
                <a:sym typeface="Cambria"/>
              </a:rPr>
              <a:t>. </a:t>
            </a:r>
            <a:endParaRPr sz="1300" b="0" i="0" u="none" strike="noStrike" cap="none">
              <a:solidFill>
                <a:srgbClr val="92D050"/>
              </a:solidFill>
              <a:latin typeface="Cambria"/>
              <a:ea typeface="Cambria"/>
              <a:cs typeface="Cambria"/>
              <a:sym typeface="Cambria"/>
            </a:endParaRPr>
          </a:p>
        </p:txBody>
      </p:sp>
      <p:sp>
        <p:nvSpPr>
          <p:cNvPr id="110" name="Google Shape;110;p6"/>
          <p:cNvSpPr/>
          <p:nvPr/>
        </p:nvSpPr>
        <p:spPr>
          <a:xfrm rot="5400000">
            <a:off x="5863943" y="4060059"/>
            <a:ext cx="1886998" cy="2032483"/>
          </a:xfrm>
          <a:prstGeom prst="bracePair">
            <a:avLst/>
          </a:prstGeom>
          <a:solidFill>
            <a:srgbClr val="595959"/>
          </a:solidFill>
          <a:ln>
            <a:noFill/>
          </a:ln>
        </p:spPr>
        <p:txBody>
          <a:bodyPr spcFirstLastPara="1" wrap="square" lIns="91425" tIns="45700" rIns="91425" bIns="45700" anchor="ctr" anchorCtr="0">
            <a:noAutofit/>
          </a:bodyPr>
          <a:lstStyle/>
          <a:p>
            <a:pPr marL="0" marR="0" lvl="0" indent="0" algn="ctr" rtl="0">
              <a:lnSpc>
                <a:spcPct val="120000"/>
              </a:lnSpc>
              <a:spcBef>
                <a:spcPts val="0"/>
              </a:spcBef>
              <a:spcAft>
                <a:spcPts val="0"/>
              </a:spcAft>
              <a:buNone/>
            </a:pPr>
            <a:r>
              <a:rPr lang="en-US" sz="1600" b="1" i="1" u="none" strike="noStrike" cap="none">
                <a:solidFill>
                  <a:srgbClr val="92D050"/>
                </a:solidFill>
                <a:latin typeface="Cambria"/>
                <a:ea typeface="Cambria"/>
                <a:cs typeface="Cambria"/>
                <a:sym typeface="Cambria"/>
              </a:rPr>
              <a:t>OrderDetails</a:t>
            </a:r>
            <a:endParaRPr sz="1600" b="1" i="1" u="none" strike="noStrike" cap="none">
              <a:solidFill>
                <a:srgbClr val="92D050"/>
              </a:solidFill>
              <a:latin typeface="Cambria"/>
              <a:ea typeface="Cambria"/>
              <a:cs typeface="Cambria"/>
              <a:sym typeface="Cambria"/>
            </a:endParaRPr>
          </a:p>
          <a:p>
            <a:pPr marL="0" marR="0" lvl="0" indent="0" algn="l" rtl="0">
              <a:lnSpc>
                <a:spcPct val="120000"/>
              </a:lnSpc>
              <a:spcBef>
                <a:spcPts val="0"/>
              </a:spcBef>
              <a:spcAft>
                <a:spcPts val="0"/>
              </a:spcAft>
              <a:buNone/>
            </a:pPr>
            <a:r>
              <a:rPr lang="en-US" sz="1300" b="0" i="0" u="none" strike="noStrike" cap="none">
                <a:solidFill>
                  <a:srgbClr val="92D050"/>
                </a:solidFill>
                <a:latin typeface="Calibri"/>
                <a:ea typeface="Calibri"/>
                <a:cs typeface="Calibri"/>
                <a:sym typeface="Calibri"/>
              </a:rPr>
              <a:t>To maintain Orders done by customers e.g. order no ,date etc. </a:t>
            </a:r>
            <a:endParaRPr sz="1300" b="0" i="0" u="none" strike="noStrike" cap="none">
              <a:solidFill>
                <a:srgbClr val="92D050"/>
              </a:solidFill>
              <a:latin typeface="Calibri"/>
              <a:ea typeface="Calibri"/>
              <a:cs typeface="Calibri"/>
              <a:sym typeface="Calibri"/>
            </a:endParaRPr>
          </a:p>
        </p:txBody>
      </p:sp>
      <p:sp>
        <p:nvSpPr>
          <p:cNvPr id="111" name="Google Shape;111;p6"/>
          <p:cNvSpPr txBox="1">
            <a:spLocks noGrp="1"/>
          </p:cNvSpPr>
          <p:nvPr>
            <p:ph type="sldNum" idx="12"/>
          </p:nvPr>
        </p:nvSpPr>
        <p:spPr>
          <a:xfrm>
            <a:off x="138752" y="6414139"/>
            <a:ext cx="457200" cy="277813"/>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fld id="{00000000-1234-1234-1234-123412341234}" type="slidenum">
              <a:rPr lang="en-US"/>
              <a:t>6</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withEffect">
                                  <p:stCondLst>
                                    <p:cond delay="0"/>
                                  </p:stCondLst>
                                  <p:childTnLst>
                                    <p:set>
                                      <p:cBhvr>
                                        <p:cTn id="6" dur="1" fill="hold">
                                          <p:stCondLst>
                                            <p:cond delay="0"/>
                                          </p:stCondLst>
                                        </p:cTn>
                                        <p:tgtEl>
                                          <p:spTgt spid="107"/>
                                        </p:tgtEl>
                                        <p:attrNameLst>
                                          <p:attrName>style.visibility</p:attrName>
                                        </p:attrNameLst>
                                      </p:cBhvr>
                                      <p:to>
                                        <p:strVal val="visible"/>
                                      </p:to>
                                    </p:set>
                                    <p:anim calcmode="lin" valueType="num">
                                      <p:cBhvr additive="base">
                                        <p:cTn id="7" dur="500"/>
                                        <p:tgtEl>
                                          <p:spTgt spid="107"/>
                                        </p:tgtEl>
                                        <p:attrNameLst>
                                          <p:attrName>ppt_w</p:attrName>
                                        </p:attrNameLst>
                                      </p:cBhvr>
                                      <p:tavLst>
                                        <p:tav tm="0">
                                          <p:val>
                                            <p:strVal val="0"/>
                                          </p:val>
                                        </p:tav>
                                        <p:tav tm="100000">
                                          <p:val>
                                            <p:strVal val="#ppt_w"/>
                                          </p:val>
                                        </p:tav>
                                      </p:tavLst>
                                    </p:anim>
                                    <p:anim calcmode="lin" valueType="num">
                                      <p:cBhvr additive="base">
                                        <p:cTn id="8" dur="500"/>
                                        <p:tgtEl>
                                          <p:spTgt spid="107"/>
                                        </p:tgtEl>
                                        <p:attrNameLst>
                                          <p:attrName>ppt_h</p:attrName>
                                        </p:attrNameLst>
                                      </p:cBhvr>
                                      <p:tavLst>
                                        <p:tav tm="0">
                                          <p:val>
                                            <p:strVal val="0"/>
                                          </p:val>
                                        </p:tav>
                                        <p:tav tm="100000">
                                          <p:val>
                                            <p:strVal val="#ppt_h"/>
                                          </p:val>
                                        </p:tav>
                                      </p:tavLst>
                                    </p:anim>
                                  </p:childTnLst>
                                </p:cTn>
                              </p:par>
                            </p:childTnLst>
                          </p:cTn>
                        </p:par>
                        <p:par>
                          <p:cTn id="9" fill="hold">
                            <p:stCondLst>
                              <p:cond delay="500"/>
                            </p:stCondLst>
                            <p:childTnLst>
                              <p:par>
                                <p:cTn id="10" presetID="23" presetClass="entr" presetSubtype="16" fill="hold" nodeType="afterEffect">
                                  <p:stCondLst>
                                    <p:cond delay="0"/>
                                  </p:stCondLst>
                                  <p:childTnLst>
                                    <p:set>
                                      <p:cBhvr>
                                        <p:cTn id="11" dur="1" fill="hold">
                                          <p:stCondLst>
                                            <p:cond delay="0"/>
                                          </p:stCondLst>
                                        </p:cTn>
                                        <p:tgtEl>
                                          <p:spTgt spid="105"/>
                                        </p:tgtEl>
                                        <p:attrNameLst>
                                          <p:attrName>style.visibility</p:attrName>
                                        </p:attrNameLst>
                                      </p:cBhvr>
                                      <p:to>
                                        <p:strVal val="visible"/>
                                      </p:to>
                                    </p:set>
                                    <p:anim calcmode="lin" valueType="num">
                                      <p:cBhvr additive="base">
                                        <p:cTn id="12" dur="500"/>
                                        <p:tgtEl>
                                          <p:spTgt spid="105"/>
                                        </p:tgtEl>
                                        <p:attrNameLst>
                                          <p:attrName>ppt_w</p:attrName>
                                        </p:attrNameLst>
                                      </p:cBhvr>
                                      <p:tavLst>
                                        <p:tav tm="0">
                                          <p:val>
                                            <p:strVal val="0"/>
                                          </p:val>
                                        </p:tav>
                                        <p:tav tm="100000">
                                          <p:val>
                                            <p:strVal val="#ppt_w"/>
                                          </p:val>
                                        </p:tav>
                                      </p:tavLst>
                                    </p:anim>
                                    <p:anim calcmode="lin" valueType="num">
                                      <p:cBhvr additive="base">
                                        <p:cTn id="13" dur="500"/>
                                        <p:tgtEl>
                                          <p:spTgt spid="105"/>
                                        </p:tgtEl>
                                        <p:attrNameLst>
                                          <p:attrName>ppt_h</p:attrName>
                                        </p:attrNameLst>
                                      </p:cBhvr>
                                      <p:tavLst>
                                        <p:tav tm="0">
                                          <p:val>
                                            <p:strVal val="0"/>
                                          </p:val>
                                        </p:tav>
                                        <p:tav tm="100000">
                                          <p:val>
                                            <p:strVal val="#ppt_h"/>
                                          </p:val>
                                        </p:tav>
                                      </p:tavLst>
                                    </p:anim>
                                  </p:childTnLst>
                                </p:cTn>
                              </p:par>
                            </p:childTnLst>
                          </p:cTn>
                        </p:par>
                        <p:par>
                          <p:cTn id="14" fill="hold">
                            <p:stCondLst>
                              <p:cond delay="1000"/>
                            </p:stCondLst>
                            <p:childTnLst>
                              <p:par>
                                <p:cTn id="15" presetID="23" presetClass="entr" presetSubtype="16" fill="hold" nodeType="afterEffect">
                                  <p:stCondLst>
                                    <p:cond delay="0"/>
                                  </p:stCondLst>
                                  <p:childTnLst>
                                    <p:set>
                                      <p:cBhvr>
                                        <p:cTn id="16" dur="1" fill="hold">
                                          <p:stCondLst>
                                            <p:cond delay="0"/>
                                          </p:stCondLst>
                                        </p:cTn>
                                        <p:tgtEl>
                                          <p:spTgt spid="108"/>
                                        </p:tgtEl>
                                        <p:attrNameLst>
                                          <p:attrName>style.visibility</p:attrName>
                                        </p:attrNameLst>
                                      </p:cBhvr>
                                      <p:to>
                                        <p:strVal val="visible"/>
                                      </p:to>
                                    </p:set>
                                    <p:anim calcmode="lin" valueType="num">
                                      <p:cBhvr additive="base">
                                        <p:cTn id="17" dur="500"/>
                                        <p:tgtEl>
                                          <p:spTgt spid="108"/>
                                        </p:tgtEl>
                                        <p:attrNameLst>
                                          <p:attrName>ppt_w</p:attrName>
                                        </p:attrNameLst>
                                      </p:cBhvr>
                                      <p:tavLst>
                                        <p:tav tm="0">
                                          <p:val>
                                            <p:strVal val="0"/>
                                          </p:val>
                                        </p:tav>
                                        <p:tav tm="100000">
                                          <p:val>
                                            <p:strVal val="#ppt_w"/>
                                          </p:val>
                                        </p:tav>
                                      </p:tavLst>
                                    </p:anim>
                                    <p:anim calcmode="lin" valueType="num">
                                      <p:cBhvr additive="base">
                                        <p:cTn id="18" dur="500"/>
                                        <p:tgtEl>
                                          <p:spTgt spid="108"/>
                                        </p:tgtEl>
                                        <p:attrNameLst>
                                          <p:attrName>ppt_h</p:attrName>
                                        </p:attrNameLst>
                                      </p:cBhvr>
                                      <p:tavLst>
                                        <p:tav tm="0">
                                          <p:val>
                                            <p:strVal val="0"/>
                                          </p:val>
                                        </p:tav>
                                        <p:tav tm="100000">
                                          <p:val>
                                            <p:strVal val="#ppt_h"/>
                                          </p:val>
                                        </p:tav>
                                      </p:tavLst>
                                    </p:anim>
                                  </p:childTnLst>
                                </p:cTn>
                              </p:par>
                            </p:childTnLst>
                          </p:cTn>
                        </p:par>
                        <p:par>
                          <p:cTn id="19" fill="hold">
                            <p:stCondLst>
                              <p:cond delay="1500"/>
                            </p:stCondLst>
                            <p:childTnLst>
                              <p:par>
                                <p:cTn id="20" presetID="23" presetClass="entr" presetSubtype="16" fill="hold" nodeType="afterEffect">
                                  <p:stCondLst>
                                    <p:cond delay="0"/>
                                  </p:stCondLst>
                                  <p:childTnLst>
                                    <p:set>
                                      <p:cBhvr>
                                        <p:cTn id="21" dur="1" fill="hold">
                                          <p:stCondLst>
                                            <p:cond delay="0"/>
                                          </p:stCondLst>
                                        </p:cTn>
                                        <p:tgtEl>
                                          <p:spTgt spid="109"/>
                                        </p:tgtEl>
                                        <p:attrNameLst>
                                          <p:attrName>style.visibility</p:attrName>
                                        </p:attrNameLst>
                                      </p:cBhvr>
                                      <p:to>
                                        <p:strVal val="visible"/>
                                      </p:to>
                                    </p:set>
                                    <p:anim calcmode="lin" valueType="num">
                                      <p:cBhvr additive="base">
                                        <p:cTn id="22" dur="500"/>
                                        <p:tgtEl>
                                          <p:spTgt spid="109"/>
                                        </p:tgtEl>
                                        <p:attrNameLst>
                                          <p:attrName>ppt_w</p:attrName>
                                        </p:attrNameLst>
                                      </p:cBhvr>
                                      <p:tavLst>
                                        <p:tav tm="0">
                                          <p:val>
                                            <p:strVal val="0"/>
                                          </p:val>
                                        </p:tav>
                                        <p:tav tm="100000">
                                          <p:val>
                                            <p:strVal val="#ppt_w"/>
                                          </p:val>
                                        </p:tav>
                                      </p:tavLst>
                                    </p:anim>
                                    <p:anim calcmode="lin" valueType="num">
                                      <p:cBhvr additive="base">
                                        <p:cTn id="23" dur="500"/>
                                        <p:tgtEl>
                                          <p:spTgt spid="109"/>
                                        </p:tgtEl>
                                        <p:attrNameLst>
                                          <p:attrName>ppt_h</p:attrName>
                                        </p:attrNameLst>
                                      </p:cBhvr>
                                      <p:tavLst>
                                        <p:tav tm="0">
                                          <p:val>
                                            <p:strVal val="0"/>
                                          </p:val>
                                        </p:tav>
                                        <p:tav tm="100000">
                                          <p:val>
                                            <p:strVal val="#ppt_h"/>
                                          </p:val>
                                        </p:tav>
                                      </p:tavLst>
                                    </p:anim>
                                  </p:childTnLst>
                                </p:cTn>
                              </p:par>
                            </p:childTnLst>
                          </p:cTn>
                        </p:par>
                        <p:par>
                          <p:cTn id="24" fill="hold">
                            <p:stCondLst>
                              <p:cond delay="2000"/>
                            </p:stCondLst>
                            <p:childTnLst>
                              <p:par>
                                <p:cTn id="25" presetID="23" presetClass="entr" presetSubtype="16" fill="hold" nodeType="afterEffect">
                                  <p:stCondLst>
                                    <p:cond delay="0"/>
                                  </p:stCondLst>
                                  <p:childTnLst>
                                    <p:set>
                                      <p:cBhvr>
                                        <p:cTn id="26" dur="1" fill="hold">
                                          <p:stCondLst>
                                            <p:cond delay="0"/>
                                          </p:stCondLst>
                                        </p:cTn>
                                        <p:tgtEl>
                                          <p:spTgt spid="104"/>
                                        </p:tgtEl>
                                        <p:attrNameLst>
                                          <p:attrName>style.visibility</p:attrName>
                                        </p:attrNameLst>
                                      </p:cBhvr>
                                      <p:to>
                                        <p:strVal val="visible"/>
                                      </p:to>
                                    </p:set>
                                    <p:anim calcmode="lin" valueType="num">
                                      <p:cBhvr additive="base">
                                        <p:cTn id="27" dur="500"/>
                                        <p:tgtEl>
                                          <p:spTgt spid="104"/>
                                        </p:tgtEl>
                                        <p:attrNameLst>
                                          <p:attrName>ppt_w</p:attrName>
                                        </p:attrNameLst>
                                      </p:cBhvr>
                                      <p:tavLst>
                                        <p:tav tm="0">
                                          <p:val>
                                            <p:strVal val="0"/>
                                          </p:val>
                                        </p:tav>
                                        <p:tav tm="100000">
                                          <p:val>
                                            <p:strVal val="#ppt_w"/>
                                          </p:val>
                                        </p:tav>
                                      </p:tavLst>
                                    </p:anim>
                                    <p:anim calcmode="lin" valueType="num">
                                      <p:cBhvr additive="base">
                                        <p:cTn id="28" dur="500"/>
                                        <p:tgtEl>
                                          <p:spTgt spid="104"/>
                                        </p:tgtEl>
                                        <p:attrNameLst>
                                          <p:attrName>ppt_h</p:attrName>
                                        </p:attrNameLst>
                                      </p:cBhvr>
                                      <p:tavLst>
                                        <p:tav tm="0">
                                          <p:val>
                                            <p:strVal val="0"/>
                                          </p:val>
                                        </p:tav>
                                        <p:tav tm="100000">
                                          <p:val>
                                            <p:strVal val="#ppt_h"/>
                                          </p:val>
                                        </p:tav>
                                      </p:tavLst>
                                    </p:anim>
                                  </p:childTnLst>
                                </p:cTn>
                              </p:par>
                            </p:childTnLst>
                          </p:cTn>
                        </p:par>
                        <p:par>
                          <p:cTn id="29" fill="hold">
                            <p:stCondLst>
                              <p:cond delay="2500"/>
                            </p:stCondLst>
                            <p:childTnLst>
                              <p:par>
                                <p:cTn id="30" presetID="23" presetClass="entr" presetSubtype="16" fill="hold" nodeType="afterEffect">
                                  <p:stCondLst>
                                    <p:cond delay="0"/>
                                  </p:stCondLst>
                                  <p:childTnLst>
                                    <p:set>
                                      <p:cBhvr>
                                        <p:cTn id="31" dur="1" fill="hold">
                                          <p:stCondLst>
                                            <p:cond delay="0"/>
                                          </p:stCondLst>
                                        </p:cTn>
                                        <p:tgtEl>
                                          <p:spTgt spid="106"/>
                                        </p:tgtEl>
                                        <p:attrNameLst>
                                          <p:attrName>style.visibility</p:attrName>
                                        </p:attrNameLst>
                                      </p:cBhvr>
                                      <p:to>
                                        <p:strVal val="visible"/>
                                      </p:to>
                                    </p:set>
                                    <p:anim calcmode="lin" valueType="num">
                                      <p:cBhvr additive="base">
                                        <p:cTn id="32" dur="500"/>
                                        <p:tgtEl>
                                          <p:spTgt spid="106"/>
                                        </p:tgtEl>
                                        <p:attrNameLst>
                                          <p:attrName>ppt_w</p:attrName>
                                        </p:attrNameLst>
                                      </p:cBhvr>
                                      <p:tavLst>
                                        <p:tav tm="0">
                                          <p:val>
                                            <p:strVal val="0"/>
                                          </p:val>
                                        </p:tav>
                                        <p:tav tm="100000">
                                          <p:val>
                                            <p:strVal val="#ppt_w"/>
                                          </p:val>
                                        </p:tav>
                                      </p:tavLst>
                                    </p:anim>
                                    <p:anim calcmode="lin" valueType="num">
                                      <p:cBhvr additive="base">
                                        <p:cTn id="33" dur="500"/>
                                        <p:tgtEl>
                                          <p:spTgt spid="106"/>
                                        </p:tgtEl>
                                        <p:attrNameLst>
                                          <p:attrName>ppt_h</p:attrName>
                                        </p:attrNameLst>
                                      </p:cBhvr>
                                      <p:tavLst>
                                        <p:tav tm="0">
                                          <p:val>
                                            <p:strVal val="0"/>
                                          </p:val>
                                        </p:tav>
                                        <p:tav tm="100000">
                                          <p:val>
                                            <p:strVal val="#ppt_h"/>
                                          </p:val>
                                        </p:tav>
                                      </p:tavLst>
                                    </p:anim>
                                  </p:childTnLst>
                                </p:cTn>
                              </p:par>
                            </p:childTnLst>
                          </p:cTn>
                        </p:par>
                        <p:par>
                          <p:cTn id="34" fill="hold">
                            <p:stCondLst>
                              <p:cond delay="3000"/>
                            </p:stCondLst>
                            <p:childTnLst>
                              <p:par>
                                <p:cTn id="35" presetID="23" presetClass="entr" presetSubtype="16" fill="hold" nodeType="afterEffect">
                                  <p:stCondLst>
                                    <p:cond delay="0"/>
                                  </p:stCondLst>
                                  <p:childTnLst>
                                    <p:set>
                                      <p:cBhvr>
                                        <p:cTn id="36" dur="1" fill="hold">
                                          <p:stCondLst>
                                            <p:cond delay="0"/>
                                          </p:stCondLst>
                                        </p:cTn>
                                        <p:tgtEl>
                                          <p:spTgt spid="110"/>
                                        </p:tgtEl>
                                        <p:attrNameLst>
                                          <p:attrName>style.visibility</p:attrName>
                                        </p:attrNameLst>
                                      </p:cBhvr>
                                      <p:to>
                                        <p:strVal val="visible"/>
                                      </p:to>
                                    </p:set>
                                    <p:anim calcmode="lin" valueType="num">
                                      <p:cBhvr additive="base">
                                        <p:cTn id="37" dur="500"/>
                                        <p:tgtEl>
                                          <p:spTgt spid="110"/>
                                        </p:tgtEl>
                                        <p:attrNameLst>
                                          <p:attrName>ppt_w</p:attrName>
                                        </p:attrNameLst>
                                      </p:cBhvr>
                                      <p:tavLst>
                                        <p:tav tm="0">
                                          <p:val>
                                            <p:strVal val="0"/>
                                          </p:val>
                                        </p:tav>
                                        <p:tav tm="100000">
                                          <p:val>
                                            <p:strVal val="#ppt_w"/>
                                          </p:val>
                                        </p:tav>
                                      </p:tavLst>
                                    </p:anim>
                                    <p:anim calcmode="lin" valueType="num">
                                      <p:cBhvr additive="base">
                                        <p:cTn id="38" dur="500"/>
                                        <p:tgtEl>
                                          <p:spTgt spid="110"/>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7"/>
          <p:cNvSpPr txBox="1">
            <a:spLocks noGrp="1"/>
          </p:cNvSpPr>
          <p:nvPr>
            <p:ph type="title"/>
          </p:nvPr>
        </p:nvSpPr>
        <p:spPr>
          <a:xfrm>
            <a:off x="1303020" y="-152400"/>
            <a:ext cx="829818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Schema diagram</a:t>
            </a:r>
            <a:endParaRPr/>
          </a:p>
        </p:txBody>
      </p:sp>
      <p:pic>
        <p:nvPicPr>
          <p:cNvPr id="118" name="Google Shape;118;p7" descr="C:\mysql\case study\ClassicModels\docs\dbschema\ClassicModelsDBSchema.jpg"/>
          <p:cNvPicPr preferRelativeResize="0"/>
          <p:nvPr/>
        </p:nvPicPr>
        <p:blipFill rotWithShape="1">
          <a:blip r:embed="rId3">
            <a:alphaModFix/>
          </a:blip>
          <a:srcRect l="1240" t="1358" r="1175" b="22555"/>
          <a:stretch/>
        </p:blipFill>
        <p:spPr>
          <a:xfrm>
            <a:off x="270393" y="1263519"/>
            <a:ext cx="8696326" cy="4800599"/>
          </a:xfrm>
          <a:prstGeom prst="rect">
            <a:avLst/>
          </a:prstGeom>
          <a:noFill/>
          <a:ln>
            <a:noFill/>
          </a:ln>
        </p:spPr>
      </p:pic>
      <p:sp>
        <p:nvSpPr>
          <p:cNvPr id="119" name="Google Shape;119;p7"/>
          <p:cNvSpPr txBox="1">
            <a:spLocks noGrp="1"/>
          </p:cNvSpPr>
          <p:nvPr>
            <p:ph type="sldNum" idx="12"/>
          </p:nvPr>
        </p:nvSpPr>
        <p:spPr>
          <a:xfrm>
            <a:off x="138752" y="6414139"/>
            <a:ext cx="457200" cy="277813"/>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fld id="{00000000-1234-1234-1234-123412341234}" type="slidenum">
              <a:rPr lang="en-US"/>
              <a:t>7</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8"/>
          <p:cNvSpPr txBox="1">
            <a:spLocks noGrp="1"/>
          </p:cNvSpPr>
          <p:nvPr>
            <p:ph type="body" idx="1"/>
          </p:nvPr>
        </p:nvSpPr>
        <p:spPr>
          <a:xfrm>
            <a:off x="228600" y="1152525"/>
            <a:ext cx="8686800" cy="49466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rgbClr val="92D050"/>
              </a:buClr>
              <a:buSzPts val="4000"/>
              <a:buNone/>
            </a:pPr>
            <a:r>
              <a:rPr lang="en-US" sz="4000">
                <a:solidFill>
                  <a:srgbClr val="92D050"/>
                </a:solidFill>
              </a:rPr>
              <a:t>	</a:t>
            </a:r>
            <a:r>
              <a:rPr lang="en-US" sz="4000"/>
              <a:t>	 </a:t>
            </a:r>
            <a:endParaRPr/>
          </a:p>
          <a:p>
            <a:pPr marL="0" lvl="0" indent="0" algn="l" rtl="0">
              <a:spcBef>
                <a:spcPts val="360"/>
              </a:spcBef>
              <a:spcAft>
                <a:spcPts val="0"/>
              </a:spcAft>
              <a:buClr>
                <a:schemeClr val="dk1"/>
              </a:buClr>
              <a:buSzPts val="1800"/>
              <a:buNone/>
            </a:pPr>
            <a:endParaRPr sz="1800"/>
          </a:p>
          <a:p>
            <a:pPr marL="0" lvl="0" indent="0" algn="l" rtl="0">
              <a:spcBef>
                <a:spcPts val="360"/>
              </a:spcBef>
              <a:spcAft>
                <a:spcPts val="0"/>
              </a:spcAft>
              <a:buClr>
                <a:schemeClr val="dk1"/>
              </a:buClr>
              <a:buSzPts val="1800"/>
              <a:buNone/>
            </a:pPr>
            <a:endParaRPr sz="1800"/>
          </a:p>
          <a:p>
            <a:pPr marL="0" lvl="0" indent="0" algn="l" rtl="0">
              <a:spcBef>
                <a:spcPts val="360"/>
              </a:spcBef>
              <a:spcAft>
                <a:spcPts val="0"/>
              </a:spcAft>
              <a:buClr>
                <a:schemeClr val="dk1"/>
              </a:buClr>
              <a:buSzPts val="1800"/>
              <a:buNone/>
            </a:pPr>
            <a:endParaRPr sz="1800"/>
          </a:p>
          <a:p>
            <a:pPr marL="0" lvl="0" indent="0" algn="l" rtl="0">
              <a:spcBef>
                <a:spcPts val="360"/>
              </a:spcBef>
              <a:spcAft>
                <a:spcPts val="0"/>
              </a:spcAft>
              <a:buClr>
                <a:schemeClr val="dk1"/>
              </a:buClr>
              <a:buSzPts val="1800"/>
              <a:buNone/>
            </a:pPr>
            <a:endParaRPr sz="1800"/>
          </a:p>
          <a:p>
            <a:pPr marL="0" lvl="0" indent="0" algn="l" rtl="0">
              <a:spcBef>
                <a:spcPts val="400"/>
              </a:spcBef>
              <a:spcAft>
                <a:spcPts val="0"/>
              </a:spcAft>
              <a:buClr>
                <a:schemeClr val="dk1"/>
              </a:buClr>
              <a:buSzPts val="2000"/>
              <a:buNone/>
            </a:pPr>
            <a:endParaRPr sz="2000"/>
          </a:p>
          <a:p>
            <a:pPr marL="0" lvl="0" indent="0" algn="l" rtl="0">
              <a:spcBef>
                <a:spcPts val="400"/>
              </a:spcBef>
              <a:spcAft>
                <a:spcPts val="0"/>
              </a:spcAft>
              <a:buClr>
                <a:schemeClr val="dk1"/>
              </a:buClr>
              <a:buSzPts val="2000"/>
              <a:buNone/>
            </a:pPr>
            <a:endParaRPr sz="2000"/>
          </a:p>
        </p:txBody>
      </p:sp>
      <p:sp>
        <p:nvSpPr>
          <p:cNvPr id="126" name="Google Shape;126;p8"/>
          <p:cNvSpPr/>
          <p:nvPr/>
        </p:nvSpPr>
        <p:spPr>
          <a:xfrm>
            <a:off x="457200" y="5029200"/>
            <a:ext cx="8229600" cy="520505"/>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1800" b="0" i="0" u="none" strike="noStrike" cap="none">
                <a:solidFill>
                  <a:schemeClr val="dk1"/>
                </a:solidFill>
                <a:latin typeface="Calibri"/>
                <a:ea typeface="Calibri"/>
                <a:cs typeface="Calibri"/>
                <a:sym typeface="Calibri"/>
              </a:rPr>
              <a:t>Lets learn about aggregate functions which will help us meet TIM’s requirements..</a:t>
            </a:r>
            <a:endParaRPr/>
          </a:p>
        </p:txBody>
      </p:sp>
      <p:sp>
        <p:nvSpPr>
          <p:cNvPr id="127" name="Google Shape;127;p8"/>
          <p:cNvSpPr txBox="1">
            <a:spLocks noGrp="1"/>
          </p:cNvSpPr>
          <p:nvPr>
            <p:ph type="title"/>
          </p:nvPr>
        </p:nvSpPr>
        <p:spPr>
          <a:xfrm>
            <a:off x="1303020" y="-228600"/>
            <a:ext cx="829818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Scenario</a:t>
            </a:r>
            <a:endParaRPr/>
          </a:p>
        </p:txBody>
      </p:sp>
      <p:pic>
        <p:nvPicPr>
          <p:cNvPr id="128" name="Google Shape;128;p8" descr="http://t2.gstatic.com/images?q=tbn:ANd9GcTL1mkdoyuwr_kQ_JSoRzK49ZhvsNdgTBkXnCBFnKi-LZ3XUlKd&amp;t=1"/>
          <p:cNvPicPr preferRelativeResize="0"/>
          <p:nvPr/>
        </p:nvPicPr>
        <p:blipFill rotWithShape="1">
          <a:blip r:embed="rId3">
            <a:alphaModFix/>
          </a:blip>
          <a:srcRect/>
          <a:stretch/>
        </p:blipFill>
        <p:spPr>
          <a:xfrm>
            <a:off x="2133600" y="2971800"/>
            <a:ext cx="716508" cy="1524000"/>
          </a:xfrm>
          <a:prstGeom prst="roundRect">
            <a:avLst>
              <a:gd name="adj" fmla="val 8594"/>
            </a:avLst>
          </a:prstGeom>
          <a:solidFill>
            <a:srgbClr val="ECECEC"/>
          </a:solidFill>
          <a:ln>
            <a:noFill/>
          </a:ln>
          <a:effectLst>
            <a:reflection stA="38000" endPos="28000" dist="5000" dir="5400000" sy="-100000" algn="bl" rotWithShape="0"/>
          </a:effectLst>
        </p:spPr>
      </p:pic>
      <p:sp>
        <p:nvSpPr>
          <p:cNvPr id="129" name="Google Shape;129;p8"/>
          <p:cNvSpPr/>
          <p:nvPr/>
        </p:nvSpPr>
        <p:spPr>
          <a:xfrm>
            <a:off x="2850108" y="1057701"/>
            <a:ext cx="4922292" cy="2362200"/>
          </a:xfrm>
          <a:prstGeom prst="wedgeEllipseCallout">
            <a:avLst>
              <a:gd name="adj1" fmla="val -53321"/>
              <a:gd name="adj2" fmla="val 60557"/>
            </a:avLst>
          </a:prstGeom>
          <a:solidFill>
            <a:srgbClr val="EAF1DD"/>
          </a:solidFill>
          <a:ln w="9525"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rgbClr val="00B0F0"/>
                </a:solidFill>
                <a:latin typeface="Calibri"/>
                <a:ea typeface="Calibri"/>
                <a:cs typeface="Calibri"/>
                <a:sym typeface="Calibri"/>
              </a:rPr>
              <a:t>Hi!</a:t>
            </a:r>
            <a:r>
              <a:rPr lang="en-US" sz="1600">
                <a:solidFill>
                  <a:srgbClr val="494429"/>
                </a:solidFill>
                <a:latin typeface="Calibri"/>
                <a:ea typeface="Calibri"/>
                <a:cs typeface="Calibri"/>
                <a:sym typeface="Calibri"/>
              </a:rPr>
              <a:t/>
            </a:r>
            <a:br>
              <a:rPr lang="en-US" sz="1600">
                <a:solidFill>
                  <a:srgbClr val="494429"/>
                </a:solidFill>
                <a:latin typeface="Calibri"/>
                <a:ea typeface="Calibri"/>
                <a:cs typeface="Calibri"/>
                <a:sym typeface="Calibri"/>
              </a:rPr>
            </a:br>
            <a:r>
              <a:rPr lang="en-US" sz="1600">
                <a:solidFill>
                  <a:srgbClr val="494429"/>
                </a:solidFill>
                <a:latin typeface="Calibri"/>
                <a:ea typeface="Calibri"/>
                <a:cs typeface="Calibri"/>
                <a:sym typeface="Calibri"/>
              </a:rPr>
              <a:t>Good that the requirements like adding two columns are implemented using operators, remaining requirements like finding the maximum amount paid by the customers should be implemented.</a:t>
            </a:r>
            <a:endParaRPr sz="1600">
              <a:solidFill>
                <a:srgbClr val="494429"/>
              </a:solidFill>
              <a:latin typeface="Calibri"/>
              <a:ea typeface="Calibri"/>
              <a:cs typeface="Calibri"/>
              <a:sym typeface="Calibri"/>
            </a:endParaRPr>
          </a:p>
        </p:txBody>
      </p:sp>
      <p:sp>
        <p:nvSpPr>
          <p:cNvPr id="130" name="Google Shape;130;p8"/>
          <p:cNvSpPr txBox="1">
            <a:spLocks noGrp="1"/>
          </p:cNvSpPr>
          <p:nvPr>
            <p:ph type="sldNum" idx="12"/>
          </p:nvPr>
        </p:nvSpPr>
        <p:spPr>
          <a:xfrm>
            <a:off x="138752" y="6414139"/>
            <a:ext cx="457200" cy="277813"/>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fld id="{00000000-1234-1234-1234-123412341234}" type="slidenum">
              <a:rPr lang="en-US"/>
              <a:t>8</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28"/>
                                        </p:tgtEl>
                                        <p:attrNameLst>
                                          <p:attrName>style.visibility</p:attrName>
                                        </p:attrNameLst>
                                      </p:cBhvr>
                                      <p:to>
                                        <p:strVal val="visible"/>
                                      </p:to>
                                    </p:set>
                                    <p:animEffect transition="in" filter="fade">
                                      <p:cBhvr>
                                        <p:cTn id="7" dur="500"/>
                                        <p:tgtEl>
                                          <p:spTgt spid="128"/>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129"/>
                                        </p:tgtEl>
                                        <p:attrNameLst>
                                          <p:attrName>style.visibility</p:attrName>
                                        </p:attrNameLst>
                                      </p:cBhvr>
                                      <p:to>
                                        <p:strVal val="visible"/>
                                      </p:to>
                                    </p:set>
                                    <p:animEffect transition="in" filter="fade">
                                      <p:cBhvr>
                                        <p:cTn id="11" dur="1000"/>
                                        <p:tgtEl>
                                          <p:spTgt spid="1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9"/>
          <p:cNvSpPr txBox="1">
            <a:spLocks noGrp="1"/>
          </p:cNvSpPr>
          <p:nvPr>
            <p:ph type="title"/>
          </p:nvPr>
        </p:nvSpPr>
        <p:spPr>
          <a:xfrm>
            <a:off x="1303020" y="-152400"/>
            <a:ext cx="829818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Do you Know</a:t>
            </a:r>
            <a:endParaRPr/>
          </a:p>
        </p:txBody>
      </p:sp>
      <p:pic>
        <p:nvPicPr>
          <p:cNvPr id="136" name="Google Shape;136;p9"/>
          <p:cNvPicPr preferRelativeResize="0"/>
          <p:nvPr/>
        </p:nvPicPr>
        <p:blipFill rotWithShape="1">
          <a:blip r:embed="rId3">
            <a:alphaModFix/>
          </a:blip>
          <a:srcRect/>
          <a:stretch/>
        </p:blipFill>
        <p:spPr>
          <a:xfrm>
            <a:off x="1529862" y="2369958"/>
            <a:ext cx="6096000" cy="2095500"/>
          </a:xfrm>
          <a:prstGeom prst="rect">
            <a:avLst/>
          </a:prstGeom>
          <a:noFill/>
          <a:ln>
            <a:noFill/>
          </a:ln>
        </p:spPr>
      </p:pic>
      <p:sp>
        <p:nvSpPr>
          <p:cNvPr id="137" name="Google Shape;137;p9"/>
          <p:cNvSpPr txBox="1">
            <a:spLocks noGrp="1"/>
          </p:cNvSpPr>
          <p:nvPr>
            <p:ph type="body" idx="1"/>
          </p:nvPr>
        </p:nvSpPr>
        <p:spPr>
          <a:xfrm>
            <a:off x="1529862" y="2445395"/>
            <a:ext cx="4191000" cy="167134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2600"/>
              <a:buNone/>
            </a:pPr>
            <a:r>
              <a:rPr lang="en-US"/>
              <a:t>		</a:t>
            </a:r>
            <a:endParaRPr/>
          </a:p>
          <a:p>
            <a:pPr marL="0" lvl="0" indent="0" algn="l" rtl="0">
              <a:spcBef>
                <a:spcPts val="0"/>
              </a:spcBef>
              <a:spcAft>
                <a:spcPts val="0"/>
              </a:spcAft>
              <a:buClr>
                <a:schemeClr val="dk1"/>
              </a:buClr>
              <a:buSzPts val="2400"/>
              <a:buNone/>
            </a:pPr>
            <a:r>
              <a:rPr lang="en-US" sz="2400"/>
              <a:t> What is Function?</a:t>
            </a:r>
            <a:endParaRPr sz="2400"/>
          </a:p>
        </p:txBody>
      </p:sp>
      <p:sp>
        <p:nvSpPr>
          <p:cNvPr id="138" name="Google Shape;138;p9"/>
          <p:cNvSpPr/>
          <p:nvPr/>
        </p:nvSpPr>
        <p:spPr>
          <a:xfrm>
            <a:off x="7625862" y="2819400"/>
            <a:ext cx="1060938" cy="92333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5400" b="1" cap="none">
                <a:solidFill>
                  <a:schemeClr val="accent3"/>
                </a:solidFill>
                <a:latin typeface="Calibri"/>
                <a:ea typeface="Calibri"/>
                <a:cs typeface="Calibri"/>
                <a:sym typeface="Calibri"/>
              </a:rPr>
              <a:t>?</a:t>
            </a:r>
            <a:endParaRPr sz="5400" b="1" cap="none">
              <a:solidFill>
                <a:schemeClr val="accent3"/>
              </a:solidFill>
              <a:latin typeface="Calibri"/>
              <a:ea typeface="Calibri"/>
              <a:cs typeface="Calibri"/>
              <a:sym typeface="Calibri"/>
            </a:endParaRPr>
          </a:p>
        </p:txBody>
      </p:sp>
      <p:sp>
        <p:nvSpPr>
          <p:cNvPr id="139" name="Google Shape;139;p9"/>
          <p:cNvSpPr txBox="1">
            <a:spLocks noGrp="1"/>
          </p:cNvSpPr>
          <p:nvPr>
            <p:ph type="sldNum" idx="12"/>
          </p:nvPr>
        </p:nvSpPr>
        <p:spPr>
          <a:xfrm>
            <a:off x="138752" y="6414139"/>
            <a:ext cx="457200" cy="277813"/>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fld id="{00000000-1234-1234-1234-123412341234}" type="slidenum">
              <a:rPr lang="en-US"/>
              <a:t>9</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36"/>
                                        </p:tgtEl>
                                        <p:attrNameLst>
                                          <p:attrName>style.visibility</p:attrName>
                                        </p:attrNameLst>
                                      </p:cBhvr>
                                      <p:to>
                                        <p:strVal val="visible"/>
                                      </p:to>
                                    </p:set>
                                    <p:animEffect transition="in" filter="fade">
                                      <p:cBhvr>
                                        <p:cTn id="7" dur="500"/>
                                        <p:tgtEl>
                                          <p:spTgt spid="136"/>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138"/>
                                        </p:tgtEl>
                                        <p:attrNameLst>
                                          <p:attrName>style.visibility</p:attrName>
                                        </p:attrNameLst>
                                      </p:cBhvr>
                                      <p:to>
                                        <p:strVal val="visible"/>
                                      </p:to>
                                    </p:set>
                                    <p:animEffect transition="in" filter="fade">
                                      <p:cBhvr>
                                        <p:cTn id="11" dur="500"/>
                                        <p:tgtEl>
                                          <p:spTgt spid="1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Shape 144"/>
        <p:cNvGrpSpPr/>
        <p:nvPr/>
      </p:nvGrpSpPr>
      <p:grpSpPr>
        <a:xfrm>
          <a:off x="0" y="0"/>
          <a:ext cx="0" cy="0"/>
          <a:chOff x="0" y="0"/>
          <a:chExt cx="0" cy="0"/>
        </a:xfrm>
      </p:grpSpPr>
      <p:sp>
        <p:nvSpPr>
          <p:cNvPr id="145" name="Google Shape;145;p10"/>
          <p:cNvSpPr txBox="1">
            <a:spLocks noGrp="1"/>
          </p:cNvSpPr>
          <p:nvPr>
            <p:ph type="title"/>
          </p:nvPr>
        </p:nvSpPr>
        <p:spPr>
          <a:xfrm>
            <a:off x="1303020" y="-152400"/>
            <a:ext cx="8298180" cy="1143000"/>
          </a:xfrm>
          <a:prstGeom prst="rect">
            <a:avLst/>
          </a:prstGeom>
          <a:noFill/>
          <a:ln>
            <a:noFill/>
          </a:ln>
        </p:spPr>
        <p:txBody>
          <a:bodyPr spcFirstLastPara="1" wrap="square" lIns="91425" tIns="45700" rIns="91425" bIns="45700" anchor="ctr" anchorCtr="0">
            <a:noAutofit/>
          </a:bodyPr>
          <a:lstStyle/>
          <a:p>
            <a:pPr marL="0" lvl="1" indent="0" algn="l" rtl="0">
              <a:spcBef>
                <a:spcPts val="0"/>
              </a:spcBef>
              <a:spcAft>
                <a:spcPts val="0"/>
              </a:spcAft>
              <a:buNone/>
            </a:pPr>
            <a:r>
              <a:rPr lang="en-US" sz="3200">
                <a:latin typeface="Verdana"/>
                <a:ea typeface="Verdana"/>
                <a:cs typeface="Verdana"/>
                <a:sym typeface="Verdana"/>
              </a:rPr>
              <a:t>What are Functions?</a:t>
            </a:r>
            <a:endParaRPr/>
          </a:p>
        </p:txBody>
      </p:sp>
      <p:sp>
        <p:nvSpPr>
          <p:cNvPr id="146" name="Google Shape;146;p10"/>
          <p:cNvSpPr txBox="1"/>
          <p:nvPr/>
        </p:nvSpPr>
        <p:spPr>
          <a:xfrm>
            <a:off x="381000" y="1219200"/>
            <a:ext cx="8686800" cy="3637919"/>
          </a:xfrm>
          <a:prstGeom prst="rect">
            <a:avLst/>
          </a:prstGeom>
          <a:noFill/>
          <a:ln>
            <a:noFill/>
          </a:ln>
        </p:spPr>
        <p:txBody>
          <a:bodyPr spcFirstLastPara="1" wrap="square" lIns="91425" tIns="45700" rIns="91425" bIns="45700" anchor="t" anchorCtr="0">
            <a:spAutoFit/>
          </a:bodyPr>
          <a:lstStyle/>
          <a:p>
            <a:pPr marL="115888" marR="0" lvl="0" indent="-115888" algn="l" rtl="0">
              <a:lnSpc>
                <a:spcPct val="120000"/>
              </a:lnSpc>
              <a:spcBef>
                <a:spcPts val="0"/>
              </a:spcBef>
              <a:spcAft>
                <a:spcPts val="0"/>
              </a:spcAft>
              <a:buNone/>
            </a:pPr>
            <a:r>
              <a:rPr lang="en-US" sz="2400" b="1">
                <a:solidFill>
                  <a:schemeClr val="dk1"/>
                </a:solidFill>
                <a:latin typeface="Calibri"/>
                <a:ea typeface="Calibri"/>
                <a:cs typeface="Calibri"/>
                <a:sym typeface="Calibri"/>
              </a:rPr>
              <a:t>What are SQL Functions :</a:t>
            </a:r>
            <a:endParaRPr/>
          </a:p>
          <a:p>
            <a:pPr marL="0" marR="0" lvl="0" indent="0" algn="l" rtl="0">
              <a:lnSpc>
                <a:spcPct val="120000"/>
              </a:lnSpc>
              <a:spcBef>
                <a:spcPts val="0"/>
              </a:spcBef>
              <a:spcAft>
                <a:spcPts val="0"/>
              </a:spcAft>
              <a:buNone/>
            </a:pPr>
            <a:r>
              <a:rPr lang="en-US" sz="2400" b="0">
                <a:solidFill>
                  <a:schemeClr val="dk1"/>
                </a:solidFill>
                <a:latin typeface="Calibri"/>
                <a:ea typeface="Calibri"/>
                <a:cs typeface="Calibri"/>
                <a:sym typeface="Calibri"/>
              </a:rPr>
              <a:t>SQL functions are built in API’s which SQL provides for developers which can be used in SQL statements to perform specific logic/functionality. </a:t>
            </a:r>
            <a:endParaRPr/>
          </a:p>
          <a:p>
            <a:pPr marL="115888" marR="0" lvl="0" indent="-115888" algn="l" rtl="0">
              <a:lnSpc>
                <a:spcPct val="120000"/>
              </a:lnSpc>
              <a:spcBef>
                <a:spcPts val="0"/>
              </a:spcBef>
              <a:spcAft>
                <a:spcPts val="0"/>
              </a:spcAft>
              <a:buNone/>
            </a:pPr>
            <a:endParaRPr sz="2400" b="0">
              <a:solidFill>
                <a:schemeClr val="dk1"/>
              </a:solidFill>
              <a:latin typeface="Calibri"/>
              <a:ea typeface="Calibri"/>
              <a:cs typeface="Calibri"/>
              <a:sym typeface="Calibri"/>
            </a:endParaRPr>
          </a:p>
          <a:p>
            <a:pPr marL="115888" marR="0" lvl="0" indent="-115888" algn="l" rtl="0">
              <a:lnSpc>
                <a:spcPct val="120000"/>
              </a:lnSpc>
              <a:spcBef>
                <a:spcPts val="0"/>
              </a:spcBef>
              <a:spcAft>
                <a:spcPts val="0"/>
              </a:spcAft>
              <a:buNone/>
            </a:pPr>
            <a:r>
              <a:rPr lang="en-US" sz="2400" b="1">
                <a:solidFill>
                  <a:schemeClr val="dk1"/>
                </a:solidFill>
                <a:latin typeface="Calibri"/>
                <a:ea typeface="Calibri"/>
                <a:cs typeface="Calibri"/>
                <a:sym typeface="Calibri"/>
              </a:rPr>
              <a:t>Example: </a:t>
            </a:r>
            <a:endParaRPr/>
          </a:p>
          <a:p>
            <a:pPr marL="731520" marR="0" lvl="0" indent="-365760" algn="l" rtl="0">
              <a:lnSpc>
                <a:spcPct val="120000"/>
              </a:lnSpc>
              <a:spcBef>
                <a:spcPts val="0"/>
              </a:spcBef>
              <a:spcAft>
                <a:spcPts val="0"/>
              </a:spcAft>
              <a:buClr>
                <a:schemeClr val="dk1"/>
              </a:buClr>
              <a:buSzPts val="2200"/>
              <a:buFont typeface="Arial"/>
              <a:buChar char="•"/>
            </a:pPr>
            <a:r>
              <a:rPr lang="en-US" sz="2200" b="0">
                <a:solidFill>
                  <a:schemeClr val="dk1"/>
                </a:solidFill>
                <a:latin typeface="Calibri"/>
                <a:ea typeface="Calibri"/>
                <a:cs typeface="Calibri"/>
                <a:sym typeface="Calibri"/>
              </a:rPr>
              <a:t>Round the numbers.</a:t>
            </a:r>
            <a:endParaRPr/>
          </a:p>
          <a:p>
            <a:pPr marL="731520" marR="0" lvl="0" indent="-365760" algn="l" rtl="0">
              <a:lnSpc>
                <a:spcPct val="120000"/>
              </a:lnSpc>
              <a:spcBef>
                <a:spcPts val="0"/>
              </a:spcBef>
              <a:spcAft>
                <a:spcPts val="0"/>
              </a:spcAft>
              <a:buClr>
                <a:schemeClr val="dk1"/>
              </a:buClr>
              <a:buSzPts val="2200"/>
              <a:buFont typeface="Arial"/>
              <a:buChar char="•"/>
            </a:pPr>
            <a:r>
              <a:rPr lang="en-US" sz="2200" b="0">
                <a:solidFill>
                  <a:schemeClr val="dk1"/>
                </a:solidFill>
                <a:latin typeface="Calibri"/>
                <a:ea typeface="Calibri"/>
                <a:cs typeface="Calibri"/>
                <a:sym typeface="Calibri"/>
              </a:rPr>
              <a:t>Change the string to upper case.</a:t>
            </a:r>
            <a:endParaRPr sz="2200">
              <a:solidFill>
                <a:schemeClr val="dk1"/>
              </a:solidFill>
              <a:latin typeface="Calibri"/>
              <a:ea typeface="Calibri"/>
              <a:cs typeface="Calibri"/>
              <a:sym typeface="Calibri"/>
            </a:endParaRPr>
          </a:p>
        </p:txBody>
      </p:sp>
      <p:sp>
        <p:nvSpPr>
          <p:cNvPr id="147" name="Google Shape;147;p10"/>
          <p:cNvSpPr txBox="1">
            <a:spLocks noGrp="1"/>
          </p:cNvSpPr>
          <p:nvPr>
            <p:ph type="sldNum" idx="12"/>
          </p:nvPr>
        </p:nvSpPr>
        <p:spPr>
          <a:xfrm>
            <a:off x="138752" y="6414139"/>
            <a:ext cx="457200" cy="277813"/>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fld id="{00000000-1234-1234-1234-123412341234}" type="slidenum">
              <a:rPr lang="en-US"/>
              <a:t>10</a:t>
            </a:fld>
            <a:endParaRPr/>
          </a:p>
        </p:txBody>
      </p:sp>
      <p:pic>
        <p:nvPicPr>
          <p:cNvPr id="148" name="Google Shape;148;p10" descr="SQL FUNCTIONS graphing linear functions">
            <a:hlinkClick r:id="rId3"/>
          </p:cNvPr>
          <p:cNvPicPr preferRelativeResize="0"/>
          <p:nvPr/>
        </p:nvPicPr>
        <p:blipFill rotWithShape="1">
          <a:blip r:embed="rId4">
            <a:alphaModFix/>
          </a:blip>
          <a:srcRect/>
          <a:stretch/>
        </p:blipFill>
        <p:spPr>
          <a:xfrm>
            <a:off x="6019800" y="3055219"/>
            <a:ext cx="1943100" cy="291465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11"/>
          <p:cNvSpPr txBox="1">
            <a:spLocks noGrp="1"/>
          </p:cNvSpPr>
          <p:nvPr>
            <p:ph type="title"/>
          </p:nvPr>
        </p:nvSpPr>
        <p:spPr>
          <a:xfrm>
            <a:off x="1303020" y="-152400"/>
            <a:ext cx="829818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Classifying SQL Functions</a:t>
            </a:r>
            <a:endParaRPr/>
          </a:p>
        </p:txBody>
      </p:sp>
      <p:sp>
        <p:nvSpPr>
          <p:cNvPr id="155" name="Google Shape;155;p11"/>
          <p:cNvSpPr txBox="1">
            <a:spLocks noGrp="1"/>
          </p:cNvSpPr>
          <p:nvPr>
            <p:ph type="body" idx="1"/>
          </p:nvPr>
        </p:nvSpPr>
        <p:spPr>
          <a:xfrm>
            <a:off x="381000" y="1066800"/>
            <a:ext cx="8686800" cy="4946650"/>
          </a:xfrm>
          <a:prstGeom prst="rect">
            <a:avLst/>
          </a:prstGeom>
          <a:noFill/>
          <a:ln>
            <a:noFill/>
          </a:ln>
        </p:spPr>
        <p:txBody>
          <a:bodyPr spcFirstLastPara="1" wrap="square" lIns="91425" tIns="45700" rIns="91425" bIns="45700" anchor="t" anchorCtr="0">
            <a:noAutofit/>
          </a:bodyPr>
          <a:lstStyle/>
          <a:p>
            <a:pPr marL="0" lvl="0" indent="0" algn="l" rtl="0">
              <a:lnSpc>
                <a:spcPct val="120000"/>
              </a:lnSpc>
              <a:spcBef>
                <a:spcPts val="0"/>
              </a:spcBef>
              <a:spcAft>
                <a:spcPts val="0"/>
              </a:spcAft>
              <a:buClr>
                <a:schemeClr val="dk1"/>
              </a:buClr>
              <a:buSzPts val="2200"/>
              <a:buNone/>
            </a:pPr>
            <a:r>
              <a:rPr lang="en-US" sz="2200" b="1"/>
              <a:t>ANSI SQL Functions Classification </a:t>
            </a:r>
            <a:endParaRPr/>
          </a:p>
          <a:p>
            <a:pPr marL="731520" lvl="0" indent="-365760" algn="l" rtl="0">
              <a:lnSpc>
                <a:spcPct val="120000"/>
              </a:lnSpc>
              <a:spcBef>
                <a:spcPts val="0"/>
              </a:spcBef>
              <a:spcAft>
                <a:spcPts val="0"/>
              </a:spcAft>
              <a:buClr>
                <a:schemeClr val="dk1"/>
              </a:buClr>
              <a:buSzPts val="2000"/>
              <a:buChar char="•"/>
            </a:pPr>
            <a:r>
              <a:rPr lang="en-US" sz="2000"/>
              <a:t>The first level of classification hierarchy is </a:t>
            </a:r>
            <a:endParaRPr sz="2000"/>
          </a:p>
          <a:p>
            <a:pPr marL="1188720" lvl="1" indent="-365759" algn="l" rtl="0">
              <a:lnSpc>
                <a:spcPct val="120000"/>
              </a:lnSpc>
              <a:spcBef>
                <a:spcPts val="0"/>
              </a:spcBef>
              <a:spcAft>
                <a:spcPts val="0"/>
              </a:spcAft>
              <a:buClr>
                <a:schemeClr val="dk1"/>
              </a:buClr>
              <a:buSzPts val="1800"/>
              <a:buFont typeface="Arial"/>
              <a:buChar char="•"/>
            </a:pPr>
            <a:r>
              <a:rPr lang="en-US" sz="1800" b="1"/>
              <a:t>Deterministic</a:t>
            </a:r>
            <a:r>
              <a:rPr lang="en-US" sz="1800"/>
              <a:t> </a:t>
            </a:r>
            <a:r>
              <a:rPr lang="en-US" sz="1800" b="1"/>
              <a:t>functions</a:t>
            </a:r>
            <a:endParaRPr/>
          </a:p>
          <a:p>
            <a:pPr marL="1188720" lvl="1" indent="-365759" algn="l" rtl="0">
              <a:lnSpc>
                <a:spcPct val="120000"/>
              </a:lnSpc>
              <a:spcBef>
                <a:spcPts val="0"/>
              </a:spcBef>
              <a:spcAft>
                <a:spcPts val="0"/>
              </a:spcAft>
              <a:buClr>
                <a:schemeClr val="dk1"/>
              </a:buClr>
              <a:buSzPts val="1800"/>
              <a:buFont typeface="Arial"/>
              <a:buChar char="•"/>
            </a:pPr>
            <a:r>
              <a:rPr lang="en-US" sz="1800" b="1"/>
              <a:t>Non-Deterministic functions</a:t>
            </a:r>
            <a:endParaRPr/>
          </a:p>
          <a:p>
            <a:pPr marL="731520" lvl="0" indent="-365760" algn="l" rtl="0">
              <a:lnSpc>
                <a:spcPct val="120000"/>
              </a:lnSpc>
              <a:spcBef>
                <a:spcPts val="0"/>
              </a:spcBef>
              <a:spcAft>
                <a:spcPts val="0"/>
              </a:spcAft>
              <a:buClr>
                <a:schemeClr val="dk1"/>
              </a:buClr>
              <a:buSzPts val="2000"/>
              <a:buChar char="•"/>
            </a:pPr>
            <a:r>
              <a:rPr lang="en-US" sz="2000"/>
              <a:t>There are no ironclad rules for recognizing a SQL routine as either deterministic or non-deterministic. </a:t>
            </a:r>
            <a:endParaRPr sz="2000"/>
          </a:p>
          <a:p>
            <a:pPr marL="731520" lvl="0" indent="-365760" algn="l" rtl="0">
              <a:lnSpc>
                <a:spcPct val="120000"/>
              </a:lnSpc>
              <a:spcBef>
                <a:spcPts val="0"/>
              </a:spcBef>
              <a:spcAft>
                <a:spcPts val="0"/>
              </a:spcAft>
              <a:buClr>
                <a:schemeClr val="dk1"/>
              </a:buClr>
              <a:buSzPts val="2000"/>
              <a:buChar char="•"/>
            </a:pPr>
            <a:r>
              <a:rPr lang="en-US" sz="2000"/>
              <a:t>A Deterministic function</a:t>
            </a:r>
            <a:endParaRPr/>
          </a:p>
          <a:p>
            <a:pPr marL="1188720" lvl="1" indent="-365759" algn="l" rtl="0">
              <a:lnSpc>
                <a:spcPct val="120000"/>
              </a:lnSpc>
              <a:spcBef>
                <a:spcPts val="0"/>
              </a:spcBef>
              <a:spcAft>
                <a:spcPts val="0"/>
              </a:spcAft>
              <a:buClr>
                <a:schemeClr val="dk1"/>
              </a:buClr>
              <a:buSzPts val="1800"/>
              <a:buFont typeface="Arial"/>
              <a:buChar char="•"/>
            </a:pPr>
            <a:r>
              <a:rPr lang="en-US" sz="1800"/>
              <a:t>always returns the same results if given the same input values. </a:t>
            </a:r>
            <a:endParaRPr/>
          </a:p>
          <a:p>
            <a:pPr marL="731520" lvl="0" indent="-365760" algn="l" rtl="0">
              <a:lnSpc>
                <a:spcPct val="120000"/>
              </a:lnSpc>
              <a:spcBef>
                <a:spcPts val="0"/>
              </a:spcBef>
              <a:spcAft>
                <a:spcPts val="0"/>
              </a:spcAft>
              <a:buClr>
                <a:schemeClr val="dk1"/>
              </a:buClr>
              <a:buSzPts val="2000"/>
              <a:buChar char="•"/>
            </a:pPr>
            <a:r>
              <a:rPr lang="en-US" sz="2000"/>
              <a:t>A Nondeterministic function </a:t>
            </a:r>
            <a:endParaRPr/>
          </a:p>
          <a:p>
            <a:pPr marL="1188720" lvl="1" indent="-365759" algn="l" rtl="0">
              <a:lnSpc>
                <a:spcPct val="120000"/>
              </a:lnSpc>
              <a:spcBef>
                <a:spcPts val="0"/>
              </a:spcBef>
              <a:spcAft>
                <a:spcPts val="0"/>
              </a:spcAft>
              <a:buClr>
                <a:schemeClr val="dk1"/>
              </a:buClr>
              <a:buSzPts val="1800"/>
              <a:buFont typeface="Arial"/>
              <a:buChar char="•"/>
            </a:pPr>
            <a:r>
              <a:rPr lang="en-US" sz="1800"/>
              <a:t>returns different results every time it is called, even when the same input values are provided.</a:t>
            </a:r>
            <a:endParaRPr/>
          </a:p>
          <a:p>
            <a:pPr marL="731520" lvl="0" indent="-365760" algn="l" rtl="0">
              <a:lnSpc>
                <a:spcPct val="120000"/>
              </a:lnSpc>
              <a:spcBef>
                <a:spcPts val="0"/>
              </a:spcBef>
              <a:spcAft>
                <a:spcPts val="0"/>
              </a:spcAft>
              <a:buClr>
                <a:schemeClr val="dk1"/>
              </a:buClr>
              <a:buSzPts val="2000"/>
              <a:buChar char="•"/>
            </a:pPr>
            <a:r>
              <a:rPr lang="en-US" sz="2000"/>
              <a:t>An example of a deterministic function is the function LENGTH. When passed an argument of a string data type, it returns the length of the argument passed. Calling it with the same argument over and over again will yield exactly the same result.</a:t>
            </a:r>
            <a:endParaRPr/>
          </a:p>
          <a:p>
            <a:pPr marL="457200" lvl="1" indent="-365760" algn="l" rtl="0">
              <a:lnSpc>
                <a:spcPct val="120000"/>
              </a:lnSpc>
              <a:spcBef>
                <a:spcPts val="0"/>
              </a:spcBef>
              <a:spcAft>
                <a:spcPts val="0"/>
              </a:spcAft>
              <a:buClr>
                <a:schemeClr val="dk1"/>
              </a:buClr>
              <a:buSzPts val="2000"/>
              <a:buNone/>
            </a:pPr>
            <a:endParaRPr sz="2000"/>
          </a:p>
        </p:txBody>
      </p:sp>
      <p:sp>
        <p:nvSpPr>
          <p:cNvPr id="156" name="Google Shape;156;p11"/>
          <p:cNvSpPr/>
          <p:nvPr/>
        </p:nvSpPr>
        <p:spPr>
          <a:xfrm>
            <a:off x="6911414" y="1295400"/>
            <a:ext cx="1851586" cy="8382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86000"/>
              </a:lnSpc>
              <a:spcBef>
                <a:spcPts val="0"/>
              </a:spcBef>
              <a:spcAft>
                <a:spcPts val="0"/>
              </a:spcAft>
              <a:buNone/>
            </a:pPr>
            <a:endParaRPr sz="1600">
              <a:solidFill>
                <a:srgbClr val="3F3F3F"/>
              </a:solidFill>
              <a:latin typeface="Calibri"/>
              <a:ea typeface="Calibri"/>
              <a:cs typeface="Calibri"/>
              <a:sym typeface="Calibri"/>
            </a:endParaRPr>
          </a:p>
          <a:p>
            <a:pPr marL="0" marR="0" lvl="0" indent="0" algn="ctr" rtl="0">
              <a:lnSpc>
                <a:spcPct val="86000"/>
              </a:lnSpc>
              <a:spcBef>
                <a:spcPts val="0"/>
              </a:spcBef>
              <a:spcAft>
                <a:spcPts val="0"/>
              </a:spcAft>
              <a:buNone/>
            </a:pPr>
            <a:endParaRPr sz="1600" b="1">
              <a:solidFill>
                <a:srgbClr val="3F3F3F"/>
              </a:solidFill>
              <a:latin typeface="Calibri"/>
              <a:ea typeface="Calibri"/>
              <a:cs typeface="Calibri"/>
              <a:sym typeface="Calibri"/>
            </a:endParaRPr>
          </a:p>
          <a:p>
            <a:pPr marL="0" marR="0" lvl="0" indent="0" algn="ctr" rtl="0">
              <a:lnSpc>
                <a:spcPct val="86000"/>
              </a:lnSpc>
              <a:spcBef>
                <a:spcPts val="0"/>
              </a:spcBef>
              <a:spcAft>
                <a:spcPts val="0"/>
              </a:spcAft>
              <a:buNone/>
            </a:pPr>
            <a:endParaRPr sz="1600" b="1">
              <a:solidFill>
                <a:srgbClr val="3F3F3F"/>
              </a:solidFill>
              <a:latin typeface="Calibri"/>
              <a:ea typeface="Calibri"/>
              <a:cs typeface="Calibri"/>
              <a:sym typeface="Calibri"/>
            </a:endParaRPr>
          </a:p>
          <a:p>
            <a:pPr marL="0" marR="0" lvl="1" indent="0" algn="ctr" rtl="0">
              <a:lnSpc>
                <a:spcPct val="86000"/>
              </a:lnSpc>
              <a:spcBef>
                <a:spcPts val="0"/>
              </a:spcBef>
              <a:spcAft>
                <a:spcPts val="0"/>
              </a:spcAft>
              <a:buNone/>
            </a:pPr>
            <a:r>
              <a:rPr lang="en-US" sz="1600" b="0" i="0" u="none" strike="noStrike" cap="none">
                <a:solidFill>
                  <a:schemeClr val="dk1"/>
                </a:solidFill>
                <a:latin typeface="Calibri"/>
                <a:ea typeface="Calibri"/>
                <a:cs typeface="Calibri"/>
                <a:sym typeface="Calibri"/>
              </a:rPr>
              <a:t>   A function that</a:t>
            </a:r>
            <a:endParaRPr/>
          </a:p>
          <a:p>
            <a:pPr marL="0" marR="0" lvl="1" indent="0" algn="ctr" rtl="0">
              <a:lnSpc>
                <a:spcPct val="86000"/>
              </a:lnSpc>
              <a:spcBef>
                <a:spcPts val="0"/>
              </a:spcBef>
              <a:spcAft>
                <a:spcPts val="0"/>
              </a:spcAft>
              <a:buNone/>
            </a:pPr>
            <a:r>
              <a:rPr lang="en-US" sz="1600" b="0" i="0" u="none" strike="noStrike" cap="none">
                <a:solidFill>
                  <a:schemeClr val="dk1"/>
                </a:solidFill>
                <a:latin typeface="Calibri"/>
                <a:ea typeface="Calibri"/>
                <a:cs typeface="Calibri"/>
                <a:sym typeface="Calibri"/>
              </a:rPr>
              <a:t>takes no arguments</a:t>
            </a:r>
            <a:endParaRPr/>
          </a:p>
          <a:p>
            <a:pPr marL="0" marR="0" lvl="1" indent="0" algn="ctr" rtl="0">
              <a:lnSpc>
                <a:spcPct val="86000"/>
              </a:lnSpc>
              <a:spcBef>
                <a:spcPts val="0"/>
              </a:spcBef>
              <a:spcAft>
                <a:spcPts val="0"/>
              </a:spcAft>
              <a:buNone/>
            </a:pPr>
            <a:r>
              <a:rPr lang="en-US" sz="1600" b="0" i="0" u="none" strike="noStrike" cap="none">
                <a:solidFill>
                  <a:schemeClr val="dk1"/>
                </a:solidFill>
                <a:latin typeface="Calibri"/>
                <a:ea typeface="Calibri"/>
                <a:cs typeface="Calibri"/>
                <a:sym typeface="Calibri"/>
              </a:rPr>
              <a:t>is called </a:t>
            </a:r>
            <a:r>
              <a:rPr lang="en-US" sz="1600" b="1" i="0" u="none" strike="noStrike" cap="none">
                <a:solidFill>
                  <a:schemeClr val="dk1"/>
                </a:solidFill>
                <a:latin typeface="Calibri"/>
                <a:ea typeface="Calibri"/>
                <a:cs typeface="Calibri"/>
                <a:sym typeface="Calibri"/>
              </a:rPr>
              <a:t>Niladic.</a:t>
            </a:r>
            <a:endParaRPr sz="1600" b="1" i="0" u="none" strike="noStrike" cap="none">
              <a:solidFill>
                <a:srgbClr val="3F3F3F"/>
              </a:solidFill>
              <a:latin typeface="Calibri"/>
              <a:ea typeface="Calibri"/>
              <a:cs typeface="Calibri"/>
              <a:sym typeface="Calibri"/>
            </a:endParaRPr>
          </a:p>
          <a:p>
            <a:pPr marL="0" marR="0" lvl="0" indent="0" algn="ctr" rtl="0">
              <a:lnSpc>
                <a:spcPct val="86000"/>
              </a:lnSpc>
              <a:spcBef>
                <a:spcPts val="0"/>
              </a:spcBef>
              <a:spcAft>
                <a:spcPts val="0"/>
              </a:spcAft>
              <a:buNone/>
            </a:pPr>
            <a:endParaRPr sz="1600">
              <a:solidFill>
                <a:srgbClr val="3F3F3F"/>
              </a:solidFill>
              <a:latin typeface="Calibri"/>
              <a:ea typeface="Calibri"/>
              <a:cs typeface="Calibri"/>
              <a:sym typeface="Calibri"/>
            </a:endParaRPr>
          </a:p>
          <a:p>
            <a:pPr marL="0" marR="0" lvl="0" indent="0" algn="ctr" rtl="0">
              <a:lnSpc>
                <a:spcPct val="86000"/>
              </a:lnSpc>
              <a:spcBef>
                <a:spcPts val="0"/>
              </a:spcBef>
              <a:spcAft>
                <a:spcPts val="0"/>
              </a:spcAft>
              <a:buNone/>
            </a:pPr>
            <a:endParaRPr sz="1600">
              <a:solidFill>
                <a:srgbClr val="3F3F3F"/>
              </a:solidFill>
              <a:latin typeface="Calibri"/>
              <a:ea typeface="Calibri"/>
              <a:cs typeface="Calibri"/>
              <a:sym typeface="Calibri"/>
            </a:endParaRPr>
          </a:p>
          <a:p>
            <a:pPr marL="0" marR="0" lvl="0" indent="0" algn="ctr" rtl="0">
              <a:lnSpc>
                <a:spcPct val="86000"/>
              </a:lnSpc>
              <a:spcBef>
                <a:spcPts val="0"/>
              </a:spcBef>
              <a:spcAft>
                <a:spcPts val="0"/>
              </a:spcAft>
              <a:buNone/>
            </a:pPr>
            <a:endParaRPr sz="1600">
              <a:solidFill>
                <a:srgbClr val="3F3F3F"/>
              </a:solidFill>
              <a:latin typeface="Calibri"/>
              <a:ea typeface="Calibri"/>
              <a:cs typeface="Calibri"/>
              <a:sym typeface="Calibri"/>
            </a:endParaRPr>
          </a:p>
        </p:txBody>
      </p:sp>
      <p:pic>
        <p:nvPicPr>
          <p:cNvPr id="157" name="Google Shape;157;p11" descr="http://t2.gstatic.com/images?q=tbn:ANd9GcTfD2kqrLbbP4SCEky63amKn0MHHD2pb6asclslqC_5LJNYRepLwA"/>
          <p:cNvPicPr preferRelativeResize="0"/>
          <p:nvPr/>
        </p:nvPicPr>
        <p:blipFill rotWithShape="1">
          <a:blip r:embed="rId3">
            <a:alphaModFix/>
          </a:blip>
          <a:srcRect/>
          <a:stretch/>
        </p:blipFill>
        <p:spPr>
          <a:xfrm>
            <a:off x="5867400" y="1143000"/>
            <a:ext cx="958770" cy="1066800"/>
          </a:xfrm>
          <a:prstGeom prst="rect">
            <a:avLst/>
          </a:prstGeom>
          <a:noFill/>
          <a:ln>
            <a:noFill/>
          </a:ln>
        </p:spPr>
      </p:pic>
      <p:sp>
        <p:nvSpPr>
          <p:cNvPr id="158" name="Google Shape;158;p11"/>
          <p:cNvSpPr txBox="1">
            <a:spLocks noGrp="1"/>
          </p:cNvSpPr>
          <p:nvPr>
            <p:ph type="sldNum" idx="12"/>
          </p:nvPr>
        </p:nvSpPr>
        <p:spPr>
          <a:xfrm>
            <a:off x="138752" y="6414139"/>
            <a:ext cx="457200" cy="277813"/>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fld id="{00000000-1234-1234-1234-123412341234}" type="slidenum">
              <a:rPr lang="en-US"/>
              <a:t>11</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p12"/>
          <p:cNvSpPr txBox="1">
            <a:spLocks noGrp="1"/>
          </p:cNvSpPr>
          <p:nvPr>
            <p:ph type="title"/>
          </p:nvPr>
        </p:nvSpPr>
        <p:spPr>
          <a:xfrm>
            <a:off x="1303020" y="-152400"/>
            <a:ext cx="829818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z="2400"/>
              <a:t>Aggregate Functions and Scalar Functions</a:t>
            </a:r>
            <a:endParaRPr sz="2400"/>
          </a:p>
        </p:txBody>
      </p:sp>
      <p:sp>
        <p:nvSpPr>
          <p:cNvPr id="165" name="Google Shape;165;p12"/>
          <p:cNvSpPr txBox="1">
            <a:spLocks noGrp="1"/>
          </p:cNvSpPr>
          <p:nvPr>
            <p:ph type="body" idx="1"/>
          </p:nvPr>
        </p:nvSpPr>
        <p:spPr>
          <a:xfrm>
            <a:off x="595950" y="1179450"/>
            <a:ext cx="8686800" cy="4956300"/>
          </a:xfrm>
          <a:prstGeom prst="rect">
            <a:avLst/>
          </a:prstGeom>
          <a:noFill/>
          <a:ln>
            <a:noFill/>
          </a:ln>
        </p:spPr>
        <p:txBody>
          <a:bodyPr spcFirstLastPara="1" wrap="square" lIns="91425" tIns="45700" rIns="91425" bIns="45700" anchor="t" anchorCtr="0">
            <a:noAutofit/>
          </a:bodyPr>
          <a:lstStyle/>
          <a:p>
            <a:pPr marL="0" lvl="0" indent="0" algn="l" rtl="0">
              <a:lnSpc>
                <a:spcPct val="120000"/>
              </a:lnSpc>
              <a:spcBef>
                <a:spcPts val="0"/>
              </a:spcBef>
              <a:spcAft>
                <a:spcPts val="0"/>
              </a:spcAft>
              <a:buClr>
                <a:schemeClr val="dk1"/>
              </a:buClr>
              <a:buSzPts val="2400"/>
              <a:buNone/>
            </a:pPr>
            <a:r>
              <a:rPr lang="en-US" sz="2400" b="1"/>
              <a:t>ANSI SQL Functions Classification Cont..</a:t>
            </a:r>
            <a:endParaRPr/>
          </a:p>
          <a:p>
            <a:pPr marL="0" lvl="0" indent="0" algn="l" rtl="0">
              <a:lnSpc>
                <a:spcPct val="120000"/>
              </a:lnSpc>
              <a:spcBef>
                <a:spcPts val="0"/>
              </a:spcBef>
              <a:spcAft>
                <a:spcPts val="0"/>
              </a:spcAft>
              <a:buClr>
                <a:schemeClr val="dk1"/>
              </a:buClr>
              <a:buSzPts val="2400"/>
              <a:buNone/>
            </a:pPr>
            <a:r>
              <a:rPr lang="en-US" sz="2400"/>
              <a:t>The SQL has two basic types of functions: </a:t>
            </a:r>
            <a:endParaRPr sz="2400"/>
          </a:p>
          <a:p>
            <a:pPr marL="731520" lvl="3" indent="-365760" algn="l" rtl="0">
              <a:lnSpc>
                <a:spcPct val="120000"/>
              </a:lnSpc>
              <a:spcBef>
                <a:spcPts val="0"/>
              </a:spcBef>
              <a:spcAft>
                <a:spcPts val="0"/>
              </a:spcAft>
              <a:buClr>
                <a:schemeClr val="dk1"/>
              </a:buClr>
              <a:buSzPts val="2000"/>
              <a:buFont typeface="Arial"/>
              <a:buChar char="•"/>
            </a:pPr>
            <a:r>
              <a:rPr lang="en-US" sz="2000"/>
              <a:t>Aggregate Functions </a:t>
            </a:r>
            <a:endParaRPr/>
          </a:p>
          <a:p>
            <a:pPr marL="731520" lvl="3" indent="-365760" algn="l" rtl="0">
              <a:lnSpc>
                <a:spcPct val="120000"/>
              </a:lnSpc>
              <a:spcBef>
                <a:spcPts val="0"/>
              </a:spcBef>
              <a:spcAft>
                <a:spcPts val="0"/>
              </a:spcAft>
              <a:buClr>
                <a:schemeClr val="dk1"/>
              </a:buClr>
              <a:buSzPts val="2000"/>
              <a:buFont typeface="Arial"/>
              <a:buChar char="•"/>
            </a:pPr>
            <a:r>
              <a:rPr lang="en-US" sz="2000"/>
              <a:t>Scalar Functions.</a:t>
            </a:r>
            <a:endParaRPr sz="2000" b="1"/>
          </a:p>
          <a:p>
            <a:pPr marL="114300" lvl="0" indent="-114300" algn="l" rtl="0">
              <a:lnSpc>
                <a:spcPct val="120000"/>
              </a:lnSpc>
              <a:spcBef>
                <a:spcPts val="0"/>
              </a:spcBef>
              <a:spcAft>
                <a:spcPts val="0"/>
              </a:spcAft>
              <a:buClr>
                <a:schemeClr val="dk1"/>
              </a:buClr>
              <a:buSzPts val="2400"/>
              <a:buNone/>
            </a:pPr>
            <a:r>
              <a:rPr lang="en-US" sz="2400" b="1"/>
              <a:t>Aggregate functions</a:t>
            </a:r>
            <a:r>
              <a:rPr lang="en-US" sz="2400"/>
              <a:t> operate on sets of rows and returns one value per group.</a:t>
            </a:r>
            <a:endParaRPr/>
          </a:p>
          <a:p>
            <a:pPr marL="1371600" lvl="3" indent="-365760" algn="l" rtl="0">
              <a:lnSpc>
                <a:spcPct val="120000"/>
              </a:lnSpc>
              <a:spcBef>
                <a:spcPts val="0"/>
              </a:spcBef>
              <a:spcAft>
                <a:spcPts val="0"/>
              </a:spcAft>
              <a:buClr>
                <a:schemeClr val="dk1"/>
              </a:buClr>
              <a:buSzPts val="2400"/>
              <a:buNone/>
            </a:pPr>
            <a:endParaRPr sz="2400"/>
          </a:p>
        </p:txBody>
      </p:sp>
      <p:sp>
        <p:nvSpPr>
          <p:cNvPr id="166" name="Google Shape;166;p12"/>
          <p:cNvSpPr/>
          <p:nvPr/>
        </p:nvSpPr>
        <p:spPr>
          <a:xfrm>
            <a:off x="1981199" y="3429000"/>
            <a:ext cx="4962525" cy="4572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86000"/>
              </a:lnSpc>
              <a:spcBef>
                <a:spcPts val="0"/>
              </a:spcBef>
              <a:spcAft>
                <a:spcPts val="0"/>
              </a:spcAft>
              <a:buNone/>
            </a:pPr>
            <a:endParaRPr sz="1600">
              <a:solidFill>
                <a:srgbClr val="3F3F3F"/>
              </a:solidFill>
              <a:latin typeface="Calibri"/>
              <a:ea typeface="Calibri"/>
              <a:cs typeface="Calibri"/>
              <a:sym typeface="Calibri"/>
            </a:endParaRPr>
          </a:p>
          <a:p>
            <a:pPr marL="0" marR="0" lvl="0" indent="0" algn="l" rtl="0">
              <a:lnSpc>
                <a:spcPct val="86000"/>
              </a:lnSpc>
              <a:spcBef>
                <a:spcPts val="0"/>
              </a:spcBef>
              <a:spcAft>
                <a:spcPts val="0"/>
              </a:spcAft>
              <a:buNone/>
            </a:pPr>
            <a:endParaRPr sz="1600" b="1">
              <a:solidFill>
                <a:srgbClr val="3F3F3F"/>
              </a:solidFill>
              <a:latin typeface="Calibri"/>
              <a:ea typeface="Calibri"/>
              <a:cs typeface="Calibri"/>
              <a:sym typeface="Calibri"/>
            </a:endParaRPr>
          </a:p>
          <a:p>
            <a:pPr marL="0" marR="0" lvl="1" indent="0" algn="l" rtl="0">
              <a:lnSpc>
                <a:spcPct val="86000"/>
              </a:lnSpc>
              <a:spcBef>
                <a:spcPts val="0"/>
              </a:spcBef>
              <a:spcAft>
                <a:spcPts val="0"/>
              </a:spcAft>
              <a:buNone/>
            </a:pPr>
            <a:r>
              <a:rPr lang="en-US" sz="1600" b="0" i="0" u="none" strike="noStrike" cap="none">
                <a:solidFill>
                  <a:schemeClr val="dk1"/>
                </a:solidFill>
                <a:latin typeface="Calibri"/>
                <a:ea typeface="Calibri"/>
                <a:cs typeface="Calibri"/>
                <a:sym typeface="Calibri"/>
              </a:rPr>
              <a:t> </a:t>
            </a:r>
            <a:r>
              <a:rPr lang="en-US" sz="1600" b="1" i="0" u="none" strike="noStrike" cap="none">
                <a:solidFill>
                  <a:schemeClr val="dk1"/>
                </a:solidFill>
                <a:latin typeface="Calibri"/>
                <a:ea typeface="Calibri"/>
                <a:cs typeface="Calibri"/>
                <a:sym typeface="Calibri"/>
              </a:rPr>
              <a:t>aggregate_function_name ([</a:t>
            </a:r>
            <a:r>
              <a:rPr lang="en-US" sz="1600" b="1" i="0" u="none" strike="noStrike" cap="none">
                <a:solidFill>
                  <a:srgbClr val="0070C0"/>
                </a:solidFill>
                <a:latin typeface="Calibri"/>
                <a:ea typeface="Calibri"/>
                <a:cs typeface="Calibri"/>
                <a:sym typeface="Calibri"/>
              </a:rPr>
              <a:t>ALL</a:t>
            </a:r>
            <a:r>
              <a:rPr lang="en-US" sz="1600" b="1" i="0" u="none" strike="noStrike" cap="none">
                <a:solidFill>
                  <a:schemeClr val="dk1"/>
                </a:solidFill>
                <a:latin typeface="Calibri"/>
                <a:ea typeface="Calibri"/>
                <a:cs typeface="Calibri"/>
                <a:sym typeface="Calibri"/>
              </a:rPr>
              <a:t> | </a:t>
            </a:r>
            <a:r>
              <a:rPr lang="en-US" sz="1600" b="1" i="0" u="none" strike="noStrike" cap="none">
                <a:solidFill>
                  <a:srgbClr val="0070C0"/>
                </a:solidFill>
                <a:latin typeface="Calibri"/>
                <a:ea typeface="Calibri"/>
                <a:cs typeface="Calibri"/>
                <a:sym typeface="Calibri"/>
              </a:rPr>
              <a:t>DISTINCT</a:t>
            </a:r>
            <a:r>
              <a:rPr lang="en-US" sz="1600" b="1" i="0" u="none" strike="noStrike" cap="none">
                <a:solidFill>
                  <a:schemeClr val="dk1"/>
                </a:solidFill>
                <a:latin typeface="Calibri"/>
                <a:ea typeface="Calibri"/>
                <a:cs typeface="Calibri"/>
                <a:sym typeface="Calibri"/>
              </a:rPr>
              <a:t>] expression)</a:t>
            </a:r>
            <a:endParaRPr sz="1600" b="0" i="0" u="none" strike="noStrike" cap="none">
              <a:solidFill>
                <a:srgbClr val="3F3F3F"/>
              </a:solidFill>
              <a:latin typeface="Calibri"/>
              <a:ea typeface="Calibri"/>
              <a:cs typeface="Calibri"/>
              <a:sym typeface="Calibri"/>
            </a:endParaRPr>
          </a:p>
          <a:p>
            <a:pPr marL="0" marR="0" lvl="0" indent="0" algn="l" rtl="0">
              <a:lnSpc>
                <a:spcPct val="86000"/>
              </a:lnSpc>
              <a:spcBef>
                <a:spcPts val="0"/>
              </a:spcBef>
              <a:spcAft>
                <a:spcPts val="0"/>
              </a:spcAft>
              <a:buNone/>
            </a:pPr>
            <a:endParaRPr sz="1600">
              <a:solidFill>
                <a:srgbClr val="3F3F3F"/>
              </a:solidFill>
              <a:latin typeface="Calibri"/>
              <a:ea typeface="Calibri"/>
              <a:cs typeface="Calibri"/>
              <a:sym typeface="Calibri"/>
            </a:endParaRPr>
          </a:p>
          <a:p>
            <a:pPr marL="0" marR="0" lvl="0" indent="0" algn="l" rtl="0">
              <a:lnSpc>
                <a:spcPct val="86000"/>
              </a:lnSpc>
              <a:spcBef>
                <a:spcPts val="0"/>
              </a:spcBef>
              <a:spcAft>
                <a:spcPts val="0"/>
              </a:spcAft>
              <a:buNone/>
            </a:pPr>
            <a:endParaRPr sz="1600">
              <a:solidFill>
                <a:srgbClr val="3F3F3F"/>
              </a:solidFill>
              <a:latin typeface="Calibri"/>
              <a:ea typeface="Calibri"/>
              <a:cs typeface="Calibri"/>
              <a:sym typeface="Calibri"/>
            </a:endParaRPr>
          </a:p>
        </p:txBody>
      </p:sp>
      <p:graphicFrame>
        <p:nvGraphicFramePr>
          <p:cNvPr id="167" name="Google Shape;167;p12"/>
          <p:cNvGraphicFramePr/>
          <p:nvPr/>
        </p:nvGraphicFramePr>
        <p:xfrm>
          <a:off x="6072593" y="1179450"/>
          <a:ext cx="2812025" cy="3480435"/>
        </p:xfrm>
        <a:graphic>
          <a:graphicData uri="http://schemas.openxmlformats.org/drawingml/2006/table">
            <a:tbl>
              <a:tblPr firstRow="1" bandRow="1">
                <a:noFill/>
                <a:tableStyleId>{7FFFBDA3-1227-47A5-887F-83766C0D3143}</a:tableStyleId>
              </a:tblPr>
              <a:tblGrid>
                <a:gridCol w="773300"/>
                <a:gridCol w="2038725"/>
              </a:tblGrid>
              <a:tr h="221875">
                <a:tc>
                  <a:txBody>
                    <a:bodyPr/>
                    <a:lstStyle/>
                    <a:p>
                      <a:pPr marL="0" marR="0" lvl="0" indent="0" algn="l" rtl="0">
                        <a:spcBef>
                          <a:spcPts val="0"/>
                        </a:spcBef>
                        <a:spcAft>
                          <a:spcPts val="0"/>
                        </a:spcAft>
                        <a:buNone/>
                      </a:pPr>
                      <a:r>
                        <a:rPr lang="en-US" sz="1400" u="none" strike="noStrike" cap="none"/>
                        <a:t>Function </a:t>
                      </a:r>
                      <a:endParaRPr sz="1400" b="1" i="0" u="none" strike="noStrike" cap="none">
                        <a:solidFill>
                          <a:schemeClr val="lt1"/>
                        </a:solidFill>
                        <a:latin typeface="Calibri"/>
                        <a:ea typeface="Calibri"/>
                        <a:cs typeface="Calibri"/>
                        <a:sym typeface="Calibri"/>
                      </a:endParaRPr>
                    </a:p>
                  </a:txBody>
                  <a:tcPr marL="9525" marR="9525" marT="9525" marB="0" anchor="ctr"/>
                </a:tc>
                <a:tc>
                  <a:txBody>
                    <a:bodyPr/>
                    <a:lstStyle/>
                    <a:p>
                      <a:pPr marL="0" marR="0" lvl="0" indent="0" algn="l" rtl="0">
                        <a:spcBef>
                          <a:spcPts val="0"/>
                        </a:spcBef>
                        <a:spcAft>
                          <a:spcPts val="0"/>
                        </a:spcAft>
                        <a:buNone/>
                      </a:pPr>
                      <a:r>
                        <a:rPr lang="en-US" sz="1400" u="none" strike="noStrike" cap="none"/>
                        <a:t>Usage</a:t>
                      </a:r>
                      <a:endParaRPr sz="1400" b="1" i="0" u="none" strike="noStrike" cap="none">
                        <a:solidFill>
                          <a:schemeClr val="lt1"/>
                        </a:solidFill>
                        <a:latin typeface="Calibri"/>
                        <a:ea typeface="Calibri"/>
                        <a:cs typeface="Calibri"/>
                        <a:sym typeface="Calibri"/>
                      </a:endParaRPr>
                    </a:p>
                  </a:txBody>
                  <a:tcPr marL="9525" marR="9525" marT="9525" marB="0" anchor="ctr"/>
                </a:tc>
              </a:tr>
              <a:tr h="221875">
                <a:tc>
                  <a:txBody>
                    <a:bodyPr/>
                    <a:lstStyle/>
                    <a:p>
                      <a:pPr marL="0" marR="0" lvl="0" indent="0" algn="l" rtl="0">
                        <a:spcBef>
                          <a:spcPts val="0"/>
                        </a:spcBef>
                        <a:spcAft>
                          <a:spcPts val="0"/>
                        </a:spcAft>
                        <a:buNone/>
                      </a:pPr>
                      <a:r>
                        <a:rPr lang="en-US" sz="1400" u="none" strike="noStrike" cap="none"/>
                        <a:t>AVG(expression) </a:t>
                      </a:r>
                      <a:endParaRPr sz="1400" b="0" i="0" u="none" strike="noStrike" cap="none">
                        <a:solidFill>
                          <a:srgbClr val="000000"/>
                        </a:solidFill>
                        <a:latin typeface="Calibri"/>
                        <a:ea typeface="Calibri"/>
                        <a:cs typeface="Calibri"/>
                        <a:sym typeface="Calibri"/>
                      </a:endParaRPr>
                    </a:p>
                  </a:txBody>
                  <a:tcPr marL="9525" marR="9525" marT="9525" marB="0" anchor="ctr"/>
                </a:tc>
                <a:tc>
                  <a:txBody>
                    <a:bodyPr/>
                    <a:lstStyle/>
                    <a:p>
                      <a:pPr marL="0" marR="0" lvl="0" indent="0" algn="l" rtl="0">
                        <a:spcBef>
                          <a:spcPts val="0"/>
                        </a:spcBef>
                        <a:spcAft>
                          <a:spcPts val="0"/>
                        </a:spcAft>
                        <a:buNone/>
                      </a:pPr>
                      <a:r>
                        <a:rPr lang="en-US" sz="1400" u="none" strike="noStrike" cap="none"/>
                        <a:t>Computes the average value of a column by the expression</a:t>
                      </a:r>
                      <a:endParaRPr sz="1400" b="0" i="0" u="none" strike="noStrike" cap="none">
                        <a:solidFill>
                          <a:srgbClr val="000000"/>
                        </a:solidFill>
                        <a:latin typeface="Calibri"/>
                        <a:ea typeface="Calibri"/>
                        <a:cs typeface="Calibri"/>
                        <a:sym typeface="Calibri"/>
                      </a:endParaRPr>
                    </a:p>
                  </a:txBody>
                  <a:tcPr marL="9525" marR="9525" marT="9525" marB="0" anchor="ctr"/>
                </a:tc>
              </a:tr>
              <a:tr h="221875">
                <a:tc>
                  <a:txBody>
                    <a:bodyPr/>
                    <a:lstStyle/>
                    <a:p>
                      <a:pPr marL="0" marR="0" lvl="0" indent="0" algn="l" rtl="0">
                        <a:spcBef>
                          <a:spcPts val="0"/>
                        </a:spcBef>
                        <a:spcAft>
                          <a:spcPts val="0"/>
                        </a:spcAft>
                        <a:buNone/>
                      </a:pPr>
                      <a:r>
                        <a:rPr lang="en-US" sz="1400" u="none" strike="noStrike" cap="none"/>
                        <a:t>COUNT(expression)</a:t>
                      </a:r>
                      <a:endParaRPr sz="1400" b="0" i="0" u="none" strike="noStrike" cap="none">
                        <a:solidFill>
                          <a:srgbClr val="000000"/>
                        </a:solidFill>
                        <a:latin typeface="Calibri"/>
                        <a:ea typeface="Calibri"/>
                        <a:cs typeface="Calibri"/>
                        <a:sym typeface="Calibri"/>
                      </a:endParaRPr>
                    </a:p>
                  </a:txBody>
                  <a:tcPr marL="9525" marR="9525" marT="9525" marB="0" anchor="ctr"/>
                </a:tc>
                <a:tc>
                  <a:txBody>
                    <a:bodyPr/>
                    <a:lstStyle/>
                    <a:p>
                      <a:pPr marL="0" marR="0" lvl="0" indent="0" algn="l" rtl="0">
                        <a:spcBef>
                          <a:spcPts val="0"/>
                        </a:spcBef>
                        <a:spcAft>
                          <a:spcPts val="0"/>
                        </a:spcAft>
                        <a:buNone/>
                      </a:pPr>
                      <a:r>
                        <a:rPr lang="en-US" sz="1400" u="none" strike="noStrike" cap="none"/>
                        <a:t>Counts the rows defined by the expression</a:t>
                      </a:r>
                      <a:endParaRPr sz="1400" b="0" i="0" u="none" strike="noStrike" cap="none">
                        <a:solidFill>
                          <a:srgbClr val="000000"/>
                        </a:solidFill>
                        <a:latin typeface="Calibri"/>
                        <a:ea typeface="Calibri"/>
                        <a:cs typeface="Calibri"/>
                        <a:sym typeface="Calibri"/>
                      </a:endParaRPr>
                    </a:p>
                  </a:txBody>
                  <a:tcPr marL="9525" marR="9525" marT="9525" marB="0" anchor="ctr"/>
                </a:tc>
              </a:tr>
              <a:tr h="221875">
                <a:tc>
                  <a:txBody>
                    <a:bodyPr/>
                    <a:lstStyle/>
                    <a:p>
                      <a:pPr marL="0" marR="0" lvl="0" indent="0" algn="l" rtl="0">
                        <a:spcBef>
                          <a:spcPts val="0"/>
                        </a:spcBef>
                        <a:spcAft>
                          <a:spcPts val="0"/>
                        </a:spcAft>
                        <a:buNone/>
                      </a:pPr>
                      <a:r>
                        <a:rPr lang="en-US" sz="1400" u="none" strike="noStrike" cap="none"/>
                        <a:t>COUNT(*) </a:t>
                      </a:r>
                      <a:endParaRPr sz="1400" b="0" i="0" u="none" strike="noStrike" cap="none">
                        <a:solidFill>
                          <a:srgbClr val="000000"/>
                        </a:solidFill>
                        <a:latin typeface="Calibri"/>
                        <a:ea typeface="Calibri"/>
                        <a:cs typeface="Calibri"/>
                        <a:sym typeface="Calibri"/>
                      </a:endParaRPr>
                    </a:p>
                  </a:txBody>
                  <a:tcPr marL="9525" marR="9525" marT="9525" marB="0" anchor="ctr"/>
                </a:tc>
                <a:tc>
                  <a:txBody>
                    <a:bodyPr/>
                    <a:lstStyle/>
                    <a:p>
                      <a:pPr marL="0" marR="0" lvl="0" indent="0" algn="l" rtl="0">
                        <a:spcBef>
                          <a:spcPts val="0"/>
                        </a:spcBef>
                        <a:spcAft>
                          <a:spcPts val="0"/>
                        </a:spcAft>
                        <a:buNone/>
                      </a:pPr>
                      <a:r>
                        <a:rPr lang="en-US" sz="1400" u="none" strike="noStrike" cap="none"/>
                        <a:t>Counts all rows in the specified table or view</a:t>
                      </a:r>
                      <a:endParaRPr sz="1400" b="0" i="0" u="none" strike="noStrike" cap="none">
                        <a:solidFill>
                          <a:srgbClr val="000000"/>
                        </a:solidFill>
                        <a:latin typeface="Calibri"/>
                        <a:ea typeface="Calibri"/>
                        <a:cs typeface="Calibri"/>
                        <a:sym typeface="Calibri"/>
                      </a:endParaRPr>
                    </a:p>
                  </a:txBody>
                  <a:tcPr marL="9525" marR="9525" marT="9525" marB="0" anchor="ctr"/>
                </a:tc>
              </a:tr>
              <a:tr h="221875">
                <a:tc>
                  <a:txBody>
                    <a:bodyPr/>
                    <a:lstStyle/>
                    <a:p>
                      <a:pPr marL="0" marR="0" lvl="0" indent="0" algn="l" rtl="0">
                        <a:spcBef>
                          <a:spcPts val="0"/>
                        </a:spcBef>
                        <a:spcAft>
                          <a:spcPts val="0"/>
                        </a:spcAft>
                        <a:buNone/>
                      </a:pPr>
                      <a:r>
                        <a:rPr lang="en-US" sz="1400" u="none" strike="noStrike" cap="none"/>
                        <a:t>MIN(expression) </a:t>
                      </a:r>
                      <a:endParaRPr sz="1400" b="0" i="0" u="none" strike="noStrike" cap="none">
                        <a:solidFill>
                          <a:srgbClr val="000000"/>
                        </a:solidFill>
                        <a:latin typeface="Calibri"/>
                        <a:ea typeface="Calibri"/>
                        <a:cs typeface="Calibri"/>
                        <a:sym typeface="Calibri"/>
                      </a:endParaRPr>
                    </a:p>
                  </a:txBody>
                  <a:tcPr marL="9525" marR="9525" marT="9525" marB="0" anchor="ctr"/>
                </a:tc>
                <a:tc>
                  <a:txBody>
                    <a:bodyPr/>
                    <a:lstStyle/>
                    <a:p>
                      <a:pPr marL="0" marR="0" lvl="0" indent="0" algn="l" rtl="0">
                        <a:spcBef>
                          <a:spcPts val="0"/>
                        </a:spcBef>
                        <a:spcAft>
                          <a:spcPts val="0"/>
                        </a:spcAft>
                        <a:buNone/>
                      </a:pPr>
                      <a:r>
                        <a:rPr lang="en-US" sz="1400" u="none" strike="noStrike" cap="none"/>
                        <a:t>Finds the minimum value in a column by the expression</a:t>
                      </a:r>
                      <a:endParaRPr sz="1400" b="0" i="0" u="none" strike="noStrike" cap="none">
                        <a:solidFill>
                          <a:srgbClr val="000000"/>
                        </a:solidFill>
                        <a:latin typeface="Calibri"/>
                        <a:ea typeface="Calibri"/>
                        <a:cs typeface="Calibri"/>
                        <a:sym typeface="Calibri"/>
                      </a:endParaRPr>
                    </a:p>
                  </a:txBody>
                  <a:tcPr marL="9525" marR="9525" marT="9525" marB="0" anchor="ctr"/>
                </a:tc>
              </a:tr>
              <a:tr h="221875">
                <a:tc>
                  <a:txBody>
                    <a:bodyPr/>
                    <a:lstStyle/>
                    <a:p>
                      <a:pPr marL="0" marR="0" lvl="0" indent="0" algn="l" rtl="0">
                        <a:spcBef>
                          <a:spcPts val="0"/>
                        </a:spcBef>
                        <a:spcAft>
                          <a:spcPts val="0"/>
                        </a:spcAft>
                        <a:buNone/>
                      </a:pPr>
                      <a:r>
                        <a:rPr lang="en-US" sz="1400" u="none" strike="noStrike" cap="none"/>
                        <a:t>MAX(expression) </a:t>
                      </a:r>
                      <a:endParaRPr sz="1400" b="0" i="0" u="none" strike="noStrike" cap="none">
                        <a:solidFill>
                          <a:srgbClr val="000000"/>
                        </a:solidFill>
                        <a:latin typeface="Calibri"/>
                        <a:ea typeface="Calibri"/>
                        <a:cs typeface="Calibri"/>
                        <a:sym typeface="Calibri"/>
                      </a:endParaRPr>
                    </a:p>
                  </a:txBody>
                  <a:tcPr marL="9525" marR="9525" marT="9525" marB="0" anchor="ctr"/>
                </a:tc>
                <a:tc>
                  <a:txBody>
                    <a:bodyPr/>
                    <a:lstStyle/>
                    <a:p>
                      <a:pPr marL="0" marR="0" lvl="0" indent="0" algn="l" rtl="0">
                        <a:spcBef>
                          <a:spcPts val="0"/>
                        </a:spcBef>
                        <a:spcAft>
                          <a:spcPts val="0"/>
                        </a:spcAft>
                        <a:buNone/>
                      </a:pPr>
                      <a:r>
                        <a:rPr lang="en-US" sz="1400" u="none" strike="noStrike" cap="none"/>
                        <a:t>Finds the maximum value in a column by the expression</a:t>
                      </a:r>
                      <a:endParaRPr sz="1400" b="0" i="0" u="none" strike="noStrike" cap="none">
                        <a:solidFill>
                          <a:srgbClr val="000000"/>
                        </a:solidFill>
                        <a:latin typeface="Calibri"/>
                        <a:ea typeface="Calibri"/>
                        <a:cs typeface="Calibri"/>
                        <a:sym typeface="Calibri"/>
                      </a:endParaRPr>
                    </a:p>
                  </a:txBody>
                  <a:tcPr marL="9525" marR="9525" marT="9525" marB="0" anchor="ctr"/>
                </a:tc>
              </a:tr>
              <a:tr h="221875">
                <a:tc>
                  <a:txBody>
                    <a:bodyPr/>
                    <a:lstStyle/>
                    <a:p>
                      <a:pPr marL="0" marR="0" lvl="0" indent="0" algn="l" rtl="0">
                        <a:spcBef>
                          <a:spcPts val="0"/>
                        </a:spcBef>
                        <a:spcAft>
                          <a:spcPts val="0"/>
                        </a:spcAft>
                        <a:buNone/>
                      </a:pPr>
                      <a:r>
                        <a:rPr lang="en-US" sz="1400" u="none" strike="noStrike" cap="none"/>
                        <a:t>SUM(expression) </a:t>
                      </a:r>
                      <a:endParaRPr sz="1400" b="0" i="0" u="none" strike="noStrike" cap="none">
                        <a:solidFill>
                          <a:srgbClr val="000000"/>
                        </a:solidFill>
                        <a:latin typeface="Calibri"/>
                        <a:ea typeface="Calibri"/>
                        <a:cs typeface="Calibri"/>
                        <a:sym typeface="Calibri"/>
                      </a:endParaRPr>
                    </a:p>
                  </a:txBody>
                  <a:tcPr marL="9525" marR="9525" marT="9525" marB="0" anchor="ctr"/>
                </a:tc>
                <a:tc>
                  <a:txBody>
                    <a:bodyPr/>
                    <a:lstStyle/>
                    <a:p>
                      <a:pPr marL="0" marR="0" lvl="0" indent="0" algn="l" rtl="0">
                        <a:spcBef>
                          <a:spcPts val="0"/>
                        </a:spcBef>
                        <a:spcAft>
                          <a:spcPts val="0"/>
                        </a:spcAft>
                        <a:buNone/>
                      </a:pPr>
                      <a:r>
                        <a:rPr lang="en-US" sz="1400" u="none" strike="noStrike" cap="none"/>
                        <a:t>Computes the sum of column values by the expression</a:t>
                      </a:r>
                      <a:endParaRPr sz="1400" b="0" i="0" u="none" strike="noStrike" cap="none">
                        <a:solidFill>
                          <a:srgbClr val="000000"/>
                        </a:solidFill>
                        <a:latin typeface="Calibri"/>
                        <a:ea typeface="Calibri"/>
                        <a:cs typeface="Calibri"/>
                        <a:sym typeface="Calibri"/>
                      </a:endParaRPr>
                    </a:p>
                  </a:txBody>
                  <a:tcPr marL="9525" marR="9525" marT="9525" marB="0" anchor="ctr"/>
                </a:tc>
              </a:tr>
            </a:tbl>
          </a:graphicData>
        </a:graphic>
      </p:graphicFrame>
      <p:sp>
        <p:nvSpPr>
          <p:cNvPr id="168" name="Google Shape;168;p12"/>
          <p:cNvSpPr txBox="1">
            <a:spLocks noGrp="1"/>
          </p:cNvSpPr>
          <p:nvPr>
            <p:ph type="sldNum" idx="12"/>
          </p:nvPr>
        </p:nvSpPr>
        <p:spPr>
          <a:xfrm>
            <a:off x="138752" y="6414139"/>
            <a:ext cx="457200" cy="277813"/>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fld id="{00000000-1234-1234-1234-123412341234}" type="slidenum">
              <a:rPr lang="en-US"/>
              <a:t>12</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67"/>
                                        </p:tgtEl>
                                        <p:attrNameLst>
                                          <p:attrName>style.visibility</p:attrName>
                                        </p:attrNameLst>
                                      </p:cBhvr>
                                      <p:to>
                                        <p:strVal val="visible"/>
                                      </p:to>
                                    </p:set>
                                    <p:animEffect transition="in" filter="fade">
                                      <p:cBhvr>
                                        <p:cTn id="7" dur="500"/>
                                        <p:tgtEl>
                                          <p:spTgt spid="1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13"/>
          <p:cNvSpPr txBox="1">
            <a:spLocks noGrp="1"/>
          </p:cNvSpPr>
          <p:nvPr>
            <p:ph type="title"/>
          </p:nvPr>
        </p:nvSpPr>
        <p:spPr>
          <a:xfrm>
            <a:off x="1303020" y="-152400"/>
            <a:ext cx="8298180" cy="1143000"/>
          </a:xfrm>
          <a:prstGeom prst="rect">
            <a:avLst/>
          </a:prstGeom>
          <a:noFill/>
          <a:ln>
            <a:noFill/>
          </a:ln>
        </p:spPr>
        <p:txBody>
          <a:bodyPr spcFirstLastPara="1" wrap="square" lIns="91425" tIns="45700" rIns="91425" bIns="45700" anchor="ctr" anchorCtr="0">
            <a:noAutofit/>
          </a:bodyPr>
          <a:lstStyle/>
          <a:p>
            <a:pPr marL="0" lvl="1" indent="0" algn="l" rtl="0">
              <a:spcBef>
                <a:spcPts val="0"/>
              </a:spcBef>
              <a:spcAft>
                <a:spcPts val="0"/>
              </a:spcAft>
              <a:buNone/>
            </a:pPr>
            <a:r>
              <a:rPr lang="en-US" sz="3200">
                <a:latin typeface="Verdana"/>
                <a:ea typeface="Verdana"/>
                <a:cs typeface="Verdana"/>
                <a:sym typeface="Verdana"/>
              </a:rPr>
              <a:t>Aggregate Function Examples</a:t>
            </a:r>
            <a:endParaRPr/>
          </a:p>
        </p:txBody>
      </p:sp>
      <p:sp>
        <p:nvSpPr>
          <p:cNvPr id="175" name="Google Shape;175;p13"/>
          <p:cNvSpPr txBox="1"/>
          <p:nvPr/>
        </p:nvSpPr>
        <p:spPr>
          <a:xfrm>
            <a:off x="381000" y="1198431"/>
            <a:ext cx="8915400" cy="1392369"/>
          </a:xfrm>
          <a:prstGeom prst="rect">
            <a:avLst/>
          </a:prstGeom>
          <a:noFill/>
          <a:ln>
            <a:noFill/>
          </a:ln>
        </p:spPr>
        <p:txBody>
          <a:bodyPr spcFirstLastPara="1" wrap="square" lIns="91425" tIns="45700" rIns="91425" bIns="45700" anchor="t" anchorCtr="0">
            <a:spAutoFit/>
          </a:bodyPr>
          <a:lstStyle/>
          <a:p>
            <a:pPr marL="0" marR="0" lvl="0" indent="0" algn="l" rtl="0">
              <a:lnSpc>
                <a:spcPct val="120000"/>
              </a:lnSpc>
              <a:spcBef>
                <a:spcPts val="0"/>
              </a:spcBef>
              <a:spcAft>
                <a:spcPts val="0"/>
              </a:spcAft>
              <a:buNone/>
            </a:pPr>
            <a:r>
              <a:rPr lang="en-US" sz="2400">
                <a:solidFill>
                  <a:schemeClr val="dk1"/>
                </a:solidFill>
                <a:latin typeface="Calibri"/>
                <a:ea typeface="Calibri"/>
                <a:cs typeface="Calibri"/>
                <a:sym typeface="Calibri"/>
              </a:rPr>
              <a:t>They are commonly used with the GROUP BY clause in a SELECT statement, and accepts single column as input .</a:t>
            </a:r>
            <a:endParaRPr/>
          </a:p>
          <a:p>
            <a:pPr marL="0" marR="0" lvl="0" indent="0" algn="l" rtl="0">
              <a:lnSpc>
                <a:spcPct val="120000"/>
              </a:lnSpc>
              <a:spcBef>
                <a:spcPts val="0"/>
              </a:spcBef>
              <a:spcAft>
                <a:spcPts val="0"/>
              </a:spcAft>
              <a:buNone/>
            </a:pPr>
            <a:r>
              <a:rPr lang="en-US" sz="2400" b="0">
                <a:solidFill>
                  <a:schemeClr val="dk1"/>
                </a:solidFill>
                <a:latin typeface="Calibri"/>
                <a:ea typeface="Calibri"/>
                <a:cs typeface="Calibri"/>
                <a:sym typeface="Calibri"/>
              </a:rPr>
              <a:t>The following are some of the Aggregate Functions,</a:t>
            </a:r>
            <a:endParaRPr sz="2400" b="0">
              <a:solidFill>
                <a:schemeClr val="dk1"/>
              </a:solidFill>
              <a:latin typeface="Calibri"/>
              <a:ea typeface="Calibri"/>
              <a:cs typeface="Calibri"/>
              <a:sym typeface="Calibri"/>
            </a:endParaRPr>
          </a:p>
        </p:txBody>
      </p:sp>
      <p:graphicFrame>
        <p:nvGraphicFramePr>
          <p:cNvPr id="176" name="Google Shape;176;p13"/>
          <p:cNvGraphicFramePr/>
          <p:nvPr/>
        </p:nvGraphicFramePr>
        <p:xfrm>
          <a:off x="266700" y="2590800"/>
          <a:ext cx="8534400" cy="3474780"/>
        </p:xfrm>
        <a:graphic>
          <a:graphicData uri="http://schemas.openxmlformats.org/drawingml/2006/table">
            <a:tbl>
              <a:tblPr firstRow="1" bandRow="1">
                <a:noFill/>
                <a:tableStyleId>{7FFFBDA3-1227-47A5-887F-83766C0D3143}</a:tableStyleId>
              </a:tblPr>
              <a:tblGrid>
                <a:gridCol w="1098475"/>
                <a:gridCol w="2711525"/>
                <a:gridCol w="4724400"/>
              </a:tblGrid>
              <a:tr h="269175">
                <a:tc>
                  <a:txBody>
                    <a:bodyPr/>
                    <a:lstStyle/>
                    <a:p>
                      <a:pPr marL="0" marR="0" lvl="0" indent="0" algn="l" rtl="0">
                        <a:spcBef>
                          <a:spcPts val="0"/>
                        </a:spcBef>
                        <a:spcAft>
                          <a:spcPts val="0"/>
                        </a:spcAft>
                        <a:buNone/>
                      </a:pPr>
                      <a:r>
                        <a:rPr lang="en-US" sz="1600" u="none" strike="noStrike" cap="none"/>
                        <a:t>Function</a:t>
                      </a:r>
                      <a:endParaRPr sz="1600">
                        <a:latin typeface="Arial"/>
                        <a:ea typeface="Arial"/>
                        <a:cs typeface="Arial"/>
                        <a:sym typeface="Arial"/>
                      </a:endParaRPr>
                    </a:p>
                  </a:txBody>
                  <a:tcPr marL="91450" marR="91450" marT="45725" marB="45725"/>
                </a:tc>
                <a:tc>
                  <a:txBody>
                    <a:bodyPr/>
                    <a:lstStyle/>
                    <a:p>
                      <a:pPr marL="0" marR="0" lvl="0" indent="0" algn="l" rtl="0">
                        <a:spcBef>
                          <a:spcPts val="0"/>
                        </a:spcBef>
                        <a:spcAft>
                          <a:spcPts val="0"/>
                        </a:spcAft>
                        <a:buNone/>
                      </a:pPr>
                      <a:r>
                        <a:rPr lang="en-US" sz="1600"/>
                        <a:t>Example</a:t>
                      </a:r>
                      <a:endParaRPr sz="1600">
                        <a:latin typeface="Arial"/>
                        <a:ea typeface="Arial"/>
                        <a:cs typeface="Arial"/>
                        <a:sym typeface="Arial"/>
                      </a:endParaRPr>
                    </a:p>
                  </a:txBody>
                  <a:tcPr marL="91450" marR="91450" marT="45725" marB="45725"/>
                </a:tc>
                <a:tc>
                  <a:txBody>
                    <a:bodyPr/>
                    <a:lstStyle/>
                    <a:p>
                      <a:pPr marL="0" marR="0" lvl="0" indent="0" algn="l" rtl="0">
                        <a:spcBef>
                          <a:spcPts val="0"/>
                        </a:spcBef>
                        <a:spcAft>
                          <a:spcPts val="0"/>
                        </a:spcAft>
                        <a:buNone/>
                      </a:pPr>
                      <a:r>
                        <a:rPr lang="en-US" sz="1600"/>
                        <a:t>Description</a:t>
                      </a:r>
                      <a:endParaRPr sz="1600">
                        <a:latin typeface="Arial"/>
                        <a:ea typeface="Arial"/>
                        <a:cs typeface="Arial"/>
                        <a:sym typeface="Arial"/>
                      </a:endParaRPr>
                    </a:p>
                  </a:txBody>
                  <a:tcPr marL="91450" marR="91450" marT="45725" marB="45725"/>
                </a:tc>
              </a:tr>
              <a:tr h="403775">
                <a:tc>
                  <a:txBody>
                    <a:bodyPr/>
                    <a:lstStyle/>
                    <a:p>
                      <a:pPr marL="0" marR="0" lvl="0" indent="0" algn="l" rtl="0">
                        <a:spcBef>
                          <a:spcPts val="0"/>
                        </a:spcBef>
                        <a:spcAft>
                          <a:spcPts val="0"/>
                        </a:spcAft>
                        <a:buNone/>
                      </a:pPr>
                      <a:r>
                        <a:rPr lang="en-US" sz="1600"/>
                        <a:t>COUNT</a:t>
                      </a:r>
                      <a:endParaRPr sz="1600">
                        <a:latin typeface="Arial"/>
                        <a:ea typeface="Arial"/>
                        <a:cs typeface="Arial"/>
                        <a:sym typeface="Arial"/>
                      </a:endParaRPr>
                    </a:p>
                  </a:txBody>
                  <a:tcPr marL="91450" marR="91450" marT="45725" marB="45725"/>
                </a:tc>
                <a:tc>
                  <a:txBody>
                    <a:bodyPr/>
                    <a:lstStyle/>
                    <a:p>
                      <a:pPr marL="0" marR="0" lvl="0" indent="0" algn="l" rtl="0">
                        <a:spcBef>
                          <a:spcPts val="0"/>
                        </a:spcBef>
                        <a:spcAft>
                          <a:spcPts val="0"/>
                        </a:spcAft>
                        <a:buNone/>
                      </a:pPr>
                      <a:r>
                        <a:rPr lang="en-US" sz="1600" b="1">
                          <a:solidFill>
                            <a:srgbClr val="0070C0"/>
                          </a:solidFill>
                        </a:rPr>
                        <a:t>SELECT COUNT(</a:t>
                      </a:r>
                      <a:r>
                        <a:rPr lang="en-US" sz="1600" b="1">
                          <a:solidFill>
                            <a:srgbClr val="BC8F00"/>
                          </a:solidFill>
                          <a:latin typeface="Calibri"/>
                          <a:ea typeface="Calibri"/>
                          <a:cs typeface="Calibri"/>
                          <a:sym typeface="Calibri"/>
                        </a:rPr>
                        <a:t>CustomerNumber</a:t>
                      </a:r>
                      <a:r>
                        <a:rPr lang="en-US" sz="1600" b="1">
                          <a:solidFill>
                            <a:srgbClr val="0070C0"/>
                          </a:solidFill>
                        </a:rPr>
                        <a:t>) FROM </a:t>
                      </a:r>
                      <a:r>
                        <a:rPr lang="en-US" sz="1600" b="1">
                          <a:solidFill>
                            <a:srgbClr val="BC8F00"/>
                          </a:solidFill>
                          <a:latin typeface="Calibri"/>
                          <a:ea typeface="Calibri"/>
                          <a:cs typeface="Calibri"/>
                          <a:sym typeface="Calibri"/>
                        </a:rPr>
                        <a:t>Customers</a:t>
                      </a:r>
                      <a:r>
                        <a:rPr lang="en-US" sz="1600" b="1">
                          <a:solidFill>
                            <a:srgbClr val="00B050"/>
                          </a:solidFill>
                        </a:rPr>
                        <a:t> ;</a:t>
                      </a:r>
                      <a:endParaRPr sz="1600" b="1">
                        <a:solidFill>
                          <a:srgbClr val="00B050"/>
                        </a:solidFill>
                        <a:latin typeface="Arial"/>
                        <a:ea typeface="Arial"/>
                        <a:cs typeface="Arial"/>
                        <a:sym typeface="Arial"/>
                      </a:endParaRPr>
                    </a:p>
                  </a:txBody>
                  <a:tcPr marL="91450" marR="91450" marT="45725" marB="45725"/>
                </a:tc>
                <a:tc>
                  <a:txBody>
                    <a:bodyPr/>
                    <a:lstStyle/>
                    <a:p>
                      <a:pPr marL="0" marR="0" lvl="0" indent="0" algn="l" rtl="0">
                        <a:spcBef>
                          <a:spcPts val="0"/>
                        </a:spcBef>
                        <a:spcAft>
                          <a:spcPts val="0"/>
                        </a:spcAft>
                        <a:buNone/>
                      </a:pPr>
                      <a:r>
                        <a:rPr lang="en-US" sz="1600"/>
                        <a:t>Displays  the total number of rows in the Customers table.</a:t>
                      </a:r>
                      <a:endParaRPr sz="1600">
                        <a:latin typeface="Arial"/>
                        <a:ea typeface="Arial"/>
                        <a:cs typeface="Arial"/>
                        <a:sym typeface="Arial"/>
                      </a:endParaRPr>
                    </a:p>
                  </a:txBody>
                  <a:tcPr marL="91450" marR="91450" marT="45725" marB="45725"/>
                </a:tc>
              </a:tr>
              <a:tr h="343325">
                <a:tc>
                  <a:txBody>
                    <a:bodyPr/>
                    <a:lstStyle/>
                    <a:p>
                      <a:pPr marL="0" marR="0" lvl="0" indent="0" algn="l" rtl="0">
                        <a:spcBef>
                          <a:spcPts val="0"/>
                        </a:spcBef>
                        <a:spcAft>
                          <a:spcPts val="0"/>
                        </a:spcAft>
                        <a:buNone/>
                      </a:pPr>
                      <a:r>
                        <a:rPr lang="en-US" sz="1600"/>
                        <a:t>SUM</a:t>
                      </a:r>
                      <a:endParaRPr sz="1600">
                        <a:latin typeface="Arial"/>
                        <a:ea typeface="Arial"/>
                        <a:cs typeface="Arial"/>
                        <a:sym typeface="Arial"/>
                      </a:endParaRPr>
                    </a:p>
                  </a:txBody>
                  <a:tcPr marL="91450" marR="91450" marT="45725" marB="45725"/>
                </a:tc>
                <a:tc>
                  <a:txBody>
                    <a:bodyPr/>
                    <a:lstStyle/>
                    <a:p>
                      <a:pPr marL="0" marR="0" lvl="0" indent="0" algn="l" rtl="0">
                        <a:spcBef>
                          <a:spcPts val="0"/>
                        </a:spcBef>
                        <a:spcAft>
                          <a:spcPts val="0"/>
                        </a:spcAft>
                        <a:buNone/>
                      </a:pPr>
                      <a:r>
                        <a:rPr lang="en-US" sz="1600" b="1">
                          <a:solidFill>
                            <a:srgbClr val="0070C0"/>
                          </a:solidFill>
                        </a:rPr>
                        <a:t>SELECT SUM(</a:t>
                      </a:r>
                      <a:r>
                        <a:rPr lang="en-US" sz="1600" b="1">
                          <a:solidFill>
                            <a:srgbClr val="BC8F00"/>
                          </a:solidFill>
                          <a:latin typeface="Calibri"/>
                          <a:ea typeface="Calibri"/>
                          <a:cs typeface="Calibri"/>
                          <a:sym typeface="Calibri"/>
                        </a:rPr>
                        <a:t>amount</a:t>
                      </a:r>
                      <a:r>
                        <a:rPr lang="en-US" sz="1600" b="1">
                          <a:solidFill>
                            <a:srgbClr val="0070C0"/>
                          </a:solidFill>
                        </a:rPr>
                        <a:t>) </a:t>
                      </a:r>
                      <a:endParaRPr/>
                    </a:p>
                    <a:p>
                      <a:pPr marL="0" marR="0" lvl="0" indent="0" algn="l" rtl="0">
                        <a:spcBef>
                          <a:spcPts val="0"/>
                        </a:spcBef>
                        <a:spcAft>
                          <a:spcPts val="0"/>
                        </a:spcAft>
                        <a:buNone/>
                      </a:pPr>
                      <a:r>
                        <a:rPr lang="en-US" sz="1600" b="1">
                          <a:solidFill>
                            <a:srgbClr val="0070C0"/>
                          </a:solidFill>
                        </a:rPr>
                        <a:t>FROM </a:t>
                      </a:r>
                      <a:r>
                        <a:rPr lang="en-US" sz="1600" b="1">
                          <a:solidFill>
                            <a:srgbClr val="BC8F00"/>
                          </a:solidFill>
                          <a:latin typeface="Calibri"/>
                          <a:ea typeface="Calibri"/>
                          <a:cs typeface="Calibri"/>
                          <a:sym typeface="Calibri"/>
                        </a:rPr>
                        <a:t>Payments;</a:t>
                      </a:r>
                      <a:endParaRPr sz="1600" b="1">
                        <a:solidFill>
                          <a:srgbClr val="00B050"/>
                        </a:solidFill>
                        <a:latin typeface="Arial"/>
                        <a:ea typeface="Arial"/>
                        <a:cs typeface="Arial"/>
                        <a:sym typeface="Arial"/>
                      </a:endParaRPr>
                    </a:p>
                  </a:txBody>
                  <a:tcPr marL="91450" marR="91450" marT="45725" marB="45725"/>
                </a:tc>
                <a:tc>
                  <a:txBody>
                    <a:bodyPr/>
                    <a:lstStyle/>
                    <a:p>
                      <a:pPr marL="0" marR="0" lvl="0" indent="0" algn="l" rtl="0">
                        <a:lnSpc>
                          <a:spcPct val="100000"/>
                        </a:lnSpc>
                        <a:spcBef>
                          <a:spcPts val="0"/>
                        </a:spcBef>
                        <a:spcAft>
                          <a:spcPts val="0"/>
                        </a:spcAft>
                        <a:buClr>
                          <a:schemeClr val="dk1"/>
                        </a:buClr>
                        <a:buSzPts val="1600"/>
                        <a:buFont typeface="Calibri"/>
                        <a:buNone/>
                      </a:pPr>
                      <a:r>
                        <a:rPr lang="en-US" sz="1600"/>
                        <a:t>Displays  the sum of all the payments in the payments table.</a:t>
                      </a:r>
                      <a:endParaRPr sz="1600">
                        <a:latin typeface="Arial"/>
                        <a:ea typeface="Arial"/>
                        <a:cs typeface="Arial"/>
                        <a:sym typeface="Arial"/>
                      </a:endParaRPr>
                    </a:p>
                  </a:txBody>
                  <a:tcPr marL="91450" marR="91450" marT="45725" marB="45725"/>
                </a:tc>
              </a:tr>
              <a:tr h="448625">
                <a:tc>
                  <a:txBody>
                    <a:bodyPr/>
                    <a:lstStyle/>
                    <a:p>
                      <a:pPr marL="0" marR="0" lvl="0" indent="0" algn="l" rtl="0">
                        <a:spcBef>
                          <a:spcPts val="0"/>
                        </a:spcBef>
                        <a:spcAft>
                          <a:spcPts val="0"/>
                        </a:spcAft>
                        <a:buNone/>
                      </a:pPr>
                      <a:r>
                        <a:rPr lang="en-US" sz="1600"/>
                        <a:t>MIN</a:t>
                      </a:r>
                      <a:endParaRPr sz="1600">
                        <a:latin typeface="Arial"/>
                        <a:ea typeface="Arial"/>
                        <a:cs typeface="Arial"/>
                        <a:sym typeface="Arial"/>
                      </a:endParaRPr>
                    </a:p>
                  </a:txBody>
                  <a:tcPr marL="91450" marR="91450" marT="45725" marB="45725"/>
                </a:tc>
                <a:tc>
                  <a:txBody>
                    <a:bodyPr/>
                    <a:lstStyle/>
                    <a:p>
                      <a:pPr marL="0" marR="0" lvl="0" indent="0" algn="l" rtl="0">
                        <a:spcBef>
                          <a:spcPts val="0"/>
                        </a:spcBef>
                        <a:spcAft>
                          <a:spcPts val="0"/>
                        </a:spcAft>
                        <a:buNone/>
                      </a:pPr>
                      <a:r>
                        <a:rPr lang="en-US" sz="1600" b="1">
                          <a:solidFill>
                            <a:srgbClr val="0070C0"/>
                          </a:solidFill>
                        </a:rPr>
                        <a:t>SELECT MIN(</a:t>
                      </a:r>
                      <a:r>
                        <a:rPr lang="en-US" sz="1600" b="1">
                          <a:solidFill>
                            <a:srgbClr val="BC8F00"/>
                          </a:solidFill>
                          <a:latin typeface="Calibri"/>
                          <a:ea typeface="Calibri"/>
                          <a:cs typeface="Calibri"/>
                          <a:sym typeface="Calibri"/>
                        </a:rPr>
                        <a:t>amount</a:t>
                      </a:r>
                      <a:r>
                        <a:rPr lang="en-US" sz="1600" b="1">
                          <a:solidFill>
                            <a:srgbClr val="0070C0"/>
                          </a:solidFill>
                        </a:rPr>
                        <a:t>) </a:t>
                      </a:r>
                      <a:endParaRPr/>
                    </a:p>
                    <a:p>
                      <a:pPr marL="0" marR="0" lvl="0" indent="0" algn="l" rtl="0">
                        <a:spcBef>
                          <a:spcPts val="0"/>
                        </a:spcBef>
                        <a:spcAft>
                          <a:spcPts val="0"/>
                        </a:spcAft>
                        <a:buNone/>
                      </a:pPr>
                      <a:r>
                        <a:rPr lang="en-US" sz="1600" b="1">
                          <a:solidFill>
                            <a:srgbClr val="0070C0"/>
                          </a:solidFill>
                        </a:rPr>
                        <a:t>FROM </a:t>
                      </a:r>
                      <a:r>
                        <a:rPr lang="en-US" sz="1600" b="1">
                          <a:solidFill>
                            <a:srgbClr val="BC8F00"/>
                          </a:solidFill>
                          <a:latin typeface="Calibri"/>
                          <a:ea typeface="Calibri"/>
                          <a:cs typeface="Calibri"/>
                          <a:sym typeface="Calibri"/>
                        </a:rPr>
                        <a:t>PAYMENTS;</a:t>
                      </a:r>
                      <a:endParaRPr sz="1600" b="1">
                        <a:solidFill>
                          <a:srgbClr val="00B050"/>
                        </a:solidFill>
                        <a:latin typeface="Arial"/>
                        <a:ea typeface="Arial"/>
                        <a:cs typeface="Arial"/>
                        <a:sym typeface="Arial"/>
                      </a:endParaRPr>
                    </a:p>
                  </a:txBody>
                  <a:tcPr marL="91450" marR="91450" marT="45725" marB="45725"/>
                </a:tc>
                <a:tc>
                  <a:txBody>
                    <a:bodyPr/>
                    <a:lstStyle/>
                    <a:p>
                      <a:pPr marL="0" marR="0" lvl="0" indent="0" algn="l" rtl="0">
                        <a:lnSpc>
                          <a:spcPct val="100000"/>
                        </a:lnSpc>
                        <a:spcBef>
                          <a:spcPts val="0"/>
                        </a:spcBef>
                        <a:spcAft>
                          <a:spcPts val="0"/>
                        </a:spcAft>
                        <a:buClr>
                          <a:schemeClr val="dk1"/>
                        </a:buClr>
                        <a:buSzPts val="1600"/>
                        <a:buFont typeface="Calibri"/>
                        <a:buNone/>
                      </a:pPr>
                      <a:r>
                        <a:rPr lang="en-US" sz="1600"/>
                        <a:t>Displays  the  minimum amount paid in the Payments table.</a:t>
                      </a:r>
                      <a:endParaRPr sz="1600">
                        <a:latin typeface="Arial"/>
                        <a:ea typeface="Arial"/>
                        <a:cs typeface="Arial"/>
                        <a:sym typeface="Arial"/>
                      </a:endParaRPr>
                    </a:p>
                  </a:txBody>
                  <a:tcPr marL="91450" marR="91450" marT="45725" marB="45725"/>
                </a:tc>
              </a:tr>
              <a:tr h="448625">
                <a:tc>
                  <a:txBody>
                    <a:bodyPr/>
                    <a:lstStyle/>
                    <a:p>
                      <a:pPr marL="0" marR="0" lvl="0" indent="0" algn="l" rtl="0">
                        <a:spcBef>
                          <a:spcPts val="0"/>
                        </a:spcBef>
                        <a:spcAft>
                          <a:spcPts val="0"/>
                        </a:spcAft>
                        <a:buNone/>
                      </a:pPr>
                      <a:r>
                        <a:rPr lang="en-US" sz="1600"/>
                        <a:t>MAX</a:t>
                      </a:r>
                      <a:endParaRPr sz="1600">
                        <a:latin typeface="Arial"/>
                        <a:ea typeface="Arial"/>
                        <a:cs typeface="Arial"/>
                        <a:sym typeface="Arial"/>
                      </a:endParaRPr>
                    </a:p>
                  </a:txBody>
                  <a:tcPr marL="91450" marR="91450" marT="45725" marB="45725"/>
                </a:tc>
                <a:tc>
                  <a:txBody>
                    <a:bodyPr/>
                    <a:lstStyle/>
                    <a:p>
                      <a:pPr marL="0" marR="0" lvl="0" indent="0" algn="l" rtl="0">
                        <a:spcBef>
                          <a:spcPts val="0"/>
                        </a:spcBef>
                        <a:spcAft>
                          <a:spcPts val="0"/>
                        </a:spcAft>
                        <a:buNone/>
                      </a:pPr>
                      <a:r>
                        <a:rPr lang="en-US" sz="1600" b="1">
                          <a:solidFill>
                            <a:srgbClr val="0070C0"/>
                          </a:solidFill>
                        </a:rPr>
                        <a:t>SELECT MAX(</a:t>
                      </a:r>
                      <a:r>
                        <a:rPr lang="en-US" sz="1600" b="1">
                          <a:solidFill>
                            <a:srgbClr val="BC8F00"/>
                          </a:solidFill>
                          <a:latin typeface="Calibri"/>
                          <a:ea typeface="Calibri"/>
                          <a:cs typeface="Calibri"/>
                          <a:sym typeface="Calibri"/>
                        </a:rPr>
                        <a:t>amount</a:t>
                      </a:r>
                      <a:r>
                        <a:rPr lang="en-US" sz="1600" b="1">
                          <a:solidFill>
                            <a:srgbClr val="0070C0"/>
                          </a:solidFill>
                        </a:rPr>
                        <a:t>) </a:t>
                      </a:r>
                      <a:endParaRPr/>
                    </a:p>
                    <a:p>
                      <a:pPr marL="0" marR="0" lvl="0" indent="0" algn="l" rtl="0">
                        <a:spcBef>
                          <a:spcPts val="0"/>
                        </a:spcBef>
                        <a:spcAft>
                          <a:spcPts val="0"/>
                        </a:spcAft>
                        <a:buNone/>
                      </a:pPr>
                      <a:r>
                        <a:rPr lang="en-US" sz="1600" b="1">
                          <a:solidFill>
                            <a:srgbClr val="0070C0"/>
                          </a:solidFill>
                        </a:rPr>
                        <a:t>FROM </a:t>
                      </a:r>
                      <a:r>
                        <a:rPr lang="en-US" sz="1600" b="1">
                          <a:solidFill>
                            <a:srgbClr val="BC8F00"/>
                          </a:solidFill>
                          <a:latin typeface="Calibri"/>
                          <a:ea typeface="Calibri"/>
                          <a:cs typeface="Calibri"/>
                          <a:sym typeface="Calibri"/>
                        </a:rPr>
                        <a:t>PAYMENTS</a:t>
                      </a:r>
                      <a:r>
                        <a:rPr lang="en-US" sz="1600" b="1">
                          <a:solidFill>
                            <a:srgbClr val="00B050"/>
                          </a:solidFill>
                        </a:rPr>
                        <a:t> ;</a:t>
                      </a:r>
                      <a:endParaRPr sz="1600" b="1">
                        <a:solidFill>
                          <a:srgbClr val="00B050"/>
                        </a:solidFill>
                        <a:latin typeface="Arial"/>
                        <a:ea typeface="Arial"/>
                        <a:cs typeface="Arial"/>
                        <a:sym typeface="Arial"/>
                      </a:endParaRPr>
                    </a:p>
                  </a:txBody>
                  <a:tcPr marL="91450" marR="91450" marT="45725" marB="45725"/>
                </a:tc>
                <a:tc>
                  <a:txBody>
                    <a:bodyPr/>
                    <a:lstStyle/>
                    <a:p>
                      <a:pPr marL="0" marR="0" lvl="0" indent="0" algn="l" rtl="0">
                        <a:lnSpc>
                          <a:spcPct val="100000"/>
                        </a:lnSpc>
                        <a:spcBef>
                          <a:spcPts val="0"/>
                        </a:spcBef>
                        <a:spcAft>
                          <a:spcPts val="0"/>
                        </a:spcAft>
                        <a:buClr>
                          <a:schemeClr val="dk1"/>
                        </a:buClr>
                        <a:buSzPts val="1600"/>
                        <a:buFont typeface="Calibri"/>
                        <a:buNone/>
                      </a:pPr>
                      <a:r>
                        <a:rPr lang="en-US" sz="1600"/>
                        <a:t>Displays  the  maximum amount paid in the Payments table.</a:t>
                      </a:r>
                      <a:endParaRPr sz="1600">
                        <a:latin typeface="Arial"/>
                        <a:ea typeface="Arial"/>
                        <a:cs typeface="Arial"/>
                        <a:sym typeface="Arial"/>
                      </a:endParaRPr>
                    </a:p>
                  </a:txBody>
                  <a:tcPr marL="91450" marR="91450" marT="45725" marB="45725"/>
                </a:tc>
              </a:tr>
              <a:tr h="448625">
                <a:tc>
                  <a:txBody>
                    <a:bodyPr/>
                    <a:lstStyle/>
                    <a:p>
                      <a:pPr marL="0" marR="0" lvl="0" indent="0" algn="l" rtl="0">
                        <a:spcBef>
                          <a:spcPts val="0"/>
                        </a:spcBef>
                        <a:spcAft>
                          <a:spcPts val="0"/>
                        </a:spcAft>
                        <a:buNone/>
                      </a:pPr>
                      <a:r>
                        <a:rPr lang="en-US" sz="1600"/>
                        <a:t>AVG</a:t>
                      </a:r>
                      <a:endParaRPr sz="1600">
                        <a:latin typeface="Arial"/>
                        <a:ea typeface="Arial"/>
                        <a:cs typeface="Arial"/>
                        <a:sym typeface="Arial"/>
                      </a:endParaRPr>
                    </a:p>
                  </a:txBody>
                  <a:tcPr marL="91450" marR="91450" marT="45725" marB="45725"/>
                </a:tc>
                <a:tc>
                  <a:txBody>
                    <a:bodyPr/>
                    <a:lstStyle/>
                    <a:p>
                      <a:pPr marL="0" marR="0" lvl="0" indent="0" algn="l" rtl="0">
                        <a:spcBef>
                          <a:spcPts val="0"/>
                        </a:spcBef>
                        <a:spcAft>
                          <a:spcPts val="0"/>
                        </a:spcAft>
                        <a:buNone/>
                      </a:pPr>
                      <a:r>
                        <a:rPr lang="en-US" sz="1600" b="1">
                          <a:solidFill>
                            <a:srgbClr val="0070C0"/>
                          </a:solidFill>
                        </a:rPr>
                        <a:t>SELECT AVG(</a:t>
                      </a:r>
                      <a:r>
                        <a:rPr lang="en-US" sz="1600" b="1">
                          <a:solidFill>
                            <a:srgbClr val="BC8F00"/>
                          </a:solidFill>
                          <a:latin typeface="Calibri"/>
                          <a:ea typeface="Calibri"/>
                          <a:cs typeface="Calibri"/>
                          <a:sym typeface="Calibri"/>
                        </a:rPr>
                        <a:t>amount</a:t>
                      </a:r>
                      <a:r>
                        <a:rPr lang="en-US" sz="1600" b="1">
                          <a:solidFill>
                            <a:srgbClr val="0070C0"/>
                          </a:solidFill>
                        </a:rPr>
                        <a:t>) </a:t>
                      </a:r>
                      <a:endParaRPr/>
                    </a:p>
                    <a:p>
                      <a:pPr marL="0" marR="0" lvl="0" indent="0" algn="l" rtl="0">
                        <a:spcBef>
                          <a:spcPts val="0"/>
                        </a:spcBef>
                        <a:spcAft>
                          <a:spcPts val="0"/>
                        </a:spcAft>
                        <a:buNone/>
                      </a:pPr>
                      <a:r>
                        <a:rPr lang="en-US" sz="1600" b="1">
                          <a:solidFill>
                            <a:srgbClr val="0070C0"/>
                          </a:solidFill>
                        </a:rPr>
                        <a:t>FROM </a:t>
                      </a:r>
                      <a:r>
                        <a:rPr lang="en-US" sz="1600" b="1">
                          <a:solidFill>
                            <a:srgbClr val="BC8F00"/>
                          </a:solidFill>
                          <a:latin typeface="Calibri"/>
                          <a:ea typeface="Calibri"/>
                          <a:cs typeface="Calibri"/>
                          <a:sym typeface="Calibri"/>
                        </a:rPr>
                        <a:t>PAYMENTS;</a:t>
                      </a:r>
                      <a:endParaRPr sz="1600" b="1">
                        <a:solidFill>
                          <a:srgbClr val="0070C0"/>
                        </a:solidFill>
                        <a:latin typeface="Arial"/>
                        <a:ea typeface="Arial"/>
                        <a:cs typeface="Arial"/>
                        <a:sym typeface="Arial"/>
                      </a:endParaRPr>
                    </a:p>
                  </a:txBody>
                  <a:tcPr marL="91450" marR="91450" marT="45725" marB="45725"/>
                </a:tc>
                <a:tc>
                  <a:txBody>
                    <a:bodyPr/>
                    <a:lstStyle/>
                    <a:p>
                      <a:pPr marL="0" marR="0" lvl="0" indent="0" algn="l" rtl="0">
                        <a:lnSpc>
                          <a:spcPct val="100000"/>
                        </a:lnSpc>
                        <a:spcBef>
                          <a:spcPts val="0"/>
                        </a:spcBef>
                        <a:spcAft>
                          <a:spcPts val="0"/>
                        </a:spcAft>
                        <a:buClr>
                          <a:schemeClr val="dk1"/>
                        </a:buClr>
                        <a:buSzPts val="1600"/>
                        <a:buFont typeface="Calibri"/>
                        <a:buNone/>
                      </a:pPr>
                      <a:r>
                        <a:rPr lang="en-US" sz="1600"/>
                        <a:t>Displays  the average of all the amounts paid in payments table.</a:t>
                      </a:r>
                      <a:endParaRPr sz="1600">
                        <a:latin typeface="Arial"/>
                        <a:ea typeface="Arial"/>
                        <a:cs typeface="Arial"/>
                        <a:sym typeface="Arial"/>
                      </a:endParaRPr>
                    </a:p>
                  </a:txBody>
                  <a:tcPr marL="91450" marR="91450" marT="45725" marB="45725"/>
                </a:tc>
              </a:tr>
            </a:tbl>
          </a:graphicData>
        </a:graphic>
      </p:graphicFrame>
      <p:sp>
        <p:nvSpPr>
          <p:cNvPr id="177" name="Google Shape;177;p13"/>
          <p:cNvSpPr txBox="1">
            <a:spLocks noGrp="1"/>
          </p:cNvSpPr>
          <p:nvPr>
            <p:ph type="sldNum" idx="12"/>
          </p:nvPr>
        </p:nvSpPr>
        <p:spPr>
          <a:xfrm>
            <a:off x="138752" y="6414139"/>
            <a:ext cx="457200" cy="277813"/>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fld id="{00000000-1234-1234-1234-123412341234}" type="slidenum">
              <a:rPr lang="en-US"/>
              <a:t>13</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76"/>
                                        </p:tgtEl>
                                        <p:attrNameLst>
                                          <p:attrName>style.visibility</p:attrName>
                                        </p:attrNameLst>
                                      </p:cBhvr>
                                      <p:to>
                                        <p:strVal val="visible"/>
                                      </p:to>
                                    </p:set>
                                    <p:animEffect transition="in" filter="fade">
                                      <p:cBhvr>
                                        <p:cTn id="7" dur="500"/>
                                        <p:tgtEl>
                                          <p:spTgt spid="1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p14"/>
          <p:cNvSpPr txBox="1">
            <a:spLocks noGrp="1"/>
          </p:cNvSpPr>
          <p:nvPr>
            <p:ph type="title"/>
          </p:nvPr>
        </p:nvSpPr>
        <p:spPr>
          <a:xfrm>
            <a:off x="1303020" y="-152400"/>
            <a:ext cx="829818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Classifying Aggregate Function </a:t>
            </a:r>
            <a:endParaRPr/>
          </a:p>
        </p:txBody>
      </p:sp>
      <p:sp>
        <p:nvSpPr>
          <p:cNvPr id="184" name="Google Shape;184;p14"/>
          <p:cNvSpPr txBox="1">
            <a:spLocks noGrp="1"/>
          </p:cNvSpPr>
          <p:nvPr>
            <p:ph type="body" idx="1"/>
          </p:nvPr>
        </p:nvSpPr>
        <p:spPr>
          <a:xfrm>
            <a:off x="381000" y="1225550"/>
            <a:ext cx="8686800" cy="49466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2800"/>
              <a:buNone/>
            </a:pPr>
            <a:r>
              <a:rPr lang="en-US" sz="2800" b="1"/>
              <a:t>Sub classing of the aggregate functions given below: </a:t>
            </a:r>
            <a:endParaRPr sz="2400"/>
          </a:p>
          <a:p>
            <a:pPr marL="0" lvl="0" indent="0" algn="l" rtl="0">
              <a:spcBef>
                <a:spcPts val="560"/>
              </a:spcBef>
              <a:spcAft>
                <a:spcPts val="0"/>
              </a:spcAft>
              <a:buClr>
                <a:schemeClr val="dk1"/>
              </a:buClr>
              <a:buSzPts val="2800"/>
              <a:buNone/>
            </a:pPr>
            <a:endParaRPr sz="2800" b="1"/>
          </a:p>
          <a:p>
            <a:pPr marL="457200" lvl="1" indent="0" algn="l" rtl="0">
              <a:spcBef>
                <a:spcPts val="400"/>
              </a:spcBef>
              <a:spcAft>
                <a:spcPts val="0"/>
              </a:spcAft>
              <a:buClr>
                <a:schemeClr val="dk1"/>
              </a:buClr>
              <a:buSzPts val="2000"/>
              <a:buNone/>
            </a:pPr>
            <a:endParaRPr sz="2000"/>
          </a:p>
        </p:txBody>
      </p:sp>
      <p:graphicFrame>
        <p:nvGraphicFramePr>
          <p:cNvPr id="185" name="Google Shape;185;p14"/>
          <p:cNvGraphicFramePr/>
          <p:nvPr/>
        </p:nvGraphicFramePr>
        <p:xfrm>
          <a:off x="990600" y="1981200"/>
          <a:ext cx="7162800" cy="3977125"/>
        </p:xfrm>
        <a:graphic>
          <a:graphicData uri="http://schemas.openxmlformats.org/drawingml/2006/table">
            <a:tbl>
              <a:tblPr firstRow="1" bandRow="1">
                <a:noFill/>
                <a:tableStyleId>{7FFFBDA3-1227-47A5-887F-83766C0D3143}</a:tableStyleId>
              </a:tblPr>
              <a:tblGrid>
                <a:gridCol w="1637500"/>
                <a:gridCol w="5525300"/>
              </a:tblGrid>
              <a:tr h="265275">
                <a:tc>
                  <a:txBody>
                    <a:bodyPr/>
                    <a:lstStyle/>
                    <a:p>
                      <a:pPr marL="0" marR="0" lvl="0" indent="0" algn="l" rtl="0">
                        <a:lnSpc>
                          <a:spcPct val="115000"/>
                        </a:lnSpc>
                        <a:spcBef>
                          <a:spcPts val="0"/>
                        </a:spcBef>
                        <a:spcAft>
                          <a:spcPts val="0"/>
                        </a:spcAft>
                        <a:buNone/>
                      </a:pPr>
                      <a:r>
                        <a:rPr lang="en-US" sz="1400"/>
                        <a:t>Category</a:t>
                      </a:r>
                      <a:endParaRPr sz="1400">
                        <a:solidFill>
                          <a:srgbClr val="000000"/>
                        </a:solidFill>
                        <a:latin typeface="Calibri"/>
                        <a:ea typeface="Calibri"/>
                        <a:cs typeface="Calibri"/>
                        <a:sym typeface="Calibri"/>
                      </a:endParaRPr>
                    </a:p>
                  </a:txBody>
                  <a:tcPr marL="68575" marR="68575" marT="0" marB="0"/>
                </a:tc>
                <a:tc>
                  <a:txBody>
                    <a:bodyPr/>
                    <a:lstStyle/>
                    <a:p>
                      <a:pPr marL="0" marR="0" lvl="0" indent="0" algn="l" rtl="0">
                        <a:lnSpc>
                          <a:spcPct val="115000"/>
                        </a:lnSpc>
                        <a:spcBef>
                          <a:spcPts val="0"/>
                        </a:spcBef>
                        <a:spcAft>
                          <a:spcPts val="0"/>
                        </a:spcAft>
                        <a:buNone/>
                      </a:pPr>
                      <a:r>
                        <a:rPr lang="en-US" sz="1400"/>
                        <a:t>Usage</a:t>
                      </a:r>
                      <a:endParaRPr sz="1400">
                        <a:solidFill>
                          <a:srgbClr val="000000"/>
                        </a:solidFill>
                        <a:latin typeface="Calibri"/>
                        <a:ea typeface="Calibri"/>
                        <a:cs typeface="Calibri"/>
                        <a:sym typeface="Calibri"/>
                      </a:endParaRPr>
                    </a:p>
                  </a:txBody>
                  <a:tcPr marL="68575" marR="68575" marT="0" marB="0"/>
                </a:tc>
              </a:tr>
              <a:tr h="503000">
                <a:tc>
                  <a:txBody>
                    <a:bodyPr/>
                    <a:lstStyle/>
                    <a:p>
                      <a:pPr marL="0" marR="0" lvl="0" indent="0" algn="l" rtl="0">
                        <a:lnSpc>
                          <a:spcPct val="115000"/>
                        </a:lnSpc>
                        <a:spcBef>
                          <a:spcPts val="0"/>
                        </a:spcBef>
                        <a:spcAft>
                          <a:spcPts val="0"/>
                        </a:spcAft>
                        <a:buNone/>
                      </a:pPr>
                      <a:r>
                        <a:rPr lang="en-US" sz="1400"/>
                        <a:t>Group</a:t>
                      </a:r>
                      <a:endParaRPr sz="1400" b="1">
                        <a:solidFill>
                          <a:srgbClr val="000000"/>
                        </a:solidFill>
                        <a:latin typeface="Calibri"/>
                        <a:ea typeface="Calibri"/>
                        <a:cs typeface="Calibri"/>
                        <a:sym typeface="Calibri"/>
                      </a:endParaRPr>
                    </a:p>
                  </a:txBody>
                  <a:tcPr marL="68575" marR="68575" marT="0" marB="0"/>
                </a:tc>
                <a:tc>
                  <a:txBody>
                    <a:bodyPr/>
                    <a:lstStyle/>
                    <a:p>
                      <a:pPr marL="0" marR="0" lvl="0" indent="0" algn="l" rtl="0">
                        <a:lnSpc>
                          <a:spcPct val="115000"/>
                        </a:lnSpc>
                        <a:spcBef>
                          <a:spcPts val="0"/>
                        </a:spcBef>
                        <a:spcAft>
                          <a:spcPts val="0"/>
                        </a:spcAft>
                        <a:buNone/>
                      </a:pPr>
                      <a:r>
                        <a:rPr lang="en-US" sz="1400"/>
                        <a:t>These functions deal with the grouping operation or the group aggregate function. </a:t>
                      </a:r>
                      <a:endParaRPr sz="1400">
                        <a:solidFill>
                          <a:srgbClr val="000000"/>
                        </a:solidFill>
                        <a:latin typeface="Calibri"/>
                        <a:ea typeface="Calibri"/>
                        <a:cs typeface="Calibri"/>
                        <a:sym typeface="Calibri"/>
                      </a:endParaRPr>
                    </a:p>
                  </a:txBody>
                  <a:tcPr marL="68575" marR="68575" marT="0" marB="0"/>
                </a:tc>
              </a:tr>
              <a:tr h="754500">
                <a:tc>
                  <a:txBody>
                    <a:bodyPr/>
                    <a:lstStyle/>
                    <a:p>
                      <a:pPr marL="0" marR="0" lvl="0" indent="0" algn="l" rtl="0">
                        <a:lnSpc>
                          <a:spcPct val="115000"/>
                        </a:lnSpc>
                        <a:spcBef>
                          <a:spcPts val="0"/>
                        </a:spcBef>
                        <a:spcAft>
                          <a:spcPts val="0"/>
                        </a:spcAft>
                        <a:buNone/>
                      </a:pPr>
                      <a:r>
                        <a:rPr lang="en-US" sz="1400"/>
                        <a:t>Window</a:t>
                      </a:r>
                      <a:endParaRPr sz="1400" b="1">
                        <a:solidFill>
                          <a:srgbClr val="000000"/>
                        </a:solidFill>
                        <a:latin typeface="Calibri"/>
                        <a:ea typeface="Calibri"/>
                        <a:cs typeface="Calibri"/>
                        <a:sym typeface="Calibri"/>
                      </a:endParaRPr>
                    </a:p>
                  </a:txBody>
                  <a:tcPr marL="68575" marR="68575" marT="0" marB="0"/>
                </a:tc>
                <a:tc>
                  <a:txBody>
                    <a:bodyPr/>
                    <a:lstStyle/>
                    <a:p>
                      <a:pPr marL="0" marR="0" lvl="0" indent="0" algn="l" rtl="0">
                        <a:lnSpc>
                          <a:spcPct val="115000"/>
                        </a:lnSpc>
                        <a:spcBef>
                          <a:spcPts val="0"/>
                        </a:spcBef>
                        <a:spcAft>
                          <a:spcPts val="0"/>
                        </a:spcAft>
                        <a:buNone/>
                      </a:pPr>
                      <a:r>
                        <a:rPr lang="en-US" sz="1400"/>
                        <a:t>These functions compute their aggregate values the same as a group function, except that they aggregate over the window frame of a row and not over a group of grouped table.</a:t>
                      </a:r>
                      <a:endParaRPr sz="1400">
                        <a:solidFill>
                          <a:srgbClr val="000000"/>
                        </a:solidFill>
                        <a:latin typeface="Calibri"/>
                        <a:ea typeface="Calibri"/>
                        <a:cs typeface="Calibri"/>
                        <a:sym typeface="Calibri"/>
                      </a:endParaRPr>
                    </a:p>
                  </a:txBody>
                  <a:tcPr marL="68575" marR="68575" marT="0" marB="0"/>
                </a:tc>
              </a:tr>
              <a:tr h="442350">
                <a:tc>
                  <a:txBody>
                    <a:bodyPr/>
                    <a:lstStyle/>
                    <a:p>
                      <a:pPr marL="0" marR="0" lvl="0" indent="0" algn="l" rtl="0">
                        <a:lnSpc>
                          <a:spcPct val="115000"/>
                        </a:lnSpc>
                        <a:spcBef>
                          <a:spcPts val="0"/>
                        </a:spcBef>
                        <a:spcAft>
                          <a:spcPts val="0"/>
                        </a:spcAft>
                        <a:buNone/>
                      </a:pPr>
                      <a:r>
                        <a:rPr lang="en-US" sz="1400"/>
                        <a:t>Unary Group</a:t>
                      </a:r>
                      <a:endParaRPr sz="1400" b="1">
                        <a:solidFill>
                          <a:srgbClr val="000000"/>
                        </a:solidFill>
                        <a:latin typeface="Calibri"/>
                        <a:ea typeface="Calibri"/>
                        <a:cs typeface="Calibri"/>
                        <a:sym typeface="Calibri"/>
                      </a:endParaRPr>
                    </a:p>
                  </a:txBody>
                  <a:tcPr marL="68575" marR="68575" marT="0" marB="0"/>
                </a:tc>
                <a:tc>
                  <a:txBody>
                    <a:bodyPr/>
                    <a:lstStyle/>
                    <a:p>
                      <a:pPr marL="0" marR="0" lvl="0" indent="0" algn="l" rtl="0">
                        <a:lnSpc>
                          <a:spcPct val="115000"/>
                        </a:lnSpc>
                        <a:spcBef>
                          <a:spcPts val="0"/>
                        </a:spcBef>
                        <a:spcAft>
                          <a:spcPts val="0"/>
                        </a:spcAft>
                        <a:buNone/>
                      </a:pPr>
                      <a:r>
                        <a:rPr lang="en-US" sz="1400"/>
                        <a:t>These functions take an arbitrary &lt;value expresssion&gt; as an argument.</a:t>
                      </a:r>
                      <a:endParaRPr sz="1400">
                        <a:solidFill>
                          <a:srgbClr val="000000"/>
                        </a:solidFill>
                        <a:latin typeface="Calibri"/>
                        <a:ea typeface="Calibri"/>
                        <a:cs typeface="Calibri"/>
                        <a:sym typeface="Calibri"/>
                      </a:endParaRPr>
                    </a:p>
                  </a:txBody>
                  <a:tcPr marL="68575" marR="68575" marT="0" marB="0"/>
                </a:tc>
              </a:tr>
              <a:tr h="1006000">
                <a:tc>
                  <a:txBody>
                    <a:bodyPr/>
                    <a:lstStyle/>
                    <a:p>
                      <a:pPr marL="0" marR="0" lvl="0" indent="0" algn="l" rtl="0">
                        <a:lnSpc>
                          <a:spcPct val="115000"/>
                        </a:lnSpc>
                        <a:spcBef>
                          <a:spcPts val="0"/>
                        </a:spcBef>
                        <a:spcAft>
                          <a:spcPts val="0"/>
                        </a:spcAft>
                        <a:buNone/>
                      </a:pPr>
                      <a:r>
                        <a:rPr lang="en-US" sz="1400"/>
                        <a:t>Binary Group</a:t>
                      </a:r>
                      <a:endParaRPr sz="1400" b="1">
                        <a:solidFill>
                          <a:srgbClr val="000000"/>
                        </a:solidFill>
                        <a:latin typeface="Calibri"/>
                        <a:ea typeface="Calibri"/>
                        <a:cs typeface="Calibri"/>
                        <a:sym typeface="Calibri"/>
                      </a:endParaRPr>
                    </a:p>
                  </a:txBody>
                  <a:tcPr marL="68575" marR="68575" marT="0" marB="0"/>
                </a:tc>
                <a:tc>
                  <a:txBody>
                    <a:bodyPr/>
                    <a:lstStyle/>
                    <a:p>
                      <a:pPr marL="0" marR="0" lvl="0" indent="0" algn="l" rtl="0">
                        <a:lnSpc>
                          <a:spcPct val="115000"/>
                        </a:lnSpc>
                        <a:spcBef>
                          <a:spcPts val="0"/>
                        </a:spcBef>
                        <a:spcAft>
                          <a:spcPts val="0"/>
                        </a:spcAft>
                        <a:buNone/>
                      </a:pPr>
                      <a:r>
                        <a:rPr lang="en-US" sz="1400"/>
                        <a:t>These functions take a pair of arguments, a dependent one and an independent one, both of which are numeric expressions. They remove NULL values from the group and if there are no remaining rows, they evaluate to 0. </a:t>
                      </a:r>
                      <a:endParaRPr sz="1400">
                        <a:solidFill>
                          <a:srgbClr val="000000"/>
                        </a:solidFill>
                        <a:latin typeface="Calibri"/>
                        <a:ea typeface="Calibri"/>
                        <a:cs typeface="Calibri"/>
                        <a:sym typeface="Calibri"/>
                      </a:endParaRPr>
                    </a:p>
                  </a:txBody>
                  <a:tcPr marL="68575" marR="68575" marT="0" marB="0"/>
                </a:tc>
              </a:tr>
              <a:tr h="503000">
                <a:tc>
                  <a:txBody>
                    <a:bodyPr/>
                    <a:lstStyle/>
                    <a:p>
                      <a:pPr marL="0" marR="0" lvl="0" indent="0" algn="l" rtl="0">
                        <a:lnSpc>
                          <a:spcPct val="115000"/>
                        </a:lnSpc>
                        <a:spcBef>
                          <a:spcPts val="0"/>
                        </a:spcBef>
                        <a:spcAft>
                          <a:spcPts val="0"/>
                        </a:spcAft>
                        <a:buNone/>
                      </a:pPr>
                      <a:r>
                        <a:rPr lang="en-US" sz="1400"/>
                        <a:t>Inverse Distribution</a:t>
                      </a:r>
                      <a:endParaRPr sz="1400" b="1">
                        <a:solidFill>
                          <a:srgbClr val="000000"/>
                        </a:solidFill>
                        <a:latin typeface="Calibri"/>
                        <a:ea typeface="Calibri"/>
                        <a:cs typeface="Calibri"/>
                        <a:sym typeface="Calibri"/>
                      </a:endParaRPr>
                    </a:p>
                  </a:txBody>
                  <a:tcPr marL="68575" marR="68575" marT="0" marB="0"/>
                </a:tc>
                <a:tc>
                  <a:txBody>
                    <a:bodyPr/>
                    <a:lstStyle/>
                    <a:p>
                      <a:pPr marL="0" marR="0" lvl="0" indent="0" algn="l" rtl="0">
                        <a:lnSpc>
                          <a:spcPct val="115000"/>
                        </a:lnSpc>
                        <a:spcBef>
                          <a:spcPts val="0"/>
                        </a:spcBef>
                        <a:spcAft>
                          <a:spcPts val="0"/>
                        </a:spcAft>
                        <a:buNone/>
                      </a:pPr>
                      <a:r>
                        <a:rPr lang="en-US" sz="1400"/>
                        <a:t>There are only two inverse functions: PERCENTILE_CONT and PERCENTILE_DISC. Both functions take an argument between 0 and 1.</a:t>
                      </a:r>
                      <a:endParaRPr sz="1400">
                        <a:solidFill>
                          <a:srgbClr val="000000"/>
                        </a:solidFill>
                        <a:latin typeface="Calibri"/>
                        <a:ea typeface="Calibri"/>
                        <a:cs typeface="Calibri"/>
                        <a:sym typeface="Calibri"/>
                      </a:endParaRPr>
                    </a:p>
                  </a:txBody>
                  <a:tcPr marL="68575" marR="68575" marT="0" marB="0"/>
                </a:tc>
              </a:tr>
              <a:tr h="503000">
                <a:tc>
                  <a:txBody>
                    <a:bodyPr/>
                    <a:lstStyle/>
                    <a:p>
                      <a:pPr marL="0" marR="0" lvl="0" indent="0" algn="l" rtl="0">
                        <a:lnSpc>
                          <a:spcPct val="115000"/>
                        </a:lnSpc>
                        <a:spcBef>
                          <a:spcPts val="0"/>
                        </a:spcBef>
                        <a:spcAft>
                          <a:spcPts val="0"/>
                        </a:spcAft>
                        <a:buNone/>
                      </a:pPr>
                      <a:r>
                        <a:rPr lang="en-US" sz="1400"/>
                        <a:t>Hypothetical Set</a:t>
                      </a:r>
                      <a:endParaRPr sz="1400" b="1">
                        <a:solidFill>
                          <a:srgbClr val="000000"/>
                        </a:solidFill>
                        <a:latin typeface="Calibri"/>
                        <a:ea typeface="Calibri"/>
                        <a:cs typeface="Calibri"/>
                        <a:sym typeface="Calibri"/>
                      </a:endParaRPr>
                    </a:p>
                  </a:txBody>
                  <a:tcPr marL="68575" marR="68575" marT="0" marB="0"/>
                </a:tc>
                <a:tc>
                  <a:txBody>
                    <a:bodyPr/>
                    <a:lstStyle/>
                    <a:p>
                      <a:pPr marL="0" marR="0" lvl="0" indent="0" algn="l" rtl="0">
                        <a:lnSpc>
                          <a:spcPct val="115000"/>
                        </a:lnSpc>
                        <a:spcBef>
                          <a:spcPts val="0"/>
                        </a:spcBef>
                        <a:spcAft>
                          <a:spcPts val="0"/>
                        </a:spcAft>
                        <a:buNone/>
                      </a:pPr>
                      <a:r>
                        <a:rPr lang="en-US" sz="1400"/>
                        <a:t>These functions are related to the window functions RANK, DENSE_RANK, PERCENT_RANK and CUME_DIST.</a:t>
                      </a:r>
                      <a:endParaRPr sz="1400">
                        <a:solidFill>
                          <a:srgbClr val="000000"/>
                        </a:solidFill>
                        <a:latin typeface="Calibri"/>
                        <a:ea typeface="Calibri"/>
                        <a:cs typeface="Calibri"/>
                        <a:sym typeface="Calibri"/>
                      </a:endParaRPr>
                    </a:p>
                  </a:txBody>
                  <a:tcPr marL="68575" marR="68575" marT="0" marB="0"/>
                </a:tc>
              </a:tr>
            </a:tbl>
          </a:graphicData>
        </a:graphic>
      </p:graphicFrame>
      <p:sp>
        <p:nvSpPr>
          <p:cNvPr id="186" name="Google Shape;186;p14"/>
          <p:cNvSpPr txBox="1">
            <a:spLocks noGrp="1"/>
          </p:cNvSpPr>
          <p:nvPr>
            <p:ph type="sldNum" idx="12"/>
          </p:nvPr>
        </p:nvSpPr>
        <p:spPr>
          <a:xfrm>
            <a:off x="138752" y="6414139"/>
            <a:ext cx="457200" cy="277813"/>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fld id="{00000000-1234-1234-1234-123412341234}" type="slidenum">
              <a:rPr lang="en-US"/>
              <a:t>14</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85"/>
                                        </p:tgtEl>
                                        <p:attrNameLst>
                                          <p:attrName>style.visibility</p:attrName>
                                        </p:attrNameLst>
                                      </p:cBhvr>
                                      <p:to>
                                        <p:strVal val="visible"/>
                                      </p:to>
                                    </p:set>
                                    <p:animEffect transition="in" filter="fade">
                                      <p:cBhvr>
                                        <p:cTn id="7" dur="500"/>
                                        <p:tgtEl>
                                          <p:spTgt spid="1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192" name="Google Shape;192;p15"/>
          <p:cNvSpPr txBox="1">
            <a:spLocks noGrp="1"/>
          </p:cNvSpPr>
          <p:nvPr>
            <p:ph type="body" idx="1"/>
          </p:nvPr>
        </p:nvSpPr>
        <p:spPr>
          <a:xfrm>
            <a:off x="228600" y="1609725"/>
            <a:ext cx="8686800" cy="49466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rgbClr val="92D050"/>
              </a:buClr>
              <a:buSzPts val="4000"/>
              <a:buNone/>
            </a:pPr>
            <a:r>
              <a:rPr lang="en-US" sz="4000">
                <a:solidFill>
                  <a:srgbClr val="92D050"/>
                </a:solidFill>
              </a:rPr>
              <a:t>	</a:t>
            </a:r>
            <a:r>
              <a:rPr lang="en-US" sz="4000"/>
              <a:t>	 </a:t>
            </a:r>
            <a:endParaRPr/>
          </a:p>
          <a:p>
            <a:pPr marL="0" lvl="0" indent="0" algn="l" rtl="0">
              <a:spcBef>
                <a:spcPts val="360"/>
              </a:spcBef>
              <a:spcAft>
                <a:spcPts val="0"/>
              </a:spcAft>
              <a:buClr>
                <a:schemeClr val="dk1"/>
              </a:buClr>
              <a:buSzPts val="1800"/>
              <a:buNone/>
            </a:pPr>
            <a:endParaRPr sz="1800"/>
          </a:p>
          <a:p>
            <a:pPr marL="0" lvl="0" indent="0" algn="l" rtl="0">
              <a:spcBef>
                <a:spcPts val="360"/>
              </a:spcBef>
              <a:spcAft>
                <a:spcPts val="0"/>
              </a:spcAft>
              <a:buClr>
                <a:schemeClr val="dk1"/>
              </a:buClr>
              <a:buSzPts val="1800"/>
              <a:buNone/>
            </a:pPr>
            <a:endParaRPr sz="1800"/>
          </a:p>
          <a:p>
            <a:pPr marL="0" lvl="0" indent="0" algn="l" rtl="0">
              <a:spcBef>
                <a:spcPts val="360"/>
              </a:spcBef>
              <a:spcAft>
                <a:spcPts val="0"/>
              </a:spcAft>
              <a:buClr>
                <a:schemeClr val="dk1"/>
              </a:buClr>
              <a:buSzPts val="1800"/>
              <a:buNone/>
            </a:pPr>
            <a:endParaRPr sz="1800"/>
          </a:p>
          <a:p>
            <a:pPr marL="0" lvl="0" indent="0" algn="l" rtl="0">
              <a:spcBef>
                <a:spcPts val="360"/>
              </a:spcBef>
              <a:spcAft>
                <a:spcPts val="0"/>
              </a:spcAft>
              <a:buClr>
                <a:schemeClr val="dk1"/>
              </a:buClr>
              <a:buSzPts val="1800"/>
              <a:buNone/>
            </a:pPr>
            <a:endParaRPr sz="1800"/>
          </a:p>
          <a:p>
            <a:pPr marL="0" lvl="0" indent="0" algn="l" rtl="0">
              <a:spcBef>
                <a:spcPts val="400"/>
              </a:spcBef>
              <a:spcAft>
                <a:spcPts val="0"/>
              </a:spcAft>
              <a:buClr>
                <a:schemeClr val="dk1"/>
              </a:buClr>
              <a:buSzPts val="2000"/>
              <a:buNone/>
            </a:pPr>
            <a:endParaRPr sz="2000"/>
          </a:p>
          <a:p>
            <a:pPr marL="0" lvl="0" indent="0" algn="l" rtl="0">
              <a:spcBef>
                <a:spcPts val="400"/>
              </a:spcBef>
              <a:spcAft>
                <a:spcPts val="0"/>
              </a:spcAft>
              <a:buClr>
                <a:schemeClr val="dk1"/>
              </a:buClr>
              <a:buSzPts val="2000"/>
              <a:buNone/>
            </a:pPr>
            <a:endParaRPr sz="2000"/>
          </a:p>
        </p:txBody>
      </p:sp>
      <p:sp>
        <p:nvSpPr>
          <p:cNvPr id="193" name="Google Shape;193;p15"/>
          <p:cNvSpPr/>
          <p:nvPr/>
        </p:nvSpPr>
        <p:spPr>
          <a:xfrm>
            <a:off x="457200" y="5486400"/>
            <a:ext cx="7924800" cy="520505"/>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Lets learn about string functions which will help us meet TIM’s requirements..</a:t>
            </a:r>
            <a:endParaRPr/>
          </a:p>
        </p:txBody>
      </p:sp>
      <p:sp>
        <p:nvSpPr>
          <p:cNvPr id="194" name="Google Shape;194;p15"/>
          <p:cNvSpPr txBox="1">
            <a:spLocks noGrp="1"/>
          </p:cNvSpPr>
          <p:nvPr>
            <p:ph type="title"/>
          </p:nvPr>
        </p:nvSpPr>
        <p:spPr>
          <a:xfrm>
            <a:off x="1303020" y="-152400"/>
            <a:ext cx="829818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Scenario</a:t>
            </a:r>
            <a:endParaRPr/>
          </a:p>
        </p:txBody>
      </p:sp>
      <p:pic>
        <p:nvPicPr>
          <p:cNvPr id="195" name="Google Shape;195;p15" descr="http://t2.gstatic.com/images?q=tbn:ANd9GcTL1mkdoyuwr_kQ_JSoRzK49ZhvsNdgTBkXnCBFnKi-LZ3XUlKd&amp;t=1"/>
          <p:cNvPicPr preferRelativeResize="0"/>
          <p:nvPr/>
        </p:nvPicPr>
        <p:blipFill rotWithShape="1">
          <a:blip r:embed="rId3">
            <a:alphaModFix/>
          </a:blip>
          <a:srcRect/>
          <a:stretch/>
        </p:blipFill>
        <p:spPr>
          <a:xfrm>
            <a:off x="2133600" y="3429000"/>
            <a:ext cx="716508" cy="1524000"/>
          </a:xfrm>
          <a:prstGeom prst="roundRect">
            <a:avLst>
              <a:gd name="adj" fmla="val 8594"/>
            </a:avLst>
          </a:prstGeom>
          <a:solidFill>
            <a:srgbClr val="ECECEC"/>
          </a:solidFill>
          <a:ln>
            <a:noFill/>
          </a:ln>
          <a:effectLst>
            <a:reflection stA="38000" endPos="28000" dist="5000" dir="5400000" sy="-100000" algn="bl" rotWithShape="0"/>
          </a:effectLst>
        </p:spPr>
      </p:pic>
      <p:sp>
        <p:nvSpPr>
          <p:cNvPr id="196" name="Google Shape;196;p15"/>
          <p:cNvSpPr/>
          <p:nvPr/>
        </p:nvSpPr>
        <p:spPr>
          <a:xfrm>
            <a:off x="3200400" y="2209800"/>
            <a:ext cx="4038600" cy="1676400"/>
          </a:xfrm>
          <a:prstGeom prst="wedgeEllipseCallout">
            <a:avLst>
              <a:gd name="adj1" fmla="val -53321"/>
              <a:gd name="adj2" fmla="val 60557"/>
            </a:avLst>
          </a:prstGeom>
          <a:solidFill>
            <a:srgbClr val="EAF1DD"/>
          </a:solidFill>
          <a:ln w="9525"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4800">
                <a:solidFill>
                  <a:srgbClr val="00B0F0"/>
                </a:solidFill>
                <a:latin typeface="Calibri"/>
                <a:ea typeface="Calibri"/>
                <a:cs typeface="Calibri"/>
                <a:sym typeface="Calibri"/>
              </a:rPr>
              <a:t>Hi! </a:t>
            </a:r>
            <a:endParaRPr/>
          </a:p>
          <a:p>
            <a:pPr marL="0" marR="0" lvl="0" indent="0" algn="ctr" rtl="0">
              <a:spcBef>
                <a:spcPts val="0"/>
              </a:spcBef>
              <a:spcAft>
                <a:spcPts val="0"/>
              </a:spcAft>
              <a:buNone/>
            </a:pPr>
            <a:r>
              <a:rPr lang="en-US" sz="1600">
                <a:solidFill>
                  <a:srgbClr val="494429"/>
                </a:solidFill>
                <a:latin typeface="Calibri"/>
                <a:ea typeface="Calibri"/>
                <a:cs typeface="Calibri"/>
                <a:sym typeface="Calibri"/>
              </a:rPr>
              <a:t>Write a query to display the customer and employee names in the capital letters.</a:t>
            </a:r>
            <a:endParaRPr sz="1600">
              <a:solidFill>
                <a:srgbClr val="494429"/>
              </a:solidFill>
              <a:latin typeface="Calibri"/>
              <a:ea typeface="Calibri"/>
              <a:cs typeface="Calibri"/>
              <a:sym typeface="Calibri"/>
            </a:endParaRPr>
          </a:p>
        </p:txBody>
      </p:sp>
      <p:sp>
        <p:nvSpPr>
          <p:cNvPr id="197" name="Google Shape;197;p15"/>
          <p:cNvSpPr txBox="1">
            <a:spLocks noGrp="1"/>
          </p:cNvSpPr>
          <p:nvPr>
            <p:ph type="sldNum" idx="12"/>
          </p:nvPr>
        </p:nvSpPr>
        <p:spPr>
          <a:xfrm>
            <a:off x="138752" y="6414139"/>
            <a:ext cx="457200" cy="277813"/>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fld id="{00000000-1234-1234-1234-123412341234}" type="slidenum">
              <a:rPr lang="en-US"/>
              <a:t>15</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95"/>
                                        </p:tgtEl>
                                        <p:attrNameLst>
                                          <p:attrName>style.visibility</p:attrName>
                                        </p:attrNameLst>
                                      </p:cBhvr>
                                      <p:to>
                                        <p:strVal val="visible"/>
                                      </p:to>
                                    </p:set>
                                    <p:animEffect transition="in" filter="fade">
                                      <p:cBhvr>
                                        <p:cTn id="7" dur="500"/>
                                        <p:tgtEl>
                                          <p:spTgt spid="195"/>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196"/>
                                        </p:tgtEl>
                                        <p:attrNameLst>
                                          <p:attrName>style.visibility</p:attrName>
                                        </p:attrNameLst>
                                      </p:cBhvr>
                                      <p:to>
                                        <p:strVal val="visible"/>
                                      </p:to>
                                    </p:set>
                                    <p:animEffect transition="in" filter="fade">
                                      <p:cBhvr>
                                        <p:cTn id="11" dur="1000"/>
                                        <p:tgtEl>
                                          <p:spTgt spid="1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p16"/>
          <p:cNvSpPr txBox="1">
            <a:spLocks noGrp="1"/>
          </p:cNvSpPr>
          <p:nvPr>
            <p:ph type="title"/>
          </p:nvPr>
        </p:nvSpPr>
        <p:spPr>
          <a:xfrm>
            <a:off x="1303020" y="-152400"/>
            <a:ext cx="829818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Scalar Functions </a:t>
            </a:r>
            <a:endParaRPr/>
          </a:p>
        </p:txBody>
      </p:sp>
      <p:sp>
        <p:nvSpPr>
          <p:cNvPr id="204" name="Google Shape;204;p16"/>
          <p:cNvSpPr txBox="1">
            <a:spLocks noGrp="1"/>
          </p:cNvSpPr>
          <p:nvPr>
            <p:ph type="body" idx="1"/>
          </p:nvPr>
        </p:nvSpPr>
        <p:spPr>
          <a:xfrm>
            <a:off x="381000" y="990600"/>
            <a:ext cx="8686800" cy="4946650"/>
          </a:xfrm>
          <a:prstGeom prst="rect">
            <a:avLst/>
          </a:prstGeom>
          <a:noFill/>
          <a:ln>
            <a:noFill/>
          </a:ln>
        </p:spPr>
        <p:txBody>
          <a:bodyPr spcFirstLastPara="1" wrap="square" lIns="91425" tIns="45700" rIns="91425" bIns="45700" anchor="t" anchorCtr="0">
            <a:noAutofit/>
          </a:bodyPr>
          <a:lstStyle/>
          <a:p>
            <a:pPr marL="0" lvl="0" indent="0" algn="l" rtl="0">
              <a:lnSpc>
                <a:spcPct val="120000"/>
              </a:lnSpc>
              <a:spcBef>
                <a:spcPts val="0"/>
              </a:spcBef>
              <a:spcAft>
                <a:spcPts val="0"/>
              </a:spcAft>
              <a:buClr>
                <a:schemeClr val="dk1"/>
              </a:buClr>
              <a:buSzPts val="2400"/>
              <a:buNone/>
            </a:pPr>
            <a:r>
              <a:rPr lang="en-US" sz="2400" b="1"/>
              <a:t>Scalar Functions </a:t>
            </a:r>
            <a:endParaRPr/>
          </a:p>
          <a:p>
            <a:pPr marL="731520" lvl="0" indent="-365760" algn="l" rtl="0">
              <a:lnSpc>
                <a:spcPct val="120000"/>
              </a:lnSpc>
              <a:spcBef>
                <a:spcPts val="0"/>
              </a:spcBef>
              <a:spcAft>
                <a:spcPts val="0"/>
              </a:spcAft>
              <a:buClr>
                <a:schemeClr val="dk1"/>
              </a:buClr>
              <a:buSzPts val="2200"/>
              <a:buChar char="•"/>
            </a:pPr>
            <a:r>
              <a:rPr lang="en-US" sz="2200"/>
              <a:t>Require no arguments, or at most one argument, to be passed to them; they return a single value that is based on the input value. </a:t>
            </a:r>
            <a:endParaRPr sz="2200"/>
          </a:p>
          <a:p>
            <a:pPr marL="731520" lvl="0" indent="-365760" algn="l" rtl="0">
              <a:lnSpc>
                <a:spcPct val="120000"/>
              </a:lnSpc>
              <a:spcBef>
                <a:spcPts val="0"/>
              </a:spcBef>
              <a:spcAft>
                <a:spcPts val="0"/>
              </a:spcAft>
              <a:buClr>
                <a:schemeClr val="dk1"/>
              </a:buClr>
              <a:buSzPts val="2200"/>
              <a:buChar char="•"/>
            </a:pPr>
            <a:r>
              <a:rPr lang="en-US" sz="2200"/>
              <a:t>Scalar functions can be broken down into the subcategories shown in the following table, based upon their intended use:</a:t>
            </a:r>
            <a:endParaRPr sz="2200" b="1"/>
          </a:p>
        </p:txBody>
      </p:sp>
      <p:graphicFrame>
        <p:nvGraphicFramePr>
          <p:cNvPr id="205" name="Google Shape;205;p16"/>
          <p:cNvGraphicFramePr/>
          <p:nvPr/>
        </p:nvGraphicFramePr>
        <p:xfrm>
          <a:off x="457201" y="3124200"/>
          <a:ext cx="8153400" cy="2834690"/>
        </p:xfrm>
        <a:graphic>
          <a:graphicData uri="http://schemas.openxmlformats.org/drawingml/2006/table">
            <a:tbl>
              <a:tblPr firstRow="1" bandRow="1">
                <a:noFill/>
                <a:tableStyleId>{7FFFBDA3-1227-47A5-887F-83766C0D3143}</a:tableStyleId>
              </a:tblPr>
              <a:tblGrid>
                <a:gridCol w="2057400"/>
                <a:gridCol w="6096000"/>
              </a:tblGrid>
              <a:tr h="370850">
                <a:tc>
                  <a:txBody>
                    <a:bodyPr/>
                    <a:lstStyle/>
                    <a:p>
                      <a:pPr marL="0" marR="0" lvl="0" indent="0" algn="l" rtl="0">
                        <a:spcBef>
                          <a:spcPts val="0"/>
                        </a:spcBef>
                        <a:spcAft>
                          <a:spcPts val="0"/>
                        </a:spcAft>
                        <a:buNone/>
                      </a:pPr>
                      <a:r>
                        <a:rPr lang="en-US" sz="1600"/>
                        <a:t>Category</a:t>
                      </a:r>
                      <a:endParaRPr sz="1600"/>
                    </a:p>
                  </a:txBody>
                  <a:tcPr marL="91450" marR="91450" marT="45725" marB="45725"/>
                </a:tc>
                <a:tc>
                  <a:txBody>
                    <a:bodyPr/>
                    <a:lstStyle/>
                    <a:p>
                      <a:pPr marL="0" marR="0" lvl="0" indent="0" algn="l" rtl="0">
                        <a:spcBef>
                          <a:spcPts val="0"/>
                        </a:spcBef>
                        <a:spcAft>
                          <a:spcPts val="0"/>
                        </a:spcAft>
                        <a:buNone/>
                      </a:pPr>
                      <a:r>
                        <a:rPr lang="en-US" sz="1600"/>
                        <a:t>Usage</a:t>
                      </a:r>
                      <a:endParaRPr sz="1600"/>
                    </a:p>
                  </a:txBody>
                  <a:tcPr marL="91450" marR="91450" marT="45725" marB="45725"/>
                </a:tc>
              </a:tr>
              <a:tr h="370850">
                <a:tc>
                  <a:txBody>
                    <a:bodyPr/>
                    <a:lstStyle/>
                    <a:p>
                      <a:pPr marL="0" marR="0" lvl="0" indent="0" algn="l" rtl="0">
                        <a:spcBef>
                          <a:spcPts val="0"/>
                        </a:spcBef>
                        <a:spcAft>
                          <a:spcPts val="0"/>
                        </a:spcAft>
                        <a:buNone/>
                      </a:pPr>
                      <a:r>
                        <a:rPr lang="en-US" sz="1600"/>
                        <a:t>Built-in</a:t>
                      </a:r>
                      <a:endParaRPr sz="1600"/>
                    </a:p>
                  </a:txBody>
                  <a:tcPr marL="91450" marR="91450" marT="45725" marB="45725"/>
                </a:tc>
                <a:tc>
                  <a:txBody>
                    <a:bodyPr/>
                    <a:lstStyle/>
                    <a:p>
                      <a:pPr marL="0" marR="0" lvl="0" indent="0" algn="l" rtl="0">
                        <a:spcBef>
                          <a:spcPts val="0"/>
                        </a:spcBef>
                        <a:spcAft>
                          <a:spcPts val="0"/>
                        </a:spcAft>
                        <a:buNone/>
                      </a:pPr>
                      <a:r>
                        <a:rPr lang="en-US" sz="1600"/>
                        <a:t>These functions perform operations on values and settings that are built into the database (such as specifics dealing with the user session)</a:t>
                      </a:r>
                      <a:endParaRPr sz="1600"/>
                    </a:p>
                  </a:txBody>
                  <a:tcPr marL="91450" marR="91450" marT="45725" marB="45725"/>
                </a:tc>
              </a:tr>
              <a:tr h="370850">
                <a:tc>
                  <a:txBody>
                    <a:bodyPr/>
                    <a:lstStyle/>
                    <a:p>
                      <a:pPr marL="0" marR="0" lvl="0" indent="0" algn="l" rtl="0">
                        <a:spcBef>
                          <a:spcPts val="0"/>
                        </a:spcBef>
                        <a:spcAft>
                          <a:spcPts val="0"/>
                        </a:spcAft>
                        <a:buNone/>
                      </a:pPr>
                      <a:r>
                        <a:rPr lang="en-US" sz="1600"/>
                        <a:t>String</a:t>
                      </a:r>
                      <a:endParaRPr sz="1600"/>
                    </a:p>
                  </a:txBody>
                  <a:tcPr marL="91450" marR="91450" marT="45725" marB="45725"/>
                </a:tc>
                <a:tc>
                  <a:txBody>
                    <a:bodyPr/>
                    <a:lstStyle/>
                    <a:p>
                      <a:pPr marL="0" marR="0" lvl="0" indent="0" algn="l" rtl="0">
                        <a:spcBef>
                          <a:spcPts val="0"/>
                        </a:spcBef>
                        <a:spcAft>
                          <a:spcPts val="0"/>
                        </a:spcAft>
                        <a:buNone/>
                      </a:pPr>
                      <a:r>
                        <a:rPr lang="en-US" sz="1600"/>
                        <a:t>These functions perform operations on character values such as CHAR and VARCHAR and they can return either numeric or string values.</a:t>
                      </a:r>
                      <a:endParaRPr sz="1600"/>
                    </a:p>
                  </a:txBody>
                  <a:tcPr marL="91450" marR="91450" marT="45725" marB="45725"/>
                </a:tc>
              </a:tr>
              <a:tr h="370850">
                <a:tc>
                  <a:txBody>
                    <a:bodyPr/>
                    <a:lstStyle/>
                    <a:p>
                      <a:pPr marL="0" marR="0" lvl="0" indent="0" algn="l" rtl="0">
                        <a:spcBef>
                          <a:spcPts val="0"/>
                        </a:spcBef>
                        <a:spcAft>
                          <a:spcPts val="0"/>
                        </a:spcAft>
                        <a:buNone/>
                      </a:pPr>
                      <a:r>
                        <a:rPr lang="en-US" sz="1600"/>
                        <a:t>Numeric/Mathematic</a:t>
                      </a:r>
                      <a:endParaRPr/>
                    </a:p>
                  </a:txBody>
                  <a:tcPr marL="91450" marR="91450" marT="45725" marB="45725"/>
                </a:tc>
                <a:tc>
                  <a:txBody>
                    <a:bodyPr/>
                    <a:lstStyle/>
                    <a:p>
                      <a:pPr marL="0" marR="0" lvl="0" indent="0" algn="l" rtl="0">
                        <a:spcBef>
                          <a:spcPts val="0"/>
                        </a:spcBef>
                        <a:spcAft>
                          <a:spcPts val="0"/>
                        </a:spcAft>
                        <a:buNone/>
                      </a:pPr>
                      <a:r>
                        <a:rPr lang="en-US" sz="1600"/>
                        <a:t>These functions perform operations on numeric values.</a:t>
                      </a:r>
                      <a:endParaRPr sz="1600"/>
                    </a:p>
                  </a:txBody>
                  <a:tcPr marL="91450" marR="91450" marT="45725" marB="45725"/>
                </a:tc>
              </a:tr>
              <a:tr h="370850">
                <a:tc>
                  <a:txBody>
                    <a:bodyPr/>
                    <a:lstStyle/>
                    <a:p>
                      <a:pPr marL="0" marR="0" lvl="0" indent="0" algn="l" rtl="0">
                        <a:spcBef>
                          <a:spcPts val="0"/>
                        </a:spcBef>
                        <a:spcAft>
                          <a:spcPts val="0"/>
                        </a:spcAft>
                        <a:buNone/>
                      </a:pPr>
                      <a:r>
                        <a:rPr lang="en-US" sz="1600"/>
                        <a:t>Date and Time</a:t>
                      </a:r>
                      <a:endParaRPr sz="1600"/>
                    </a:p>
                  </a:txBody>
                  <a:tcPr marL="91450" marR="91450" marT="45725" marB="45725"/>
                </a:tc>
                <a:tc>
                  <a:txBody>
                    <a:bodyPr/>
                    <a:lstStyle/>
                    <a:p>
                      <a:pPr marL="0" marR="0" lvl="0" indent="0" algn="l" rtl="0">
                        <a:spcBef>
                          <a:spcPts val="0"/>
                        </a:spcBef>
                        <a:spcAft>
                          <a:spcPts val="0"/>
                        </a:spcAft>
                        <a:buNone/>
                      </a:pPr>
                      <a:r>
                        <a:rPr lang="en-US" sz="1600"/>
                        <a:t>These functions perform operations on date/time fields.</a:t>
                      </a:r>
                      <a:endParaRPr sz="1600"/>
                    </a:p>
                  </a:txBody>
                  <a:tcPr marL="91450" marR="91450" marT="45725" marB="45725"/>
                </a:tc>
              </a:tr>
              <a:tr h="370850">
                <a:tc>
                  <a:txBody>
                    <a:bodyPr/>
                    <a:lstStyle/>
                    <a:p>
                      <a:pPr marL="0" marR="0" lvl="0" indent="0" algn="l" rtl="0">
                        <a:spcBef>
                          <a:spcPts val="0"/>
                        </a:spcBef>
                        <a:spcAft>
                          <a:spcPts val="0"/>
                        </a:spcAft>
                        <a:buNone/>
                      </a:pPr>
                      <a:r>
                        <a:rPr lang="en-US" sz="1600"/>
                        <a:t>CASE and CAST</a:t>
                      </a:r>
                      <a:endParaRPr sz="1600">
                        <a:solidFill>
                          <a:schemeClr val="dk1"/>
                        </a:solidFill>
                        <a:latin typeface="Calibri"/>
                        <a:ea typeface="Calibri"/>
                        <a:cs typeface="Calibri"/>
                        <a:sym typeface="Calibri"/>
                      </a:endParaRPr>
                    </a:p>
                  </a:txBody>
                  <a:tcPr marL="38100" marR="38100" marT="38100" marB="38100" anchor="ctr"/>
                </a:tc>
                <a:tc>
                  <a:txBody>
                    <a:bodyPr/>
                    <a:lstStyle/>
                    <a:p>
                      <a:pPr marL="0" marR="0" lvl="0" indent="0" algn="l" rtl="0">
                        <a:spcBef>
                          <a:spcPts val="0"/>
                        </a:spcBef>
                        <a:spcAft>
                          <a:spcPts val="0"/>
                        </a:spcAft>
                        <a:buNone/>
                      </a:pPr>
                      <a:r>
                        <a:rPr lang="en-US" sz="1600"/>
                        <a:t>CASE supplies IF-THEN logic to SQL statements and CAST can convert values from one data type to another.</a:t>
                      </a:r>
                      <a:endParaRPr sz="1600">
                        <a:solidFill>
                          <a:schemeClr val="dk1"/>
                        </a:solidFill>
                        <a:latin typeface="Calibri"/>
                        <a:ea typeface="Calibri"/>
                        <a:cs typeface="Calibri"/>
                        <a:sym typeface="Calibri"/>
                      </a:endParaRPr>
                    </a:p>
                  </a:txBody>
                  <a:tcPr marL="38100" marR="38100" marT="38100" marB="38100" anchor="ctr"/>
                </a:tc>
              </a:tr>
            </a:tbl>
          </a:graphicData>
        </a:graphic>
      </p:graphicFrame>
      <p:sp>
        <p:nvSpPr>
          <p:cNvPr id="206" name="Google Shape;206;p16"/>
          <p:cNvSpPr txBox="1">
            <a:spLocks noGrp="1"/>
          </p:cNvSpPr>
          <p:nvPr>
            <p:ph type="sldNum" idx="12"/>
          </p:nvPr>
        </p:nvSpPr>
        <p:spPr>
          <a:xfrm>
            <a:off x="138752" y="6414139"/>
            <a:ext cx="457200" cy="277813"/>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fld id="{00000000-1234-1234-1234-123412341234}" type="slidenum">
              <a:rPr lang="en-US"/>
              <a:t>16</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05"/>
                                        </p:tgtEl>
                                        <p:attrNameLst>
                                          <p:attrName>style.visibility</p:attrName>
                                        </p:attrNameLst>
                                      </p:cBhvr>
                                      <p:to>
                                        <p:strVal val="visible"/>
                                      </p:to>
                                    </p:set>
                                    <p:animEffect transition="in" filter="fade">
                                      <p:cBhvr>
                                        <p:cTn id="7" dur="500"/>
                                        <p:tgtEl>
                                          <p:spTgt spid="2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Google Shape;212;p17"/>
          <p:cNvSpPr txBox="1">
            <a:spLocks noGrp="1"/>
          </p:cNvSpPr>
          <p:nvPr>
            <p:ph type="body" idx="1"/>
          </p:nvPr>
        </p:nvSpPr>
        <p:spPr>
          <a:xfrm>
            <a:off x="381000" y="1225550"/>
            <a:ext cx="8686800" cy="4946650"/>
          </a:xfrm>
          <a:prstGeom prst="rect">
            <a:avLst/>
          </a:prstGeom>
          <a:noFill/>
          <a:ln>
            <a:noFill/>
          </a:ln>
        </p:spPr>
        <p:txBody>
          <a:bodyPr spcFirstLastPara="1" wrap="square" lIns="91425" tIns="45700" rIns="91425" bIns="45700" anchor="t" anchorCtr="0">
            <a:noAutofit/>
          </a:bodyPr>
          <a:lstStyle/>
          <a:p>
            <a:pPr marL="731520" lvl="0" indent="-365760" algn="l" rtl="0">
              <a:lnSpc>
                <a:spcPct val="120000"/>
              </a:lnSpc>
              <a:spcBef>
                <a:spcPts val="0"/>
              </a:spcBef>
              <a:spcAft>
                <a:spcPts val="0"/>
              </a:spcAft>
              <a:buClr>
                <a:schemeClr val="dk1"/>
              </a:buClr>
              <a:buSzPts val="2200"/>
              <a:buChar char="•"/>
            </a:pPr>
            <a:r>
              <a:rPr lang="en-US" sz="2200" b="1"/>
              <a:t>Built-in scalar functions </a:t>
            </a:r>
            <a:r>
              <a:rPr lang="en-US" sz="2200"/>
              <a:t>identify both the current user session and the characteristics of the current user session, such as the current session privileges. </a:t>
            </a:r>
            <a:endParaRPr sz="2200"/>
          </a:p>
          <a:p>
            <a:pPr marL="731520" lvl="0" indent="-365760" algn="l" rtl="0">
              <a:lnSpc>
                <a:spcPct val="120000"/>
              </a:lnSpc>
              <a:spcBef>
                <a:spcPts val="0"/>
              </a:spcBef>
              <a:spcAft>
                <a:spcPts val="0"/>
              </a:spcAft>
              <a:buClr>
                <a:schemeClr val="dk1"/>
              </a:buClr>
              <a:buSzPts val="2200"/>
              <a:buChar char="•"/>
            </a:pPr>
            <a:r>
              <a:rPr lang="en-US" sz="2200"/>
              <a:t>Built-in scalar functions are always nondeterministic. </a:t>
            </a:r>
            <a:endParaRPr sz="2200"/>
          </a:p>
          <a:p>
            <a:pPr marL="731520" lvl="0" indent="-365760" algn="l" rtl="0">
              <a:lnSpc>
                <a:spcPct val="120000"/>
              </a:lnSpc>
              <a:spcBef>
                <a:spcPts val="0"/>
              </a:spcBef>
              <a:spcAft>
                <a:spcPts val="0"/>
              </a:spcAft>
              <a:buClr>
                <a:schemeClr val="dk1"/>
              </a:buClr>
              <a:buSzPts val="2200"/>
              <a:buNone/>
            </a:pPr>
            <a:endParaRPr sz="2200"/>
          </a:p>
        </p:txBody>
      </p:sp>
      <p:sp>
        <p:nvSpPr>
          <p:cNvPr id="213" name="Google Shape;213;p17"/>
          <p:cNvSpPr txBox="1">
            <a:spLocks noGrp="1"/>
          </p:cNvSpPr>
          <p:nvPr>
            <p:ph type="title"/>
          </p:nvPr>
        </p:nvSpPr>
        <p:spPr>
          <a:xfrm>
            <a:off x="1303020" y="-152400"/>
            <a:ext cx="829818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Built-in Scalar Functions</a:t>
            </a:r>
            <a:endParaRPr/>
          </a:p>
        </p:txBody>
      </p:sp>
      <p:sp>
        <p:nvSpPr>
          <p:cNvPr id="214" name="Google Shape;214;p17"/>
          <p:cNvSpPr/>
          <p:nvPr/>
        </p:nvSpPr>
        <p:spPr>
          <a:xfrm>
            <a:off x="228600" y="2262188"/>
            <a:ext cx="9144000" cy="457200"/>
          </a:xfrm>
          <a:prstGeom prst="rect">
            <a:avLst/>
          </a:prstGeom>
          <a:noFill/>
          <a:ln>
            <a:noFill/>
          </a:ln>
        </p:spPr>
        <p:txBody>
          <a:bodyPr spcFirstLastPara="1" wrap="square" lIns="91425" tIns="45700" rIns="91425" bIns="45700" anchor="ctr" anchorCtr="0">
            <a:spAutoFit/>
          </a:bodyPr>
          <a:lstStyle/>
          <a:p>
            <a:pPr marL="0" marR="0" lvl="0" indent="0" algn="l" rtl="0">
              <a:lnSpc>
                <a:spcPct val="100000"/>
              </a:lnSpc>
              <a:spcBef>
                <a:spcPts val="0"/>
              </a:spcBef>
              <a:spcAft>
                <a:spcPts val="0"/>
              </a:spcAft>
              <a:buClr>
                <a:schemeClr val="dk1"/>
              </a:buClr>
              <a:buSzPts val="1800"/>
              <a:buFont typeface="Arial"/>
              <a:buNone/>
            </a:pPr>
            <a:r>
              <a:rPr lang="en-US" sz="1800" b="0" i="0" u="none" strike="noStrike" cap="none">
                <a:solidFill>
                  <a:schemeClr val="dk1"/>
                </a:solidFill>
                <a:latin typeface="Arial"/>
                <a:ea typeface="Arial"/>
                <a:cs typeface="Arial"/>
                <a:sym typeface="Arial"/>
              </a:rPr>
              <a:t/>
            </a:r>
            <a:br>
              <a:rPr lang="en-US" sz="1800" b="0" i="0" u="none" strike="noStrike" cap="none">
                <a:solidFill>
                  <a:schemeClr val="dk1"/>
                </a:solidFill>
                <a:latin typeface="Arial"/>
                <a:ea typeface="Arial"/>
                <a:cs typeface="Arial"/>
                <a:sym typeface="Arial"/>
              </a:rPr>
            </a:br>
            <a:endParaRPr sz="1800" b="0" i="0" u="none" strike="noStrike" cap="none">
              <a:solidFill>
                <a:schemeClr val="dk1"/>
              </a:solidFill>
              <a:latin typeface="Arial"/>
              <a:ea typeface="Arial"/>
              <a:cs typeface="Arial"/>
              <a:sym typeface="Arial"/>
            </a:endParaRPr>
          </a:p>
        </p:txBody>
      </p:sp>
      <p:graphicFrame>
        <p:nvGraphicFramePr>
          <p:cNvPr id="215" name="Google Shape;215;p17"/>
          <p:cNvGraphicFramePr/>
          <p:nvPr/>
        </p:nvGraphicFramePr>
        <p:xfrm>
          <a:off x="1143000" y="3094990"/>
          <a:ext cx="7543800" cy="2975015"/>
        </p:xfrm>
        <a:graphic>
          <a:graphicData uri="http://schemas.openxmlformats.org/drawingml/2006/table">
            <a:tbl>
              <a:tblPr firstRow="1" bandRow="1">
                <a:noFill/>
                <a:tableStyleId>{7FFFBDA3-1227-47A5-887F-83766C0D3143}</a:tableStyleId>
              </a:tblPr>
              <a:tblGrid>
                <a:gridCol w="1905000"/>
                <a:gridCol w="5638800"/>
              </a:tblGrid>
              <a:tr h="370850">
                <a:tc>
                  <a:txBody>
                    <a:bodyPr/>
                    <a:lstStyle/>
                    <a:p>
                      <a:pPr marL="0" marR="0" lvl="0" indent="0" algn="ctr" rtl="0">
                        <a:spcBef>
                          <a:spcPts val="0"/>
                        </a:spcBef>
                        <a:spcAft>
                          <a:spcPts val="0"/>
                        </a:spcAft>
                        <a:buNone/>
                      </a:pPr>
                      <a:r>
                        <a:rPr lang="en-US" sz="1800" u="none" strike="noStrike"/>
                        <a:t>Function </a:t>
                      </a:r>
                      <a:endParaRPr sz="1800" b="1" i="0" u="none" strike="noStrike">
                        <a:solidFill>
                          <a:schemeClr val="lt1"/>
                        </a:solidFill>
                        <a:latin typeface="Calibri"/>
                        <a:ea typeface="Calibri"/>
                        <a:cs typeface="Calibri"/>
                        <a:sym typeface="Calibri"/>
                      </a:endParaRPr>
                    </a:p>
                  </a:txBody>
                  <a:tcPr marL="9525" marR="9525" marT="9525" marB="0" anchor="ctr"/>
                </a:tc>
                <a:tc>
                  <a:txBody>
                    <a:bodyPr/>
                    <a:lstStyle/>
                    <a:p>
                      <a:pPr marL="0" marR="0" lvl="0" indent="0" algn="ctr" rtl="0">
                        <a:spcBef>
                          <a:spcPts val="0"/>
                        </a:spcBef>
                        <a:spcAft>
                          <a:spcPts val="0"/>
                        </a:spcAft>
                        <a:buNone/>
                      </a:pPr>
                      <a:r>
                        <a:rPr lang="en-US" sz="1800" u="none" strike="noStrike"/>
                        <a:t>Usage</a:t>
                      </a:r>
                      <a:endParaRPr sz="1800" b="1" i="0" u="none" strike="noStrike">
                        <a:solidFill>
                          <a:schemeClr val="lt1"/>
                        </a:solidFill>
                        <a:latin typeface="Calibri"/>
                        <a:ea typeface="Calibri"/>
                        <a:cs typeface="Calibri"/>
                        <a:sym typeface="Calibri"/>
                      </a:endParaRPr>
                    </a:p>
                  </a:txBody>
                  <a:tcPr marL="9525" marR="9525" marT="9525" marB="0" anchor="ctr"/>
                </a:tc>
              </a:tr>
              <a:tr h="370850">
                <a:tc>
                  <a:txBody>
                    <a:bodyPr/>
                    <a:lstStyle/>
                    <a:p>
                      <a:pPr marL="0" marR="0" lvl="0" indent="0" algn="l" rtl="0">
                        <a:spcBef>
                          <a:spcPts val="0"/>
                        </a:spcBef>
                        <a:spcAft>
                          <a:spcPts val="0"/>
                        </a:spcAft>
                        <a:buNone/>
                      </a:pPr>
                      <a:r>
                        <a:rPr lang="en-US" sz="1600" u="none" strike="noStrike"/>
                        <a:t>CURRENT_DATE </a:t>
                      </a:r>
                      <a:endParaRPr sz="1600" b="0" i="0" u="none" strike="noStrike">
                        <a:solidFill>
                          <a:srgbClr val="000000"/>
                        </a:solidFill>
                        <a:latin typeface="Calibri"/>
                        <a:ea typeface="Calibri"/>
                        <a:cs typeface="Calibri"/>
                        <a:sym typeface="Calibri"/>
                      </a:endParaRPr>
                    </a:p>
                  </a:txBody>
                  <a:tcPr marL="9525" marR="9525" marT="9525" marB="0" anchor="ctr"/>
                </a:tc>
                <a:tc>
                  <a:txBody>
                    <a:bodyPr/>
                    <a:lstStyle/>
                    <a:p>
                      <a:pPr marL="0" marR="0" lvl="0" indent="0" algn="l" rtl="0">
                        <a:spcBef>
                          <a:spcPts val="0"/>
                        </a:spcBef>
                        <a:spcAft>
                          <a:spcPts val="0"/>
                        </a:spcAft>
                        <a:buNone/>
                      </a:pPr>
                      <a:r>
                        <a:rPr lang="en-US" sz="1600" u="none" strike="noStrike"/>
                        <a:t>Identifies the current date.</a:t>
                      </a:r>
                      <a:endParaRPr sz="1600" b="0" i="0" u="none" strike="noStrike">
                        <a:solidFill>
                          <a:srgbClr val="000000"/>
                        </a:solidFill>
                        <a:latin typeface="Calibri"/>
                        <a:ea typeface="Calibri"/>
                        <a:cs typeface="Calibri"/>
                        <a:sym typeface="Calibri"/>
                      </a:endParaRPr>
                    </a:p>
                  </a:txBody>
                  <a:tcPr marL="9525" marR="9525" marT="9525" marB="0" anchor="ctr"/>
                </a:tc>
              </a:tr>
              <a:tr h="370850">
                <a:tc>
                  <a:txBody>
                    <a:bodyPr/>
                    <a:lstStyle/>
                    <a:p>
                      <a:pPr marL="0" marR="0" lvl="0" indent="0" algn="l" rtl="0">
                        <a:spcBef>
                          <a:spcPts val="0"/>
                        </a:spcBef>
                        <a:spcAft>
                          <a:spcPts val="0"/>
                        </a:spcAft>
                        <a:buNone/>
                      </a:pPr>
                      <a:r>
                        <a:rPr lang="en-US" sz="1600" u="none" strike="noStrike"/>
                        <a:t>CURRENT_TIME </a:t>
                      </a:r>
                      <a:endParaRPr sz="1600" b="0" i="0" u="none" strike="noStrike">
                        <a:solidFill>
                          <a:srgbClr val="000000"/>
                        </a:solidFill>
                        <a:latin typeface="Calibri"/>
                        <a:ea typeface="Calibri"/>
                        <a:cs typeface="Calibri"/>
                        <a:sym typeface="Calibri"/>
                      </a:endParaRPr>
                    </a:p>
                  </a:txBody>
                  <a:tcPr marL="9525" marR="9525" marT="9525" marB="0" anchor="ctr"/>
                </a:tc>
                <a:tc>
                  <a:txBody>
                    <a:bodyPr/>
                    <a:lstStyle/>
                    <a:p>
                      <a:pPr marL="0" marR="0" lvl="0" indent="0" algn="l" rtl="0">
                        <a:spcBef>
                          <a:spcPts val="0"/>
                        </a:spcBef>
                        <a:spcAft>
                          <a:spcPts val="0"/>
                        </a:spcAft>
                        <a:buNone/>
                      </a:pPr>
                      <a:r>
                        <a:rPr lang="en-US" sz="1600" u="none" strike="noStrike"/>
                        <a:t>Identifies the current time.</a:t>
                      </a:r>
                      <a:endParaRPr sz="1600" b="0" i="0" u="none" strike="noStrike">
                        <a:solidFill>
                          <a:srgbClr val="000000"/>
                        </a:solidFill>
                        <a:latin typeface="Calibri"/>
                        <a:ea typeface="Calibri"/>
                        <a:cs typeface="Calibri"/>
                        <a:sym typeface="Calibri"/>
                      </a:endParaRPr>
                    </a:p>
                  </a:txBody>
                  <a:tcPr marL="9525" marR="9525" marT="9525" marB="0" anchor="ctr"/>
                </a:tc>
              </a:tr>
              <a:tr h="370850">
                <a:tc>
                  <a:txBody>
                    <a:bodyPr/>
                    <a:lstStyle/>
                    <a:p>
                      <a:pPr marL="0" marR="0" lvl="0" indent="0" algn="l" rtl="0">
                        <a:spcBef>
                          <a:spcPts val="0"/>
                        </a:spcBef>
                        <a:spcAft>
                          <a:spcPts val="0"/>
                        </a:spcAft>
                        <a:buNone/>
                      </a:pPr>
                      <a:r>
                        <a:rPr lang="en-US" sz="1600" u="none" strike="noStrike"/>
                        <a:t>CURRENT_TIMESTAMP </a:t>
                      </a:r>
                      <a:endParaRPr sz="1600" b="0" i="0" u="none" strike="noStrike">
                        <a:solidFill>
                          <a:srgbClr val="000000"/>
                        </a:solidFill>
                        <a:latin typeface="Calibri"/>
                        <a:ea typeface="Calibri"/>
                        <a:cs typeface="Calibri"/>
                        <a:sym typeface="Calibri"/>
                      </a:endParaRPr>
                    </a:p>
                  </a:txBody>
                  <a:tcPr marL="9525" marR="9525" marT="9525" marB="0" anchor="ctr"/>
                </a:tc>
                <a:tc>
                  <a:txBody>
                    <a:bodyPr/>
                    <a:lstStyle/>
                    <a:p>
                      <a:pPr marL="0" marR="0" lvl="0" indent="0" algn="l" rtl="0">
                        <a:spcBef>
                          <a:spcPts val="0"/>
                        </a:spcBef>
                        <a:spcAft>
                          <a:spcPts val="0"/>
                        </a:spcAft>
                        <a:buNone/>
                      </a:pPr>
                      <a:r>
                        <a:rPr lang="en-US" sz="1600" u="none" strike="noStrike"/>
                        <a:t>Identifies the current date and time.</a:t>
                      </a:r>
                      <a:endParaRPr sz="1600" b="0" i="0" u="none" strike="noStrike">
                        <a:solidFill>
                          <a:srgbClr val="000000"/>
                        </a:solidFill>
                        <a:latin typeface="Calibri"/>
                        <a:ea typeface="Calibri"/>
                        <a:cs typeface="Calibri"/>
                        <a:sym typeface="Calibri"/>
                      </a:endParaRPr>
                    </a:p>
                  </a:txBody>
                  <a:tcPr marL="9525" marR="9525" marT="9525" marB="0" anchor="ctr"/>
                </a:tc>
              </a:tr>
              <a:tr h="370850">
                <a:tc>
                  <a:txBody>
                    <a:bodyPr/>
                    <a:lstStyle/>
                    <a:p>
                      <a:pPr marL="0" marR="0" lvl="0" indent="0" algn="l" rtl="0">
                        <a:spcBef>
                          <a:spcPts val="0"/>
                        </a:spcBef>
                        <a:spcAft>
                          <a:spcPts val="0"/>
                        </a:spcAft>
                        <a:buNone/>
                      </a:pPr>
                      <a:r>
                        <a:rPr lang="en-US" sz="1600" u="none" strike="noStrike"/>
                        <a:t>CURRENT_USER </a:t>
                      </a:r>
                      <a:endParaRPr sz="1600" b="0" i="0" u="none" strike="noStrike">
                        <a:solidFill>
                          <a:srgbClr val="000000"/>
                        </a:solidFill>
                        <a:latin typeface="Calibri"/>
                        <a:ea typeface="Calibri"/>
                        <a:cs typeface="Calibri"/>
                        <a:sym typeface="Calibri"/>
                      </a:endParaRPr>
                    </a:p>
                  </a:txBody>
                  <a:tcPr marL="9525" marR="9525" marT="9525" marB="0" anchor="ctr"/>
                </a:tc>
                <a:tc>
                  <a:txBody>
                    <a:bodyPr/>
                    <a:lstStyle/>
                    <a:p>
                      <a:pPr marL="0" marR="0" lvl="0" indent="0" algn="l" rtl="0">
                        <a:spcBef>
                          <a:spcPts val="0"/>
                        </a:spcBef>
                        <a:spcAft>
                          <a:spcPts val="0"/>
                        </a:spcAft>
                        <a:buNone/>
                      </a:pPr>
                      <a:r>
                        <a:rPr lang="en-US" sz="1600" u="none" strike="noStrike"/>
                        <a:t>Identifies the currently active user within the database server.</a:t>
                      </a:r>
                      <a:endParaRPr sz="1600" b="0" i="0" u="none" strike="noStrike">
                        <a:solidFill>
                          <a:srgbClr val="000000"/>
                        </a:solidFill>
                        <a:latin typeface="Calibri"/>
                        <a:ea typeface="Calibri"/>
                        <a:cs typeface="Calibri"/>
                        <a:sym typeface="Calibri"/>
                      </a:endParaRPr>
                    </a:p>
                  </a:txBody>
                  <a:tcPr marL="9525" marR="9525" marT="9525" marB="0" anchor="ctr"/>
                </a:tc>
              </a:tr>
              <a:tr h="370850">
                <a:tc>
                  <a:txBody>
                    <a:bodyPr/>
                    <a:lstStyle/>
                    <a:p>
                      <a:pPr marL="0" marR="0" lvl="0" indent="0" algn="l" rtl="0">
                        <a:spcBef>
                          <a:spcPts val="0"/>
                        </a:spcBef>
                        <a:spcAft>
                          <a:spcPts val="0"/>
                        </a:spcAft>
                        <a:buNone/>
                      </a:pPr>
                      <a:r>
                        <a:rPr lang="en-US" sz="1600" u="none" strike="noStrike"/>
                        <a:t>SESSION_USER </a:t>
                      </a:r>
                      <a:endParaRPr sz="1600" b="0" i="0" u="none" strike="noStrike">
                        <a:solidFill>
                          <a:srgbClr val="000000"/>
                        </a:solidFill>
                        <a:latin typeface="Calibri"/>
                        <a:ea typeface="Calibri"/>
                        <a:cs typeface="Calibri"/>
                        <a:sym typeface="Calibri"/>
                      </a:endParaRPr>
                    </a:p>
                  </a:txBody>
                  <a:tcPr marL="9525" marR="9525" marT="9525" marB="0" anchor="ctr"/>
                </a:tc>
                <a:tc>
                  <a:txBody>
                    <a:bodyPr/>
                    <a:lstStyle/>
                    <a:p>
                      <a:pPr marL="0" marR="0" lvl="0" indent="0" algn="l" rtl="0">
                        <a:spcBef>
                          <a:spcPts val="0"/>
                        </a:spcBef>
                        <a:spcAft>
                          <a:spcPts val="0"/>
                        </a:spcAft>
                        <a:buNone/>
                      </a:pPr>
                      <a:r>
                        <a:rPr lang="en-US" sz="1600" u="none" strike="noStrike"/>
                        <a:t>Identifies the currently active Authorization ID, if it differs from the user.</a:t>
                      </a:r>
                      <a:endParaRPr sz="1600" b="0" i="0" u="none" strike="noStrike">
                        <a:solidFill>
                          <a:srgbClr val="000000"/>
                        </a:solidFill>
                        <a:latin typeface="Calibri"/>
                        <a:ea typeface="Calibri"/>
                        <a:cs typeface="Calibri"/>
                        <a:sym typeface="Calibri"/>
                      </a:endParaRPr>
                    </a:p>
                  </a:txBody>
                  <a:tcPr marL="9525" marR="9525" marT="9525" marB="0" anchor="ctr"/>
                </a:tc>
              </a:tr>
              <a:tr h="370850">
                <a:tc>
                  <a:txBody>
                    <a:bodyPr/>
                    <a:lstStyle/>
                    <a:p>
                      <a:pPr marL="0" marR="0" lvl="0" indent="0" algn="l" rtl="0">
                        <a:spcBef>
                          <a:spcPts val="0"/>
                        </a:spcBef>
                        <a:spcAft>
                          <a:spcPts val="0"/>
                        </a:spcAft>
                        <a:buNone/>
                      </a:pPr>
                      <a:r>
                        <a:rPr lang="en-US" sz="1600" u="none" strike="noStrike"/>
                        <a:t>SYSTEM_USER </a:t>
                      </a:r>
                      <a:endParaRPr sz="1600" b="0" i="0" u="none" strike="noStrike">
                        <a:solidFill>
                          <a:srgbClr val="000000"/>
                        </a:solidFill>
                        <a:latin typeface="Calibri"/>
                        <a:ea typeface="Calibri"/>
                        <a:cs typeface="Calibri"/>
                        <a:sym typeface="Calibri"/>
                      </a:endParaRPr>
                    </a:p>
                  </a:txBody>
                  <a:tcPr marL="9525" marR="9525" marT="9525" marB="0" anchor="ctr"/>
                </a:tc>
                <a:tc>
                  <a:txBody>
                    <a:bodyPr/>
                    <a:lstStyle/>
                    <a:p>
                      <a:pPr marL="0" marR="0" lvl="0" indent="0" algn="l" rtl="0">
                        <a:spcBef>
                          <a:spcPts val="0"/>
                        </a:spcBef>
                        <a:spcAft>
                          <a:spcPts val="0"/>
                        </a:spcAft>
                        <a:buNone/>
                      </a:pPr>
                      <a:r>
                        <a:rPr lang="en-US" sz="1600" u="none" strike="noStrike"/>
                        <a:t>Identifies the currently active user within the host operating system.</a:t>
                      </a:r>
                      <a:endParaRPr sz="1600" b="0" i="0" u="none" strike="noStrike">
                        <a:solidFill>
                          <a:srgbClr val="000000"/>
                        </a:solidFill>
                        <a:latin typeface="Calibri"/>
                        <a:ea typeface="Calibri"/>
                        <a:cs typeface="Calibri"/>
                        <a:sym typeface="Calibri"/>
                      </a:endParaRPr>
                    </a:p>
                  </a:txBody>
                  <a:tcPr marL="9525" marR="9525" marT="9525" marB="0" anchor="ctr"/>
                </a:tc>
              </a:tr>
            </a:tbl>
          </a:graphicData>
        </a:graphic>
      </p:graphicFrame>
      <p:sp>
        <p:nvSpPr>
          <p:cNvPr id="216" name="Google Shape;216;p17"/>
          <p:cNvSpPr txBox="1">
            <a:spLocks noGrp="1"/>
          </p:cNvSpPr>
          <p:nvPr>
            <p:ph type="sldNum" idx="12"/>
          </p:nvPr>
        </p:nvSpPr>
        <p:spPr>
          <a:xfrm>
            <a:off x="138752" y="6414139"/>
            <a:ext cx="457200" cy="277813"/>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fld id="{00000000-1234-1234-1234-123412341234}" type="slidenum">
              <a:rPr lang="en-US"/>
              <a:t>17</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15"/>
                                        </p:tgtEl>
                                        <p:attrNameLst>
                                          <p:attrName>style.visibility</p:attrName>
                                        </p:attrNameLst>
                                      </p:cBhvr>
                                      <p:to>
                                        <p:strVal val="visible"/>
                                      </p:to>
                                    </p:set>
                                    <p:animEffect transition="in" filter="fade">
                                      <p:cBhvr>
                                        <p:cTn id="7" dur="500"/>
                                        <p:tgtEl>
                                          <p:spTgt spid="2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21"/>
        <p:cNvGrpSpPr/>
        <p:nvPr/>
      </p:nvGrpSpPr>
      <p:grpSpPr>
        <a:xfrm>
          <a:off x="0" y="0"/>
          <a:ext cx="0" cy="0"/>
          <a:chOff x="0" y="0"/>
          <a:chExt cx="0" cy="0"/>
        </a:xfrm>
      </p:grpSpPr>
      <p:sp>
        <p:nvSpPr>
          <p:cNvPr id="222" name="Google Shape;222;p18"/>
          <p:cNvSpPr txBox="1">
            <a:spLocks noGrp="1"/>
          </p:cNvSpPr>
          <p:nvPr>
            <p:ph type="title"/>
          </p:nvPr>
        </p:nvSpPr>
        <p:spPr>
          <a:xfrm>
            <a:off x="1303020" y="-152400"/>
            <a:ext cx="829818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String Functions</a:t>
            </a:r>
            <a:endParaRPr/>
          </a:p>
        </p:txBody>
      </p:sp>
      <p:sp>
        <p:nvSpPr>
          <p:cNvPr id="223" name="Google Shape;223;p18"/>
          <p:cNvSpPr txBox="1"/>
          <p:nvPr/>
        </p:nvSpPr>
        <p:spPr>
          <a:xfrm>
            <a:off x="381000" y="1210878"/>
            <a:ext cx="8305800" cy="2751522"/>
          </a:xfrm>
          <a:prstGeom prst="rect">
            <a:avLst/>
          </a:prstGeom>
          <a:noFill/>
          <a:ln>
            <a:noFill/>
          </a:ln>
        </p:spPr>
        <p:txBody>
          <a:bodyPr spcFirstLastPara="1" wrap="square" lIns="91425" tIns="45700" rIns="91425" bIns="45700" anchor="t" anchorCtr="0">
            <a:spAutoFit/>
          </a:bodyPr>
          <a:lstStyle/>
          <a:p>
            <a:pPr marL="0" marR="0" lvl="0" indent="0" algn="l" rtl="0">
              <a:lnSpc>
                <a:spcPct val="120000"/>
              </a:lnSpc>
              <a:spcBef>
                <a:spcPts val="0"/>
              </a:spcBef>
              <a:spcAft>
                <a:spcPts val="0"/>
              </a:spcAft>
              <a:buNone/>
            </a:pPr>
            <a:r>
              <a:rPr lang="en-US" sz="2400" b="1">
                <a:solidFill>
                  <a:schemeClr val="dk1"/>
                </a:solidFill>
                <a:latin typeface="Calibri"/>
                <a:ea typeface="Calibri"/>
                <a:cs typeface="Calibri"/>
                <a:sym typeface="Calibri"/>
              </a:rPr>
              <a:t>String Functions</a:t>
            </a:r>
            <a:endParaRPr/>
          </a:p>
          <a:p>
            <a:pPr marL="0" marR="0" lvl="0" indent="0" algn="l" rtl="0">
              <a:lnSpc>
                <a:spcPct val="120000"/>
              </a:lnSpc>
              <a:spcBef>
                <a:spcPts val="0"/>
              </a:spcBef>
              <a:spcAft>
                <a:spcPts val="0"/>
              </a:spcAft>
              <a:buNone/>
            </a:pPr>
            <a:r>
              <a:rPr lang="en-US" sz="2400">
                <a:solidFill>
                  <a:schemeClr val="dk1"/>
                </a:solidFill>
                <a:latin typeface="Calibri"/>
                <a:ea typeface="Calibri"/>
                <a:cs typeface="Calibri"/>
                <a:sym typeface="Calibri"/>
              </a:rPr>
              <a:t>String function accept character value as input and can return both character and numeric value.</a:t>
            </a:r>
            <a:endParaRPr/>
          </a:p>
          <a:p>
            <a:pPr marL="0" marR="0" lvl="0" indent="0" algn="l" rtl="0">
              <a:lnSpc>
                <a:spcPct val="120000"/>
              </a:lnSpc>
              <a:spcBef>
                <a:spcPts val="0"/>
              </a:spcBef>
              <a:spcAft>
                <a:spcPts val="0"/>
              </a:spcAft>
              <a:buNone/>
            </a:pPr>
            <a:endParaRPr sz="2400" b="1">
              <a:solidFill>
                <a:schemeClr val="dk1"/>
              </a:solidFill>
              <a:latin typeface="Calibri"/>
              <a:ea typeface="Calibri"/>
              <a:cs typeface="Calibri"/>
              <a:sym typeface="Calibri"/>
            </a:endParaRPr>
          </a:p>
          <a:p>
            <a:pPr marL="0" marR="0" lvl="0" indent="0" algn="l" rtl="0">
              <a:lnSpc>
                <a:spcPct val="120000"/>
              </a:lnSpc>
              <a:spcBef>
                <a:spcPts val="0"/>
              </a:spcBef>
              <a:spcAft>
                <a:spcPts val="0"/>
              </a:spcAft>
              <a:buNone/>
            </a:pPr>
            <a:endParaRPr sz="2400">
              <a:solidFill>
                <a:schemeClr val="dk1"/>
              </a:solidFill>
              <a:latin typeface="Calibri"/>
              <a:ea typeface="Calibri"/>
              <a:cs typeface="Calibri"/>
              <a:sym typeface="Calibri"/>
            </a:endParaRPr>
          </a:p>
          <a:p>
            <a:pPr marL="0" marR="0" lvl="0" indent="0" algn="l" rtl="0">
              <a:lnSpc>
                <a:spcPct val="120000"/>
              </a:lnSpc>
              <a:spcBef>
                <a:spcPts val="0"/>
              </a:spcBef>
              <a:spcAft>
                <a:spcPts val="0"/>
              </a:spcAft>
              <a:buNone/>
            </a:pPr>
            <a:endParaRPr sz="2400">
              <a:solidFill>
                <a:schemeClr val="dk1"/>
              </a:solidFill>
              <a:latin typeface="Calibri"/>
              <a:ea typeface="Calibri"/>
              <a:cs typeface="Calibri"/>
              <a:sym typeface="Calibri"/>
            </a:endParaRPr>
          </a:p>
        </p:txBody>
      </p:sp>
      <p:graphicFrame>
        <p:nvGraphicFramePr>
          <p:cNvPr id="224" name="Google Shape;224;p18"/>
          <p:cNvGraphicFramePr/>
          <p:nvPr/>
        </p:nvGraphicFramePr>
        <p:xfrm>
          <a:off x="533399" y="2590800"/>
          <a:ext cx="8077200" cy="3345865"/>
        </p:xfrm>
        <a:graphic>
          <a:graphicData uri="http://schemas.openxmlformats.org/drawingml/2006/table">
            <a:tbl>
              <a:tblPr firstRow="1" bandRow="1">
                <a:noFill/>
                <a:tableStyleId>{7FFFBDA3-1227-47A5-887F-83766C0D3143}</a:tableStyleId>
              </a:tblPr>
              <a:tblGrid>
                <a:gridCol w="1981200"/>
                <a:gridCol w="6096000"/>
              </a:tblGrid>
              <a:tr h="370850">
                <a:tc>
                  <a:txBody>
                    <a:bodyPr/>
                    <a:lstStyle/>
                    <a:p>
                      <a:pPr marL="0" marR="0" lvl="0" indent="0" algn="ctr" rtl="0">
                        <a:spcBef>
                          <a:spcPts val="0"/>
                        </a:spcBef>
                        <a:spcAft>
                          <a:spcPts val="0"/>
                        </a:spcAft>
                        <a:buNone/>
                      </a:pPr>
                      <a:r>
                        <a:rPr lang="en-US" sz="1600" u="none" strike="noStrike"/>
                        <a:t>Function </a:t>
                      </a:r>
                      <a:endParaRPr sz="1600" b="1" i="0" u="none" strike="noStrike">
                        <a:solidFill>
                          <a:schemeClr val="lt1"/>
                        </a:solidFill>
                        <a:latin typeface="Calibri"/>
                        <a:ea typeface="Calibri"/>
                        <a:cs typeface="Calibri"/>
                        <a:sym typeface="Calibri"/>
                      </a:endParaRPr>
                    </a:p>
                  </a:txBody>
                  <a:tcPr marL="9525" marR="9525" marT="9525" marB="0" anchor="ctr"/>
                </a:tc>
                <a:tc>
                  <a:txBody>
                    <a:bodyPr/>
                    <a:lstStyle/>
                    <a:p>
                      <a:pPr marL="0" marR="0" lvl="0" indent="0" algn="ctr" rtl="0">
                        <a:spcBef>
                          <a:spcPts val="0"/>
                        </a:spcBef>
                        <a:spcAft>
                          <a:spcPts val="0"/>
                        </a:spcAft>
                        <a:buNone/>
                      </a:pPr>
                      <a:r>
                        <a:rPr lang="en-US" sz="1600" u="none" strike="noStrike"/>
                        <a:t>Usage</a:t>
                      </a:r>
                      <a:endParaRPr sz="1600" b="1" i="0" u="none" strike="noStrike">
                        <a:solidFill>
                          <a:schemeClr val="lt1"/>
                        </a:solidFill>
                        <a:latin typeface="Calibri"/>
                        <a:ea typeface="Calibri"/>
                        <a:cs typeface="Calibri"/>
                        <a:sym typeface="Calibri"/>
                      </a:endParaRPr>
                    </a:p>
                  </a:txBody>
                  <a:tcPr marL="9525" marR="9525" marT="9525" marB="0" anchor="ctr"/>
                </a:tc>
              </a:tr>
              <a:tr h="370850">
                <a:tc>
                  <a:txBody>
                    <a:bodyPr/>
                    <a:lstStyle/>
                    <a:p>
                      <a:pPr marL="0" marR="0" lvl="0" indent="0" algn="l" rtl="0">
                        <a:spcBef>
                          <a:spcPts val="0"/>
                        </a:spcBef>
                        <a:spcAft>
                          <a:spcPts val="0"/>
                        </a:spcAft>
                        <a:buNone/>
                      </a:pPr>
                      <a:r>
                        <a:rPr lang="en-US" sz="1600" u="none" strike="noStrike"/>
                        <a:t>CONCATENATE</a:t>
                      </a:r>
                      <a:br>
                        <a:rPr lang="en-US" sz="1600" u="none" strike="noStrike"/>
                      </a:br>
                      <a:endParaRPr sz="1600" b="0" i="0" u="none" strike="noStrike">
                        <a:solidFill>
                          <a:srgbClr val="000000"/>
                        </a:solidFill>
                        <a:latin typeface="Calibri"/>
                        <a:ea typeface="Calibri"/>
                        <a:cs typeface="Calibri"/>
                        <a:sym typeface="Calibri"/>
                      </a:endParaRPr>
                    </a:p>
                  </a:txBody>
                  <a:tcPr marL="9525" marR="9525" marT="9525" marB="0" anchor="ctr"/>
                </a:tc>
                <a:tc>
                  <a:txBody>
                    <a:bodyPr/>
                    <a:lstStyle/>
                    <a:p>
                      <a:pPr marL="0" marR="0" lvl="0" indent="0" algn="l" rtl="0">
                        <a:spcBef>
                          <a:spcPts val="0"/>
                        </a:spcBef>
                        <a:spcAft>
                          <a:spcPts val="0"/>
                        </a:spcAft>
                        <a:buNone/>
                      </a:pPr>
                      <a:r>
                        <a:rPr lang="en-US" sz="1600" u="none" strike="noStrike"/>
                        <a:t>Appends two or more literal expressions, column values, or</a:t>
                      </a:r>
                      <a:br>
                        <a:rPr lang="en-US" sz="1600" u="none" strike="noStrike"/>
                      </a:br>
                      <a:r>
                        <a:rPr lang="en-US" sz="1600" u="none" strike="noStrike"/>
                        <a:t>variables together into one string.</a:t>
                      </a:r>
                      <a:endParaRPr sz="1600" b="0" i="0" u="none" strike="noStrike">
                        <a:solidFill>
                          <a:srgbClr val="000000"/>
                        </a:solidFill>
                        <a:latin typeface="Calibri"/>
                        <a:ea typeface="Calibri"/>
                        <a:cs typeface="Calibri"/>
                        <a:sym typeface="Calibri"/>
                      </a:endParaRPr>
                    </a:p>
                  </a:txBody>
                  <a:tcPr marL="9525" marR="9525" marT="9525" marB="0" anchor="ctr"/>
                </a:tc>
              </a:tr>
              <a:tr h="370850">
                <a:tc>
                  <a:txBody>
                    <a:bodyPr/>
                    <a:lstStyle/>
                    <a:p>
                      <a:pPr marL="0" marR="0" lvl="0" indent="0" algn="l" rtl="0">
                        <a:spcBef>
                          <a:spcPts val="0"/>
                        </a:spcBef>
                        <a:spcAft>
                          <a:spcPts val="0"/>
                        </a:spcAft>
                        <a:buNone/>
                      </a:pPr>
                      <a:r>
                        <a:rPr lang="en-US" sz="1600" u="none" strike="noStrike"/>
                        <a:t>CONVERT</a:t>
                      </a:r>
                      <a:endParaRPr sz="1600" b="0" i="0" u="none" strike="noStrike">
                        <a:solidFill>
                          <a:srgbClr val="000000"/>
                        </a:solidFill>
                        <a:latin typeface="Calibri"/>
                        <a:ea typeface="Calibri"/>
                        <a:cs typeface="Calibri"/>
                        <a:sym typeface="Calibri"/>
                      </a:endParaRPr>
                    </a:p>
                  </a:txBody>
                  <a:tcPr marL="9525" marR="9525" marT="9525" marB="0" anchor="ctr"/>
                </a:tc>
                <a:tc>
                  <a:txBody>
                    <a:bodyPr/>
                    <a:lstStyle/>
                    <a:p>
                      <a:pPr marL="0" marR="0" lvl="0" indent="0" algn="l" rtl="0">
                        <a:spcBef>
                          <a:spcPts val="0"/>
                        </a:spcBef>
                        <a:spcAft>
                          <a:spcPts val="0"/>
                        </a:spcAft>
                        <a:buNone/>
                      </a:pPr>
                      <a:r>
                        <a:rPr lang="en-US" sz="1600" u="none" strike="noStrike"/>
                        <a:t>Converts a string to a different representation within the same</a:t>
                      </a:r>
                      <a:br>
                        <a:rPr lang="en-US" sz="1600" u="none" strike="noStrike"/>
                      </a:br>
                      <a:r>
                        <a:rPr lang="en-US" sz="1600" u="none" strike="noStrike"/>
                        <a:t>character set.</a:t>
                      </a:r>
                      <a:endParaRPr sz="1600" b="0" i="0" u="none" strike="noStrike">
                        <a:solidFill>
                          <a:srgbClr val="000000"/>
                        </a:solidFill>
                        <a:latin typeface="Calibri"/>
                        <a:ea typeface="Calibri"/>
                        <a:cs typeface="Calibri"/>
                        <a:sym typeface="Calibri"/>
                      </a:endParaRPr>
                    </a:p>
                  </a:txBody>
                  <a:tcPr marL="9525" marR="9525" marT="9525" marB="0" anchor="ctr"/>
                </a:tc>
              </a:tr>
              <a:tr h="370850">
                <a:tc>
                  <a:txBody>
                    <a:bodyPr/>
                    <a:lstStyle/>
                    <a:p>
                      <a:pPr marL="0" marR="0" lvl="0" indent="0" algn="l" rtl="0">
                        <a:spcBef>
                          <a:spcPts val="0"/>
                        </a:spcBef>
                        <a:spcAft>
                          <a:spcPts val="0"/>
                        </a:spcAft>
                        <a:buNone/>
                      </a:pPr>
                      <a:r>
                        <a:rPr lang="en-US" sz="1600" u="none" strike="noStrike"/>
                        <a:t>LOWER</a:t>
                      </a:r>
                      <a:endParaRPr sz="1600" b="0" i="0" u="none" strike="noStrike">
                        <a:solidFill>
                          <a:srgbClr val="000000"/>
                        </a:solidFill>
                        <a:latin typeface="Calibri"/>
                        <a:ea typeface="Calibri"/>
                        <a:cs typeface="Calibri"/>
                        <a:sym typeface="Calibri"/>
                      </a:endParaRPr>
                    </a:p>
                  </a:txBody>
                  <a:tcPr marL="9525" marR="9525" marT="9525" marB="0" anchor="ctr"/>
                </a:tc>
                <a:tc>
                  <a:txBody>
                    <a:bodyPr/>
                    <a:lstStyle/>
                    <a:p>
                      <a:pPr marL="0" marR="0" lvl="0" indent="0" algn="l" rtl="0">
                        <a:spcBef>
                          <a:spcPts val="0"/>
                        </a:spcBef>
                        <a:spcAft>
                          <a:spcPts val="0"/>
                        </a:spcAft>
                        <a:buNone/>
                      </a:pPr>
                      <a:r>
                        <a:rPr lang="en-US" sz="1600" u="none" strike="noStrike"/>
                        <a:t>Converts a string to all lowercase characters.</a:t>
                      </a:r>
                      <a:endParaRPr sz="1600" b="0" i="0" u="none" strike="noStrike">
                        <a:solidFill>
                          <a:srgbClr val="000000"/>
                        </a:solidFill>
                        <a:latin typeface="Calibri"/>
                        <a:ea typeface="Calibri"/>
                        <a:cs typeface="Calibri"/>
                        <a:sym typeface="Calibri"/>
                      </a:endParaRPr>
                    </a:p>
                  </a:txBody>
                  <a:tcPr marL="9525" marR="9525" marT="9525" marB="0" anchor="ctr"/>
                </a:tc>
              </a:tr>
              <a:tr h="370850">
                <a:tc>
                  <a:txBody>
                    <a:bodyPr/>
                    <a:lstStyle/>
                    <a:p>
                      <a:pPr marL="0" marR="0" lvl="0" indent="0" algn="l" rtl="0">
                        <a:spcBef>
                          <a:spcPts val="0"/>
                        </a:spcBef>
                        <a:spcAft>
                          <a:spcPts val="0"/>
                        </a:spcAft>
                        <a:buNone/>
                      </a:pPr>
                      <a:r>
                        <a:rPr lang="en-US" sz="1600" u="none" strike="noStrike"/>
                        <a:t>SUBSTRING</a:t>
                      </a:r>
                      <a:endParaRPr sz="1600" b="0" i="0" u="none" strike="noStrike">
                        <a:solidFill>
                          <a:srgbClr val="000000"/>
                        </a:solidFill>
                        <a:latin typeface="Calibri"/>
                        <a:ea typeface="Calibri"/>
                        <a:cs typeface="Calibri"/>
                        <a:sym typeface="Calibri"/>
                      </a:endParaRPr>
                    </a:p>
                  </a:txBody>
                  <a:tcPr marL="9525" marR="9525" marT="9525" marB="0" anchor="ctr"/>
                </a:tc>
                <a:tc>
                  <a:txBody>
                    <a:bodyPr/>
                    <a:lstStyle/>
                    <a:p>
                      <a:pPr marL="0" marR="0" lvl="0" indent="0" algn="l" rtl="0">
                        <a:spcBef>
                          <a:spcPts val="0"/>
                        </a:spcBef>
                        <a:spcAft>
                          <a:spcPts val="0"/>
                        </a:spcAft>
                        <a:buNone/>
                      </a:pPr>
                      <a:r>
                        <a:rPr lang="en-US" sz="1600" u="none" strike="noStrike"/>
                        <a:t>Extracts a portion of a string.</a:t>
                      </a:r>
                      <a:endParaRPr sz="1600" b="0" i="0" u="none" strike="noStrike">
                        <a:solidFill>
                          <a:srgbClr val="000000"/>
                        </a:solidFill>
                        <a:latin typeface="Calibri"/>
                        <a:ea typeface="Calibri"/>
                        <a:cs typeface="Calibri"/>
                        <a:sym typeface="Calibri"/>
                      </a:endParaRPr>
                    </a:p>
                  </a:txBody>
                  <a:tcPr marL="9525" marR="9525" marT="9525" marB="0" anchor="ctr"/>
                </a:tc>
              </a:tr>
              <a:tr h="370850">
                <a:tc>
                  <a:txBody>
                    <a:bodyPr/>
                    <a:lstStyle/>
                    <a:p>
                      <a:pPr marL="0" marR="0" lvl="0" indent="0" algn="l" rtl="0">
                        <a:spcBef>
                          <a:spcPts val="0"/>
                        </a:spcBef>
                        <a:spcAft>
                          <a:spcPts val="0"/>
                        </a:spcAft>
                        <a:buNone/>
                      </a:pPr>
                      <a:r>
                        <a:rPr lang="en-US" sz="1600" u="none" strike="noStrike"/>
                        <a:t>TRANSLATE</a:t>
                      </a:r>
                      <a:endParaRPr sz="1600" b="0" i="0" u="none" strike="noStrike">
                        <a:solidFill>
                          <a:srgbClr val="000000"/>
                        </a:solidFill>
                        <a:latin typeface="Calibri"/>
                        <a:ea typeface="Calibri"/>
                        <a:cs typeface="Calibri"/>
                        <a:sym typeface="Calibri"/>
                      </a:endParaRPr>
                    </a:p>
                  </a:txBody>
                  <a:tcPr marL="9525" marR="9525" marT="9525" marB="0" anchor="ctr"/>
                </a:tc>
                <a:tc>
                  <a:txBody>
                    <a:bodyPr/>
                    <a:lstStyle/>
                    <a:p>
                      <a:pPr marL="0" marR="0" lvl="0" indent="0" algn="l" rtl="0">
                        <a:spcBef>
                          <a:spcPts val="0"/>
                        </a:spcBef>
                        <a:spcAft>
                          <a:spcPts val="0"/>
                        </a:spcAft>
                        <a:buNone/>
                      </a:pPr>
                      <a:r>
                        <a:rPr lang="en-US" sz="1600" u="none" strike="noStrike"/>
                        <a:t>Converts a string from one character set to another.</a:t>
                      </a:r>
                      <a:endParaRPr sz="1600" b="0" i="0" u="none" strike="noStrike">
                        <a:solidFill>
                          <a:srgbClr val="000000"/>
                        </a:solidFill>
                        <a:latin typeface="Calibri"/>
                        <a:ea typeface="Calibri"/>
                        <a:cs typeface="Calibri"/>
                        <a:sym typeface="Calibri"/>
                      </a:endParaRPr>
                    </a:p>
                  </a:txBody>
                  <a:tcPr marL="9525" marR="9525" marT="9525" marB="0" anchor="ctr"/>
                </a:tc>
              </a:tr>
              <a:tr h="370850">
                <a:tc>
                  <a:txBody>
                    <a:bodyPr/>
                    <a:lstStyle/>
                    <a:p>
                      <a:pPr marL="0" marR="0" lvl="0" indent="0" algn="l" rtl="0">
                        <a:spcBef>
                          <a:spcPts val="0"/>
                        </a:spcBef>
                        <a:spcAft>
                          <a:spcPts val="0"/>
                        </a:spcAft>
                        <a:buNone/>
                      </a:pPr>
                      <a:r>
                        <a:rPr lang="en-US" sz="1600" u="none" strike="noStrike"/>
                        <a:t>TRIM</a:t>
                      </a:r>
                      <a:endParaRPr sz="1600" b="0" i="0" u="none" strike="noStrike">
                        <a:solidFill>
                          <a:srgbClr val="000000"/>
                        </a:solidFill>
                        <a:latin typeface="Calibri"/>
                        <a:ea typeface="Calibri"/>
                        <a:cs typeface="Calibri"/>
                        <a:sym typeface="Calibri"/>
                      </a:endParaRPr>
                    </a:p>
                  </a:txBody>
                  <a:tcPr marL="9525" marR="9525" marT="9525" marB="0" anchor="ctr"/>
                </a:tc>
                <a:tc>
                  <a:txBody>
                    <a:bodyPr/>
                    <a:lstStyle/>
                    <a:p>
                      <a:pPr marL="0" marR="0" lvl="0" indent="0" algn="l" rtl="0">
                        <a:spcBef>
                          <a:spcPts val="0"/>
                        </a:spcBef>
                        <a:spcAft>
                          <a:spcPts val="0"/>
                        </a:spcAft>
                        <a:buNone/>
                      </a:pPr>
                      <a:r>
                        <a:rPr lang="en-US" sz="1600" u="none" strike="noStrike"/>
                        <a:t>Removes leading characters, trailing characters, or both from a character string.</a:t>
                      </a:r>
                      <a:endParaRPr sz="1600" b="0" i="0" u="none" strike="noStrike">
                        <a:solidFill>
                          <a:srgbClr val="000000"/>
                        </a:solidFill>
                        <a:latin typeface="Calibri"/>
                        <a:ea typeface="Calibri"/>
                        <a:cs typeface="Calibri"/>
                        <a:sym typeface="Calibri"/>
                      </a:endParaRPr>
                    </a:p>
                  </a:txBody>
                  <a:tcPr marL="9525" marR="9525" marT="9525" marB="0" anchor="ctr"/>
                </a:tc>
              </a:tr>
              <a:tr h="370850">
                <a:tc>
                  <a:txBody>
                    <a:bodyPr/>
                    <a:lstStyle/>
                    <a:p>
                      <a:pPr marL="0" marR="0" lvl="0" indent="0" algn="l" rtl="0">
                        <a:spcBef>
                          <a:spcPts val="0"/>
                        </a:spcBef>
                        <a:spcAft>
                          <a:spcPts val="0"/>
                        </a:spcAft>
                        <a:buNone/>
                      </a:pPr>
                      <a:r>
                        <a:rPr lang="en-US" sz="1600" u="none" strike="noStrike"/>
                        <a:t>UPPER</a:t>
                      </a:r>
                      <a:endParaRPr sz="1600" b="0" i="0" u="none" strike="noStrike">
                        <a:solidFill>
                          <a:srgbClr val="000000"/>
                        </a:solidFill>
                        <a:latin typeface="Calibri"/>
                        <a:ea typeface="Calibri"/>
                        <a:cs typeface="Calibri"/>
                        <a:sym typeface="Calibri"/>
                      </a:endParaRPr>
                    </a:p>
                  </a:txBody>
                  <a:tcPr marL="9525" marR="9525" marT="9525" marB="0" anchor="ctr"/>
                </a:tc>
                <a:tc>
                  <a:txBody>
                    <a:bodyPr/>
                    <a:lstStyle/>
                    <a:p>
                      <a:pPr marL="0" marR="0" lvl="0" indent="0" algn="l" rtl="0">
                        <a:spcBef>
                          <a:spcPts val="0"/>
                        </a:spcBef>
                        <a:spcAft>
                          <a:spcPts val="0"/>
                        </a:spcAft>
                        <a:buNone/>
                      </a:pPr>
                      <a:r>
                        <a:rPr lang="en-US" sz="1600" u="none" strike="noStrike"/>
                        <a:t>Converts a string to all uppercase characters.</a:t>
                      </a:r>
                      <a:endParaRPr sz="1600" b="0" i="0" u="none" strike="noStrike">
                        <a:solidFill>
                          <a:srgbClr val="000000"/>
                        </a:solidFill>
                        <a:latin typeface="Calibri"/>
                        <a:ea typeface="Calibri"/>
                        <a:cs typeface="Calibri"/>
                        <a:sym typeface="Calibri"/>
                      </a:endParaRPr>
                    </a:p>
                  </a:txBody>
                  <a:tcPr marL="9525" marR="9525" marT="9525" marB="0" anchor="ctr"/>
                </a:tc>
              </a:tr>
            </a:tbl>
          </a:graphicData>
        </a:graphic>
      </p:graphicFrame>
      <p:sp>
        <p:nvSpPr>
          <p:cNvPr id="225" name="Google Shape;225;p18"/>
          <p:cNvSpPr txBox="1">
            <a:spLocks noGrp="1"/>
          </p:cNvSpPr>
          <p:nvPr>
            <p:ph type="sldNum" idx="12"/>
          </p:nvPr>
        </p:nvSpPr>
        <p:spPr>
          <a:xfrm>
            <a:off x="138752" y="6414139"/>
            <a:ext cx="457200" cy="277813"/>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fld id="{00000000-1234-1234-1234-123412341234}" type="slidenum">
              <a:rPr lang="en-US"/>
              <a:t>18</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24"/>
                                        </p:tgtEl>
                                        <p:attrNameLst>
                                          <p:attrName>style.visibility</p:attrName>
                                        </p:attrNameLst>
                                      </p:cBhvr>
                                      <p:to>
                                        <p:strVal val="visible"/>
                                      </p:to>
                                    </p:set>
                                    <p:animEffect transition="in" filter="fade">
                                      <p:cBhvr>
                                        <p:cTn id="7" dur="500"/>
                                        <p:tgtEl>
                                          <p:spTgt spid="2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30"/>
        <p:cNvGrpSpPr/>
        <p:nvPr/>
      </p:nvGrpSpPr>
      <p:grpSpPr>
        <a:xfrm>
          <a:off x="0" y="0"/>
          <a:ext cx="0" cy="0"/>
          <a:chOff x="0" y="0"/>
          <a:chExt cx="0" cy="0"/>
        </a:xfrm>
      </p:grpSpPr>
      <p:sp>
        <p:nvSpPr>
          <p:cNvPr id="231" name="Google Shape;231;p19"/>
          <p:cNvSpPr txBox="1">
            <a:spLocks noGrp="1"/>
          </p:cNvSpPr>
          <p:nvPr>
            <p:ph type="title"/>
          </p:nvPr>
        </p:nvSpPr>
        <p:spPr>
          <a:xfrm>
            <a:off x="1303020" y="-152400"/>
            <a:ext cx="8298180" cy="1143000"/>
          </a:xfrm>
          <a:prstGeom prst="rect">
            <a:avLst/>
          </a:prstGeom>
          <a:noFill/>
          <a:ln>
            <a:noFill/>
          </a:ln>
        </p:spPr>
        <p:txBody>
          <a:bodyPr spcFirstLastPara="1" wrap="square" lIns="91425" tIns="45700" rIns="91425" bIns="45700" anchor="ctr" anchorCtr="0">
            <a:noAutofit/>
          </a:bodyPr>
          <a:lstStyle/>
          <a:p>
            <a:pPr marL="0" lvl="1" indent="0" algn="l" rtl="0">
              <a:spcBef>
                <a:spcPts val="0"/>
              </a:spcBef>
              <a:spcAft>
                <a:spcPts val="0"/>
              </a:spcAft>
              <a:buNone/>
            </a:pPr>
            <a:r>
              <a:rPr lang="en-US" sz="3200">
                <a:latin typeface="Verdana"/>
                <a:ea typeface="Verdana"/>
                <a:cs typeface="Verdana"/>
                <a:sym typeface="Verdana"/>
              </a:rPr>
              <a:t>String Function Examples</a:t>
            </a:r>
            <a:endParaRPr/>
          </a:p>
        </p:txBody>
      </p:sp>
      <p:graphicFrame>
        <p:nvGraphicFramePr>
          <p:cNvPr id="232" name="Google Shape;232;p19"/>
          <p:cNvGraphicFramePr/>
          <p:nvPr/>
        </p:nvGraphicFramePr>
        <p:xfrm>
          <a:off x="233916" y="1920240"/>
          <a:ext cx="8686800" cy="3718620"/>
        </p:xfrm>
        <a:graphic>
          <a:graphicData uri="http://schemas.openxmlformats.org/drawingml/2006/table">
            <a:tbl>
              <a:tblPr firstRow="1" bandRow="1">
                <a:noFill/>
                <a:tableStyleId>{7FFFBDA3-1227-47A5-887F-83766C0D3143}</a:tableStyleId>
              </a:tblPr>
              <a:tblGrid>
                <a:gridCol w="985275"/>
                <a:gridCol w="3124200"/>
                <a:gridCol w="3200400"/>
                <a:gridCol w="1376925"/>
              </a:tblGrid>
              <a:tr h="286175">
                <a:tc>
                  <a:txBody>
                    <a:bodyPr/>
                    <a:lstStyle/>
                    <a:p>
                      <a:pPr marL="0" marR="0" lvl="0" indent="0" algn="l" rtl="0">
                        <a:spcBef>
                          <a:spcPts val="0"/>
                        </a:spcBef>
                        <a:spcAft>
                          <a:spcPts val="0"/>
                        </a:spcAft>
                        <a:buNone/>
                      </a:pPr>
                      <a:r>
                        <a:rPr lang="en-US" sz="1300"/>
                        <a:t>Function</a:t>
                      </a:r>
                      <a:endParaRPr sz="1300">
                        <a:latin typeface="Arial"/>
                        <a:ea typeface="Arial"/>
                        <a:cs typeface="Arial"/>
                        <a:sym typeface="Arial"/>
                      </a:endParaRPr>
                    </a:p>
                  </a:txBody>
                  <a:tcPr marL="91450" marR="91450" marT="45725" marB="45725"/>
                </a:tc>
                <a:tc>
                  <a:txBody>
                    <a:bodyPr/>
                    <a:lstStyle/>
                    <a:p>
                      <a:pPr marL="0" marR="0" lvl="0" indent="0" algn="l" rtl="0">
                        <a:spcBef>
                          <a:spcPts val="0"/>
                        </a:spcBef>
                        <a:spcAft>
                          <a:spcPts val="0"/>
                        </a:spcAft>
                        <a:buNone/>
                      </a:pPr>
                      <a:r>
                        <a:rPr lang="en-US" sz="1300"/>
                        <a:t>Description</a:t>
                      </a:r>
                      <a:endParaRPr sz="1300">
                        <a:latin typeface="Arial"/>
                        <a:ea typeface="Arial"/>
                        <a:cs typeface="Arial"/>
                        <a:sym typeface="Arial"/>
                      </a:endParaRPr>
                    </a:p>
                  </a:txBody>
                  <a:tcPr marL="91450" marR="91450" marT="45725" marB="45725"/>
                </a:tc>
                <a:tc>
                  <a:txBody>
                    <a:bodyPr/>
                    <a:lstStyle/>
                    <a:p>
                      <a:pPr marL="0" marR="0" lvl="0" indent="0" algn="l" rtl="0">
                        <a:spcBef>
                          <a:spcPts val="0"/>
                        </a:spcBef>
                        <a:spcAft>
                          <a:spcPts val="0"/>
                        </a:spcAft>
                        <a:buNone/>
                      </a:pPr>
                      <a:r>
                        <a:rPr lang="en-US" sz="1300"/>
                        <a:t>Example </a:t>
                      </a:r>
                      <a:endParaRPr sz="1300">
                        <a:latin typeface="Arial"/>
                        <a:ea typeface="Arial"/>
                        <a:cs typeface="Arial"/>
                        <a:sym typeface="Arial"/>
                      </a:endParaRPr>
                    </a:p>
                  </a:txBody>
                  <a:tcPr marL="91450" marR="91450" marT="45725" marB="45725"/>
                </a:tc>
                <a:tc>
                  <a:txBody>
                    <a:bodyPr/>
                    <a:lstStyle/>
                    <a:p>
                      <a:pPr marL="0" marR="0" lvl="0" indent="0" algn="l" rtl="0">
                        <a:spcBef>
                          <a:spcPts val="0"/>
                        </a:spcBef>
                        <a:spcAft>
                          <a:spcPts val="0"/>
                        </a:spcAft>
                        <a:buNone/>
                      </a:pPr>
                      <a:r>
                        <a:rPr lang="en-US" sz="1300"/>
                        <a:t>Result</a:t>
                      </a:r>
                      <a:endParaRPr sz="1300">
                        <a:latin typeface="Arial"/>
                        <a:ea typeface="Arial"/>
                        <a:cs typeface="Arial"/>
                        <a:sym typeface="Arial"/>
                      </a:endParaRPr>
                    </a:p>
                  </a:txBody>
                  <a:tcPr marL="91450" marR="91450" marT="45725" marB="45725"/>
                </a:tc>
              </a:tr>
              <a:tr h="481975">
                <a:tc>
                  <a:txBody>
                    <a:bodyPr/>
                    <a:lstStyle/>
                    <a:p>
                      <a:pPr marL="0" marR="0" lvl="0" indent="0" algn="l" rtl="0">
                        <a:spcBef>
                          <a:spcPts val="0"/>
                        </a:spcBef>
                        <a:spcAft>
                          <a:spcPts val="0"/>
                        </a:spcAft>
                        <a:buNone/>
                      </a:pPr>
                      <a:r>
                        <a:rPr lang="en-US" sz="1300"/>
                        <a:t>UPPER</a:t>
                      </a:r>
                      <a:endParaRPr sz="1300" b="0">
                        <a:latin typeface="Arial"/>
                        <a:ea typeface="Arial"/>
                        <a:cs typeface="Arial"/>
                        <a:sym typeface="Arial"/>
                      </a:endParaRPr>
                    </a:p>
                  </a:txBody>
                  <a:tcPr marL="91450" marR="91450" marT="45725" marB="45725"/>
                </a:tc>
                <a:tc>
                  <a:txBody>
                    <a:bodyPr/>
                    <a:lstStyle/>
                    <a:p>
                      <a:pPr marL="0" marR="0" lvl="0" indent="0" algn="l" rtl="0">
                        <a:spcBef>
                          <a:spcPts val="0"/>
                        </a:spcBef>
                        <a:spcAft>
                          <a:spcPts val="0"/>
                        </a:spcAft>
                        <a:buNone/>
                      </a:pPr>
                      <a:r>
                        <a:rPr lang="en-US" sz="1300"/>
                        <a:t>Converts Alpha Character values to  Upper  Case</a:t>
                      </a:r>
                      <a:endParaRPr sz="1300" b="0">
                        <a:latin typeface="Arial"/>
                        <a:ea typeface="Arial"/>
                        <a:cs typeface="Arial"/>
                        <a:sym typeface="Arial"/>
                      </a:endParaRPr>
                    </a:p>
                  </a:txBody>
                  <a:tcPr marL="91450" marR="91450" marT="45725" marB="45725"/>
                </a:tc>
                <a:tc>
                  <a:txBody>
                    <a:bodyPr/>
                    <a:lstStyle/>
                    <a:p>
                      <a:pPr marL="0" marR="0" lvl="0" indent="0" algn="l" rtl="0">
                        <a:spcBef>
                          <a:spcPts val="0"/>
                        </a:spcBef>
                        <a:spcAft>
                          <a:spcPts val="0"/>
                        </a:spcAft>
                        <a:buNone/>
                      </a:pPr>
                      <a:r>
                        <a:rPr lang="en-US" sz="1300" b="0">
                          <a:solidFill>
                            <a:srgbClr val="0070C0"/>
                          </a:solidFill>
                        </a:rPr>
                        <a:t>SELECT UPPER (</a:t>
                      </a:r>
                      <a:r>
                        <a:rPr lang="en-US" sz="1300" b="1">
                          <a:solidFill>
                            <a:srgbClr val="BC8F00"/>
                          </a:solidFill>
                          <a:latin typeface="Calibri"/>
                          <a:ea typeface="Calibri"/>
                          <a:cs typeface="Calibri"/>
                          <a:sym typeface="Calibri"/>
                        </a:rPr>
                        <a:t>CUSTOMENAME</a:t>
                      </a:r>
                      <a:r>
                        <a:rPr lang="en-US" sz="1300" b="0">
                          <a:solidFill>
                            <a:srgbClr val="0070C0"/>
                          </a:solidFill>
                        </a:rPr>
                        <a:t>) </a:t>
                      </a:r>
                      <a:endParaRPr/>
                    </a:p>
                    <a:p>
                      <a:pPr marL="0" marR="0" lvl="0" indent="0" algn="l" rtl="0">
                        <a:spcBef>
                          <a:spcPts val="0"/>
                        </a:spcBef>
                        <a:spcAft>
                          <a:spcPts val="0"/>
                        </a:spcAft>
                        <a:buNone/>
                      </a:pPr>
                      <a:r>
                        <a:rPr lang="en-US" sz="1300" b="0">
                          <a:solidFill>
                            <a:srgbClr val="0070C0"/>
                          </a:solidFill>
                        </a:rPr>
                        <a:t>FROM </a:t>
                      </a:r>
                      <a:r>
                        <a:rPr lang="en-US" sz="1300" b="1">
                          <a:solidFill>
                            <a:srgbClr val="BC8F00"/>
                          </a:solidFill>
                          <a:latin typeface="Calibri"/>
                          <a:ea typeface="Calibri"/>
                          <a:cs typeface="Calibri"/>
                          <a:sym typeface="Calibri"/>
                        </a:rPr>
                        <a:t>CUSTOMERS;</a:t>
                      </a:r>
                      <a:endParaRPr sz="1300" b="1">
                        <a:solidFill>
                          <a:srgbClr val="BC8F00"/>
                        </a:solidFill>
                        <a:latin typeface="Calibri"/>
                        <a:ea typeface="Calibri"/>
                        <a:cs typeface="Calibri"/>
                        <a:sym typeface="Calibri"/>
                      </a:endParaRPr>
                    </a:p>
                  </a:txBody>
                  <a:tcPr marL="91450" marR="91450" marT="45725" marB="45725"/>
                </a:tc>
                <a:tc>
                  <a:txBody>
                    <a:bodyPr/>
                    <a:lstStyle/>
                    <a:p>
                      <a:pPr marL="0" marR="0" lvl="0" indent="0" algn="l" rtl="0">
                        <a:spcBef>
                          <a:spcPts val="0"/>
                        </a:spcBef>
                        <a:spcAft>
                          <a:spcPts val="0"/>
                        </a:spcAft>
                        <a:buNone/>
                      </a:pPr>
                      <a:r>
                        <a:rPr lang="en-US" sz="1300"/>
                        <a:t>ATELIER GRAPHIQUE</a:t>
                      </a:r>
                      <a:endParaRPr sz="1300">
                        <a:solidFill>
                          <a:schemeClr val="dk1"/>
                        </a:solidFill>
                        <a:latin typeface="Calibri"/>
                        <a:ea typeface="Calibri"/>
                        <a:cs typeface="Calibri"/>
                        <a:sym typeface="Calibri"/>
                      </a:endParaRPr>
                    </a:p>
                  </a:txBody>
                  <a:tcPr marL="91450" marR="91450" marT="45725" marB="45725" anchor="ctr"/>
                </a:tc>
              </a:tr>
              <a:tr h="481975">
                <a:tc>
                  <a:txBody>
                    <a:bodyPr/>
                    <a:lstStyle/>
                    <a:p>
                      <a:pPr marL="0" marR="0" lvl="0" indent="0" algn="l" rtl="0">
                        <a:spcBef>
                          <a:spcPts val="0"/>
                        </a:spcBef>
                        <a:spcAft>
                          <a:spcPts val="0"/>
                        </a:spcAft>
                        <a:buNone/>
                      </a:pPr>
                      <a:r>
                        <a:rPr lang="en-US" sz="1300"/>
                        <a:t>LOWER</a:t>
                      </a:r>
                      <a:endParaRPr sz="1300" b="0">
                        <a:latin typeface="Arial"/>
                        <a:ea typeface="Arial"/>
                        <a:cs typeface="Arial"/>
                        <a:sym typeface="Arial"/>
                      </a:endParaRPr>
                    </a:p>
                  </a:txBody>
                  <a:tcPr marL="91450" marR="91450" marT="45725" marB="45725"/>
                </a:tc>
                <a:tc>
                  <a:txBody>
                    <a:bodyPr/>
                    <a:lstStyle/>
                    <a:p>
                      <a:pPr marL="0" marR="0" lvl="0" indent="0" algn="l" rtl="0">
                        <a:lnSpc>
                          <a:spcPct val="100000"/>
                        </a:lnSpc>
                        <a:spcBef>
                          <a:spcPts val="0"/>
                        </a:spcBef>
                        <a:spcAft>
                          <a:spcPts val="0"/>
                        </a:spcAft>
                        <a:buClr>
                          <a:schemeClr val="dk1"/>
                        </a:buClr>
                        <a:buSzPts val="1300"/>
                        <a:buFont typeface="Calibri"/>
                        <a:buNone/>
                      </a:pPr>
                      <a:r>
                        <a:rPr lang="en-US" sz="1300"/>
                        <a:t>Converts Alpha Character values to  Lower  Case</a:t>
                      </a:r>
                      <a:endParaRPr sz="1300" b="0">
                        <a:latin typeface="Arial"/>
                        <a:ea typeface="Arial"/>
                        <a:cs typeface="Arial"/>
                        <a:sym typeface="Arial"/>
                      </a:endParaRPr>
                    </a:p>
                  </a:txBody>
                  <a:tcPr marL="91450" marR="91450" marT="45725" marB="45725"/>
                </a:tc>
                <a:tc>
                  <a:txBody>
                    <a:bodyPr/>
                    <a:lstStyle/>
                    <a:p>
                      <a:pPr marL="0" marR="0" lvl="0" indent="0" algn="l" rtl="0">
                        <a:lnSpc>
                          <a:spcPct val="100000"/>
                        </a:lnSpc>
                        <a:spcBef>
                          <a:spcPts val="0"/>
                        </a:spcBef>
                        <a:spcAft>
                          <a:spcPts val="0"/>
                        </a:spcAft>
                        <a:buClr>
                          <a:srgbClr val="0070C0"/>
                        </a:buClr>
                        <a:buSzPts val="1300"/>
                        <a:buFont typeface="Calibri"/>
                        <a:buNone/>
                      </a:pPr>
                      <a:r>
                        <a:rPr lang="en-US" sz="1300" b="0">
                          <a:solidFill>
                            <a:srgbClr val="0070C0"/>
                          </a:solidFill>
                        </a:rPr>
                        <a:t>SELECT LOWER(</a:t>
                      </a:r>
                      <a:r>
                        <a:rPr lang="en-US" sz="1300" b="1">
                          <a:solidFill>
                            <a:srgbClr val="BC8F00"/>
                          </a:solidFill>
                          <a:latin typeface="Calibri"/>
                          <a:ea typeface="Calibri"/>
                          <a:cs typeface="Calibri"/>
                          <a:sym typeface="Calibri"/>
                        </a:rPr>
                        <a:t>CUSTOMENAME</a:t>
                      </a:r>
                      <a:r>
                        <a:rPr lang="en-US" sz="1300" b="0">
                          <a:solidFill>
                            <a:srgbClr val="0070C0"/>
                          </a:solidFill>
                        </a:rPr>
                        <a:t>) </a:t>
                      </a:r>
                      <a:endParaRPr/>
                    </a:p>
                    <a:p>
                      <a:pPr marL="0" marR="0" lvl="0" indent="0" algn="l" rtl="0">
                        <a:lnSpc>
                          <a:spcPct val="100000"/>
                        </a:lnSpc>
                        <a:spcBef>
                          <a:spcPts val="0"/>
                        </a:spcBef>
                        <a:spcAft>
                          <a:spcPts val="0"/>
                        </a:spcAft>
                        <a:buClr>
                          <a:srgbClr val="0070C0"/>
                        </a:buClr>
                        <a:buSzPts val="1300"/>
                        <a:buFont typeface="Calibri"/>
                        <a:buNone/>
                      </a:pPr>
                      <a:r>
                        <a:rPr lang="en-US" sz="1300" b="0">
                          <a:solidFill>
                            <a:srgbClr val="0070C0"/>
                          </a:solidFill>
                        </a:rPr>
                        <a:t>FROM </a:t>
                      </a:r>
                      <a:r>
                        <a:rPr lang="en-US" sz="1300" b="1">
                          <a:solidFill>
                            <a:srgbClr val="BC8F00"/>
                          </a:solidFill>
                          <a:latin typeface="Calibri"/>
                          <a:ea typeface="Calibri"/>
                          <a:cs typeface="Calibri"/>
                          <a:sym typeface="Calibri"/>
                        </a:rPr>
                        <a:t>CUSTOMERS;</a:t>
                      </a:r>
                      <a:endParaRPr/>
                    </a:p>
                  </a:txBody>
                  <a:tcPr marL="91450" marR="91450" marT="45725" marB="45725"/>
                </a:tc>
                <a:tc>
                  <a:txBody>
                    <a:bodyPr/>
                    <a:lstStyle/>
                    <a:p>
                      <a:pPr marL="0" marR="0" lvl="0" indent="0" algn="l" rtl="0">
                        <a:spcBef>
                          <a:spcPts val="0"/>
                        </a:spcBef>
                        <a:spcAft>
                          <a:spcPts val="0"/>
                        </a:spcAft>
                        <a:buNone/>
                      </a:pPr>
                      <a:r>
                        <a:rPr lang="en-US" sz="1300"/>
                        <a:t>atelier graphique</a:t>
                      </a:r>
                      <a:endParaRPr sz="1300"/>
                    </a:p>
                  </a:txBody>
                  <a:tcPr marL="91450" marR="91450" marT="45725" marB="45725" anchor="ctr"/>
                </a:tc>
              </a:tr>
              <a:tr h="481975">
                <a:tc>
                  <a:txBody>
                    <a:bodyPr/>
                    <a:lstStyle/>
                    <a:p>
                      <a:pPr marL="0" marR="0" lvl="0" indent="0" algn="l" rtl="0">
                        <a:spcBef>
                          <a:spcPts val="0"/>
                        </a:spcBef>
                        <a:spcAft>
                          <a:spcPts val="0"/>
                        </a:spcAft>
                        <a:buNone/>
                      </a:pPr>
                      <a:r>
                        <a:rPr lang="en-US" sz="1300"/>
                        <a:t>CONCAT</a:t>
                      </a:r>
                      <a:endParaRPr sz="1300" b="0">
                        <a:latin typeface="Arial"/>
                        <a:ea typeface="Arial"/>
                        <a:cs typeface="Arial"/>
                        <a:sym typeface="Arial"/>
                      </a:endParaRPr>
                    </a:p>
                  </a:txBody>
                  <a:tcPr marL="91450" marR="91450" marT="45725" marB="45725"/>
                </a:tc>
                <a:tc>
                  <a:txBody>
                    <a:bodyPr/>
                    <a:lstStyle/>
                    <a:p>
                      <a:pPr marL="0" marR="0" lvl="0" indent="0" algn="l" rtl="0">
                        <a:spcBef>
                          <a:spcPts val="0"/>
                        </a:spcBef>
                        <a:spcAft>
                          <a:spcPts val="0"/>
                        </a:spcAft>
                        <a:buNone/>
                      </a:pPr>
                      <a:r>
                        <a:rPr lang="en-US" sz="1300"/>
                        <a:t>Concatenates the first character value to the second character value.	</a:t>
                      </a:r>
                      <a:endParaRPr sz="1300">
                        <a:solidFill>
                          <a:schemeClr val="dk1"/>
                        </a:solidFill>
                        <a:latin typeface="Arial"/>
                        <a:ea typeface="Arial"/>
                        <a:cs typeface="Arial"/>
                        <a:sym typeface="Arial"/>
                      </a:endParaRPr>
                    </a:p>
                  </a:txBody>
                  <a:tcPr marL="91450" marR="91450" marT="45725" marB="45725"/>
                </a:tc>
                <a:tc>
                  <a:txBody>
                    <a:bodyPr/>
                    <a:lstStyle/>
                    <a:p>
                      <a:pPr marL="0" marR="0" lvl="0" indent="0" algn="l" rtl="0">
                        <a:spcBef>
                          <a:spcPts val="0"/>
                        </a:spcBef>
                        <a:spcAft>
                          <a:spcPts val="0"/>
                        </a:spcAft>
                        <a:buNone/>
                      </a:pPr>
                      <a:r>
                        <a:rPr lang="en-US" sz="1300" b="0">
                          <a:solidFill>
                            <a:srgbClr val="0070C0"/>
                          </a:solidFill>
                        </a:rPr>
                        <a:t>SELECT CONCAT (</a:t>
                      </a:r>
                      <a:r>
                        <a:rPr lang="en-US" sz="1300" b="1">
                          <a:solidFill>
                            <a:srgbClr val="BC8F00"/>
                          </a:solidFill>
                          <a:latin typeface="Calibri"/>
                          <a:ea typeface="Calibri"/>
                          <a:cs typeface="Calibri"/>
                          <a:sym typeface="Calibri"/>
                        </a:rPr>
                        <a:t>CUSTOMERNUMBER</a:t>
                      </a:r>
                      <a:r>
                        <a:rPr lang="en-US" sz="1300" b="0">
                          <a:solidFill>
                            <a:srgbClr val="0070C0"/>
                          </a:solidFill>
                        </a:rPr>
                        <a:t>, </a:t>
                      </a:r>
                      <a:r>
                        <a:rPr lang="en-US" sz="1300" b="1">
                          <a:solidFill>
                            <a:srgbClr val="BC8F00"/>
                          </a:solidFill>
                          <a:latin typeface="Calibri"/>
                          <a:ea typeface="Calibri"/>
                          <a:cs typeface="Calibri"/>
                          <a:sym typeface="Calibri"/>
                        </a:rPr>
                        <a:t>CUSTOMENAME</a:t>
                      </a:r>
                      <a:r>
                        <a:rPr lang="en-US" sz="1300" b="0">
                          <a:solidFill>
                            <a:srgbClr val="0070C0"/>
                          </a:solidFill>
                        </a:rPr>
                        <a:t>) </a:t>
                      </a:r>
                      <a:endParaRPr/>
                    </a:p>
                    <a:p>
                      <a:pPr marL="0" marR="0" lvl="0" indent="0" algn="l" rtl="0">
                        <a:spcBef>
                          <a:spcPts val="0"/>
                        </a:spcBef>
                        <a:spcAft>
                          <a:spcPts val="0"/>
                        </a:spcAft>
                        <a:buNone/>
                      </a:pPr>
                      <a:r>
                        <a:rPr lang="en-US" sz="1300" b="0">
                          <a:solidFill>
                            <a:srgbClr val="0070C0"/>
                          </a:solidFill>
                        </a:rPr>
                        <a:t>FROM </a:t>
                      </a:r>
                      <a:r>
                        <a:rPr lang="en-US" sz="1300" b="1">
                          <a:solidFill>
                            <a:srgbClr val="BC8F00"/>
                          </a:solidFill>
                          <a:latin typeface="Calibri"/>
                          <a:ea typeface="Calibri"/>
                          <a:cs typeface="Calibri"/>
                          <a:sym typeface="Calibri"/>
                        </a:rPr>
                        <a:t>CUSTOMERS;</a:t>
                      </a:r>
                      <a:endParaRPr sz="1300" b="0">
                        <a:solidFill>
                          <a:srgbClr val="0070C0"/>
                        </a:solidFill>
                        <a:latin typeface="Arial"/>
                        <a:ea typeface="Arial"/>
                        <a:cs typeface="Arial"/>
                        <a:sym typeface="Arial"/>
                      </a:endParaRPr>
                    </a:p>
                  </a:txBody>
                  <a:tcPr marL="91450" marR="91450" marT="45725" marB="45725"/>
                </a:tc>
                <a:tc>
                  <a:txBody>
                    <a:bodyPr/>
                    <a:lstStyle/>
                    <a:p>
                      <a:pPr marL="0" marR="0" lvl="0" indent="0" algn="l" rtl="0">
                        <a:spcBef>
                          <a:spcPts val="0"/>
                        </a:spcBef>
                        <a:spcAft>
                          <a:spcPts val="0"/>
                        </a:spcAft>
                        <a:buNone/>
                      </a:pPr>
                      <a:r>
                        <a:rPr lang="en-US" sz="1300"/>
                        <a:t>103Atelier graphique</a:t>
                      </a:r>
                      <a:endParaRPr sz="1300">
                        <a:solidFill>
                          <a:schemeClr val="dk1"/>
                        </a:solidFill>
                        <a:latin typeface="Calibri"/>
                        <a:ea typeface="Calibri"/>
                        <a:cs typeface="Calibri"/>
                        <a:sym typeface="Calibri"/>
                      </a:endParaRPr>
                    </a:p>
                  </a:txBody>
                  <a:tcPr marL="91450" marR="91450" marT="45725" marB="45725" anchor="ctr"/>
                </a:tc>
              </a:tr>
              <a:tr h="677775">
                <a:tc>
                  <a:txBody>
                    <a:bodyPr/>
                    <a:lstStyle/>
                    <a:p>
                      <a:pPr marL="0" marR="0" lvl="0" indent="0" algn="l" rtl="0">
                        <a:spcBef>
                          <a:spcPts val="0"/>
                        </a:spcBef>
                        <a:spcAft>
                          <a:spcPts val="0"/>
                        </a:spcAft>
                        <a:buNone/>
                      </a:pPr>
                      <a:r>
                        <a:rPr lang="en-US" sz="1300"/>
                        <a:t>SUBSTRING</a:t>
                      </a:r>
                      <a:endParaRPr sz="1300" b="0">
                        <a:latin typeface="Arial"/>
                        <a:ea typeface="Arial"/>
                        <a:cs typeface="Arial"/>
                        <a:sym typeface="Arial"/>
                      </a:endParaRPr>
                    </a:p>
                  </a:txBody>
                  <a:tcPr marL="91450" marR="91450" marT="45725" marB="45725"/>
                </a:tc>
                <a:tc>
                  <a:txBody>
                    <a:bodyPr/>
                    <a:lstStyle/>
                    <a:p>
                      <a:pPr marL="0" marR="0" lvl="0" indent="0" algn="l" rtl="0">
                        <a:spcBef>
                          <a:spcPts val="0"/>
                        </a:spcBef>
                        <a:spcAft>
                          <a:spcPts val="0"/>
                        </a:spcAft>
                        <a:buNone/>
                      </a:pPr>
                      <a:r>
                        <a:rPr lang="en-US" sz="1300"/>
                        <a:t>Returns the specified characters from the character starting position and retrieve the next n characters. </a:t>
                      </a:r>
                      <a:endParaRPr sz="1300" b="0">
                        <a:latin typeface="Arial"/>
                        <a:ea typeface="Arial"/>
                        <a:cs typeface="Arial"/>
                        <a:sym typeface="Arial"/>
                      </a:endParaRPr>
                    </a:p>
                  </a:txBody>
                  <a:tcPr marL="91450" marR="91450" marT="45725" marB="45725"/>
                </a:tc>
                <a:tc>
                  <a:txBody>
                    <a:bodyPr/>
                    <a:lstStyle/>
                    <a:p>
                      <a:pPr marL="0" marR="0" lvl="0" indent="0" algn="l" rtl="0">
                        <a:lnSpc>
                          <a:spcPct val="100000"/>
                        </a:lnSpc>
                        <a:spcBef>
                          <a:spcPts val="0"/>
                        </a:spcBef>
                        <a:spcAft>
                          <a:spcPts val="0"/>
                        </a:spcAft>
                        <a:buClr>
                          <a:srgbClr val="0070C0"/>
                        </a:buClr>
                        <a:buSzPts val="1300"/>
                        <a:buFont typeface="Calibri"/>
                        <a:buNone/>
                      </a:pPr>
                      <a:r>
                        <a:rPr lang="en-US" sz="1300" b="0">
                          <a:solidFill>
                            <a:srgbClr val="0070C0"/>
                          </a:solidFill>
                        </a:rPr>
                        <a:t>SELECT SUBSTRING(</a:t>
                      </a:r>
                      <a:r>
                        <a:rPr lang="en-US" sz="1300" b="1">
                          <a:solidFill>
                            <a:srgbClr val="BC8F00"/>
                          </a:solidFill>
                          <a:latin typeface="Calibri"/>
                          <a:ea typeface="Calibri"/>
                          <a:cs typeface="Calibri"/>
                          <a:sym typeface="Calibri"/>
                        </a:rPr>
                        <a:t>CUSTOMENAME</a:t>
                      </a:r>
                      <a:r>
                        <a:rPr lang="en-US" sz="1300" b="0">
                          <a:solidFill>
                            <a:srgbClr val="0070C0"/>
                          </a:solidFill>
                          <a:latin typeface="Calibri"/>
                          <a:ea typeface="Calibri"/>
                          <a:cs typeface="Calibri"/>
                          <a:sym typeface="Calibri"/>
                        </a:rPr>
                        <a:t>,</a:t>
                      </a:r>
                      <a:r>
                        <a:rPr lang="en-US" sz="1300" b="0">
                          <a:solidFill>
                            <a:srgbClr val="0070C0"/>
                          </a:solidFill>
                        </a:rPr>
                        <a:t>1,3) </a:t>
                      </a:r>
                      <a:endParaRPr/>
                    </a:p>
                    <a:p>
                      <a:pPr marL="0" marR="0" lvl="0" indent="0" algn="l" rtl="0">
                        <a:lnSpc>
                          <a:spcPct val="100000"/>
                        </a:lnSpc>
                        <a:spcBef>
                          <a:spcPts val="0"/>
                        </a:spcBef>
                        <a:spcAft>
                          <a:spcPts val="0"/>
                        </a:spcAft>
                        <a:buClr>
                          <a:srgbClr val="0070C0"/>
                        </a:buClr>
                        <a:buSzPts val="1300"/>
                        <a:buFont typeface="Calibri"/>
                        <a:buNone/>
                      </a:pPr>
                      <a:r>
                        <a:rPr lang="en-US" sz="1300" b="0">
                          <a:solidFill>
                            <a:srgbClr val="0070C0"/>
                          </a:solidFill>
                        </a:rPr>
                        <a:t>FROM </a:t>
                      </a:r>
                      <a:r>
                        <a:rPr lang="en-US" sz="1300" b="1">
                          <a:solidFill>
                            <a:srgbClr val="BC8F00"/>
                          </a:solidFill>
                          <a:latin typeface="Calibri"/>
                          <a:ea typeface="Calibri"/>
                          <a:cs typeface="Calibri"/>
                          <a:sym typeface="Calibri"/>
                        </a:rPr>
                        <a:t>CUSTOMERS;</a:t>
                      </a:r>
                      <a:endParaRPr sz="1300" b="0">
                        <a:solidFill>
                          <a:srgbClr val="0070C0"/>
                        </a:solidFill>
                        <a:latin typeface="Arial"/>
                        <a:ea typeface="Arial"/>
                        <a:cs typeface="Arial"/>
                        <a:sym typeface="Arial"/>
                      </a:endParaRPr>
                    </a:p>
                  </a:txBody>
                  <a:tcPr marL="91450" marR="91450" marT="45725" marB="45725"/>
                </a:tc>
                <a:tc>
                  <a:txBody>
                    <a:bodyPr/>
                    <a:lstStyle/>
                    <a:p>
                      <a:pPr marL="0" marR="0" lvl="0" indent="0" algn="l" rtl="0">
                        <a:spcBef>
                          <a:spcPts val="0"/>
                        </a:spcBef>
                        <a:spcAft>
                          <a:spcPts val="0"/>
                        </a:spcAft>
                        <a:buNone/>
                      </a:pPr>
                      <a:r>
                        <a:rPr lang="en-US" sz="1300"/>
                        <a:t>Ate</a:t>
                      </a:r>
                      <a:endParaRPr sz="1300">
                        <a:solidFill>
                          <a:schemeClr val="dk1"/>
                        </a:solidFill>
                        <a:latin typeface="Calibri"/>
                        <a:ea typeface="Calibri"/>
                        <a:cs typeface="Calibri"/>
                        <a:sym typeface="Calibri"/>
                      </a:endParaRPr>
                    </a:p>
                  </a:txBody>
                  <a:tcPr marL="91450" marR="91450" marT="45725" marB="45725" anchor="ctr"/>
                </a:tc>
              </a:tr>
              <a:tr h="677775">
                <a:tc>
                  <a:txBody>
                    <a:bodyPr/>
                    <a:lstStyle/>
                    <a:p>
                      <a:pPr marL="0" marR="0" lvl="0" indent="0" algn="l" rtl="0">
                        <a:spcBef>
                          <a:spcPts val="0"/>
                        </a:spcBef>
                        <a:spcAft>
                          <a:spcPts val="0"/>
                        </a:spcAft>
                        <a:buNone/>
                      </a:pPr>
                      <a:r>
                        <a:rPr lang="en-US" sz="1300"/>
                        <a:t>TRIM</a:t>
                      </a:r>
                      <a:endParaRPr sz="1300" b="0">
                        <a:latin typeface="Arial"/>
                        <a:ea typeface="Arial"/>
                        <a:cs typeface="Arial"/>
                        <a:sym typeface="Arial"/>
                      </a:endParaRPr>
                    </a:p>
                  </a:txBody>
                  <a:tcPr marL="91450" marR="91450" marT="45725" marB="45725"/>
                </a:tc>
                <a:tc>
                  <a:txBody>
                    <a:bodyPr/>
                    <a:lstStyle/>
                    <a:p>
                      <a:pPr marL="0" marR="0" lvl="0" indent="0" algn="l" rtl="0">
                        <a:spcBef>
                          <a:spcPts val="0"/>
                        </a:spcBef>
                        <a:spcAft>
                          <a:spcPts val="0"/>
                        </a:spcAft>
                        <a:buNone/>
                      </a:pPr>
                      <a:r>
                        <a:rPr lang="en-US" sz="1300"/>
                        <a:t>Enable you to trim leading or trailing (or both) from a character string	</a:t>
                      </a:r>
                      <a:endParaRPr/>
                    </a:p>
                    <a:p>
                      <a:pPr marL="0" marR="0" lvl="0" indent="0" algn="l" rtl="0">
                        <a:spcBef>
                          <a:spcPts val="0"/>
                        </a:spcBef>
                        <a:spcAft>
                          <a:spcPts val="0"/>
                        </a:spcAft>
                        <a:buNone/>
                      </a:pPr>
                      <a:r>
                        <a:rPr lang="en-US" sz="1300"/>
                        <a:t>	</a:t>
                      </a:r>
                      <a:endParaRPr sz="1300">
                        <a:solidFill>
                          <a:schemeClr val="dk1"/>
                        </a:solidFill>
                        <a:latin typeface="Arial"/>
                        <a:ea typeface="Arial"/>
                        <a:cs typeface="Arial"/>
                        <a:sym typeface="Arial"/>
                      </a:endParaRPr>
                    </a:p>
                  </a:txBody>
                  <a:tcPr marL="91450" marR="91450" marT="45725" marB="45725"/>
                </a:tc>
                <a:tc>
                  <a:txBody>
                    <a:bodyPr/>
                    <a:lstStyle/>
                    <a:p>
                      <a:pPr marL="0" marR="0" lvl="0" indent="0" algn="l" rtl="0">
                        <a:lnSpc>
                          <a:spcPct val="100000"/>
                        </a:lnSpc>
                        <a:spcBef>
                          <a:spcPts val="0"/>
                        </a:spcBef>
                        <a:spcAft>
                          <a:spcPts val="0"/>
                        </a:spcAft>
                        <a:buClr>
                          <a:srgbClr val="0070C0"/>
                        </a:buClr>
                        <a:buSzPts val="1300"/>
                        <a:buFont typeface="Calibri"/>
                        <a:buNone/>
                      </a:pPr>
                      <a:r>
                        <a:rPr lang="en-US" sz="1300" b="0">
                          <a:solidFill>
                            <a:srgbClr val="0070C0"/>
                          </a:solidFill>
                        </a:rPr>
                        <a:t>SELECT TRIM(LEADING '</a:t>
                      </a:r>
                      <a:r>
                        <a:rPr lang="en-US" sz="1300" b="0">
                          <a:solidFill>
                            <a:srgbClr val="00B050"/>
                          </a:solidFill>
                        </a:rPr>
                        <a:t>A</a:t>
                      </a:r>
                      <a:r>
                        <a:rPr lang="en-US" sz="1300" b="0">
                          <a:solidFill>
                            <a:srgbClr val="0070C0"/>
                          </a:solidFill>
                        </a:rPr>
                        <a:t>' </a:t>
                      </a:r>
                      <a:endParaRPr/>
                    </a:p>
                    <a:p>
                      <a:pPr marL="0" marR="0" lvl="0" indent="0" algn="l" rtl="0">
                        <a:lnSpc>
                          <a:spcPct val="100000"/>
                        </a:lnSpc>
                        <a:spcBef>
                          <a:spcPts val="0"/>
                        </a:spcBef>
                        <a:spcAft>
                          <a:spcPts val="0"/>
                        </a:spcAft>
                        <a:buClr>
                          <a:srgbClr val="0070C0"/>
                        </a:buClr>
                        <a:buSzPts val="1300"/>
                        <a:buFont typeface="Calibri"/>
                        <a:buNone/>
                      </a:pPr>
                      <a:r>
                        <a:rPr lang="en-US" sz="1300" b="0">
                          <a:solidFill>
                            <a:srgbClr val="0070C0"/>
                          </a:solidFill>
                        </a:rPr>
                        <a:t>FROM </a:t>
                      </a:r>
                      <a:r>
                        <a:rPr lang="en-US" sz="1300" b="1">
                          <a:solidFill>
                            <a:srgbClr val="BC8F00"/>
                          </a:solidFill>
                          <a:latin typeface="Calibri"/>
                          <a:ea typeface="Calibri"/>
                          <a:cs typeface="Calibri"/>
                          <a:sym typeface="Calibri"/>
                        </a:rPr>
                        <a:t>CUSTOMENAME</a:t>
                      </a:r>
                      <a:r>
                        <a:rPr lang="en-US" sz="1300" b="0">
                          <a:solidFill>
                            <a:srgbClr val="0070C0"/>
                          </a:solidFill>
                        </a:rPr>
                        <a:t>) FROM </a:t>
                      </a:r>
                      <a:r>
                        <a:rPr lang="en-US" sz="1300" b="1">
                          <a:solidFill>
                            <a:srgbClr val="BC8F00"/>
                          </a:solidFill>
                          <a:latin typeface="Calibri"/>
                          <a:ea typeface="Calibri"/>
                          <a:cs typeface="Calibri"/>
                          <a:sym typeface="Calibri"/>
                        </a:rPr>
                        <a:t>CUSTOMERS</a:t>
                      </a:r>
                      <a:endParaRPr sz="1300" b="0">
                        <a:solidFill>
                          <a:srgbClr val="0070C0"/>
                        </a:solidFill>
                        <a:latin typeface="Arial"/>
                        <a:ea typeface="Arial"/>
                        <a:cs typeface="Arial"/>
                        <a:sym typeface="Arial"/>
                      </a:endParaRPr>
                    </a:p>
                    <a:p>
                      <a:pPr marL="0" marR="0" lvl="0" indent="0" algn="l" rtl="0">
                        <a:lnSpc>
                          <a:spcPct val="100000"/>
                        </a:lnSpc>
                        <a:spcBef>
                          <a:spcPts val="0"/>
                        </a:spcBef>
                        <a:spcAft>
                          <a:spcPts val="0"/>
                        </a:spcAft>
                        <a:buClr>
                          <a:srgbClr val="0070C0"/>
                        </a:buClr>
                        <a:buSzPts val="1300"/>
                        <a:buFont typeface="Calibri"/>
                        <a:buNone/>
                      </a:pPr>
                      <a:r>
                        <a:rPr lang="en-US" sz="1300" b="0">
                          <a:solidFill>
                            <a:srgbClr val="0070C0"/>
                          </a:solidFill>
                          <a:latin typeface="Calibri"/>
                          <a:ea typeface="Calibri"/>
                          <a:cs typeface="Calibri"/>
                          <a:sym typeface="Calibri"/>
                        </a:rPr>
                        <a:t>SELECT TRIM(TRAILING ‘</a:t>
                      </a:r>
                      <a:r>
                        <a:rPr lang="en-US" sz="1300" b="0">
                          <a:solidFill>
                            <a:srgbClr val="00B050"/>
                          </a:solidFill>
                          <a:latin typeface="Calibri"/>
                          <a:ea typeface="Calibri"/>
                          <a:cs typeface="Calibri"/>
                          <a:sym typeface="Calibri"/>
                        </a:rPr>
                        <a:t>e</a:t>
                      </a:r>
                      <a:r>
                        <a:rPr lang="en-US" sz="1300" b="0">
                          <a:solidFill>
                            <a:srgbClr val="0070C0"/>
                          </a:solidFill>
                          <a:latin typeface="Calibri"/>
                          <a:ea typeface="Calibri"/>
                          <a:cs typeface="Calibri"/>
                          <a:sym typeface="Calibri"/>
                        </a:rPr>
                        <a:t>' </a:t>
                      </a:r>
                      <a:endParaRPr/>
                    </a:p>
                    <a:p>
                      <a:pPr marL="0" marR="0" lvl="0" indent="0" algn="l" rtl="0">
                        <a:lnSpc>
                          <a:spcPct val="100000"/>
                        </a:lnSpc>
                        <a:spcBef>
                          <a:spcPts val="0"/>
                        </a:spcBef>
                        <a:spcAft>
                          <a:spcPts val="0"/>
                        </a:spcAft>
                        <a:buClr>
                          <a:srgbClr val="0070C0"/>
                        </a:buClr>
                        <a:buSzPts val="1300"/>
                        <a:buFont typeface="Calibri"/>
                        <a:buNone/>
                      </a:pPr>
                      <a:r>
                        <a:rPr lang="en-US" sz="1300" b="0">
                          <a:solidFill>
                            <a:srgbClr val="0070C0"/>
                          </a:solidFill>
                          <a:latin typeface="Calibri"/>
                          <a:ea typeface="Calibri"/>
                          <a:cs typeface="Calibri"/>
                          <a:sym typeface="Calibri"/>
                        </a:rPr>
                        <a:t>FROM </a:t>
                      </a:r>
                      <a:r>
                        <a:rPr lang="en-US" sz="1300" b="1">
                          <a:solidFill>
                            <a:srgbClr val="BC8F00"/>
                          </a:solidFill>
                          <a:latin typeface="Calibri"/>
                          <a:ea typeface="Calibri"/>
                          <a:cs typeface="Calibri"/>
                          <a:sym typeface="Calibri"/>
                        </a:rPr>
                        <a:t>CUSTOMENAME</a:t>
                      </a:r>
                      <a:r>
                        <a:rPr lang="en-US" sz="1300" b="0">
                          <a:solidFill>
                            <a:srgbClr val="0070C0"/>
                          </a:solidFill>
                          <a:latin typeface="Calibri"/>
                          <a:ea typeface="Calibri"/>
                          <a:cs typeface="Calibri"/>
                          <a:sym typeface="Calibri"/>
                        </a:rPr>
                        <a:t>) </a:t>
                      </a:r>
                      <a:endParaRPr/>
                    </a:p>
                    <a:p>
                      <a:pPr marL="0" marR="0" lvl="0" indent="0" algn="l" rtl="0">
                        <a:lnSpc>
                          <a:spcPct val="100000"/>
                        </a:lnSpc>
                        <a:spcBef>
                          <a:spcPts val="0"/>
                        </a:spcBef>
                        <a:spcAft>
                          <a:spcPts val="0"/>
                        </a:spcAft>
                        <a:buClr>
                          <a:srgbClr val="0070C0"/>
                        </a:buClr>
                        <a:buSzPts val="1300"/>
                        <a:buFont typeface="Calibri"/>
                        <a:buNone/>
                      </a:pPr>
                      <a:r>
                        <a:rPr lang="en-US" sz="1300" b="0">
                          <a:solidFill>
                            <a:srgbClr val="0070C0"/>
                          </a:solidFill>
                          <a:latin typeface="Calibri"/>
                          <a:ea typeface="Calibri"/>
                          <a:cs typeface="Calibri"/>
                          <a:sym typeface="Calibri"/>
                        </a:rPr>
                        <a:t>FROM </a:t>
                      </a:r>
                      <a:r>
                        <a:rPr lang="en-US" sz="1300" b="1">
                          <a:solidFill>
                            <a:srgbClr val="BC8F00"/>
                          </a:solidFill>
                          <a:latin typeface="Calibri"/>
                          <a:ea typeface="Calibri"/>
                          <a:cs typeface="Calibri"/>
                          <a:sym typeface="Calibri"/>
                        </a:rPr>
                        <a:t>CUSTOMERS;</a:t>
                      </a:r>
                      <a:endParaRPr sz="1300" b="0">
                        <a:solidFill>
                          <a:srgbClr val="0070C0"/>
                        </a:solidFill>
                        <a:latin typeface="Arial"/>
                        <a:ea typeface="Arial"/>
                        <a:cs typeface="Arial"/>
                        <a:sym typeface="Arial"/>
                      </a:endParaRPr>
                    </a:p>
                  </a:txBody>
                  <a:tcPr marL="91450" marR="91450" marT="45725" marB="45725"/>
                </a:tc>
                <a:tc>
                  <a:txBody>
                    <a:bodyPr/>
                    <a:lstStyle/>
                    <a:p>
                      <a:pPr marL="0" marR="0" lvl="0" indent="0" algn="l" rtl="0">
                        <a:spcBef>
                          <a:spcPts val="0"/>
                        </a:spcBef>
                        <a:spcAft>
                          <a:spcPts val="0"/>
                        </a:spcAft>
                        <a:buNone/>
                      </a:pPr>
                      <a:r>
                        <a:rPr lang="en-US" sz="1300"/>
                        <a:t>telier graphique</a:t>
                      </a:r>
                      <a:endParaRPr sz="1300"/>
                    </a:p>
                    <a:p>
                      <a:pPr marL="0" marR="0" lvl="0" indent="0" algn="l" rtl="0">
                        <a:spcBef>
                          <a:spcPts val="0"/>
                        </a:spcBef>
                        <a:spcAft>
                          <a:spcPts val="0"/>
                        </a:spcAft>
                        <a:buNone/>
                      </a:pPr>
                      <a:endParaRPr sz="1300"/>
                    </a:p>
                    <a:p>
                      <a:pPr marL="0" marR="0" lvl="0" indent="0" algn="l" rtl="0">
                        <a:spcBef>
                          <a:spcPts val="0"/>
                        </a:spcBef>
                        <a:spcAft>
                          <a:spcPts val="0"/>
                        </a:spcAft>
                        <a:buNone/>
                      </a:pPr>
                      <a:r>
                        <a:rPr lang="en-US" sz="1300"/>
                        <a:t>telier graphiqu</a:t>
                      </a:r>
                      <a:endParaRPr sz="1300">
                        <a:solidFill>
                          <a:schemeClr val="dk1"/>
                        </a:solidFill>
                        <a:latin typeface="Calibri"/>
                        <a:ea typeface="Calibri"/>
                        <a:cs typeface="Calibri"/>
                        <a:sym typeface="Calibri"/>
                      </a:endParaRPr>
                    </a:p>
                  </a:txBody>
                  <a:tcPr marL="91450" marR="91450" marT="45725" marB="45725" anchor="ctr"/>
                </a:tc>
              </a:tr>
            </a:tbl>
          </a:graphicData>
        </a:graphic>
      </p:graphicFrame>
      <p:sp>
        <p:nvSpPr>
          <p:cNvPr id="233" name="Google Shape;233;p19"/>
          <p:cNvSpPr/>
          <p:nvPr/>
        </p:nvSpPr>
        <p:spPr>
          <a:xfrm>
            <a:off x="381000" y="1214735"/>
            <a:ext cx="7696200"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The following are some of the String functions,</a:t>
            </a:r>
            <a:endParaRPr/>
          </a:p>
        </p:txBody>
      </p:sp>
      <p:sp>
        <p:nvSpPr>
          <p:cNvPr id="234" name="Google Shape;234;p19"/>
          <p:cNvSpPr txBox="1">
            <a:spLocks noGrp="1"/>
          </p:cNvSpPr>
          <p:nvPr>
            <p:ph type="sldNum" idx="12"/>
          </p:nvPr>
        </p:nvSpPr>
        <p:spPr>
          <a:xfrm>
            <a:off x="138752" y="6414139"/>
            <a:ext cx="457200" cy="277813"/>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fld id="{00000000-1234-1234-1234-123412341234}" type="slidenum">
              <a:rPr lang="en-US"/>
              <a:t>19</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32"/>
                                        </p:tgtEl>
                                        <p:attrNameLst>
                                          <p:attrName>style.visibility</p:attrName>
                                        </p:attrNameLst>
                                      </p:cBhvr>
                                      <p:to>
                                        <p:strVal val="visible"/>
                                      </p:to>
                                    </p:set>
                                    <p:animEffect transition="in" filter="fade">
                                      <p:cBhvr>
                                        <p:cTn id="7" dur="500"/>
                                        <p:tgtEl>
                                          <p:spTgt spid="2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39"/>
        <p:cNvGrpSpPr/>
        <p:nvPr/>
      </p:nvGrpSpPr>
      <p:grpSpPr>
        <a:xfrm>
          <a:off x="0" y="0"/>
          <a:ext cx="0" cy="0"/>
          <a:chOff x="0" y="0"/>
          <a:chExt cx="0" cy="0"/>
        </a:xfrm>
      </p:grpSpPr>
      <p:sp>
        <p:nvSpPr>
          <p:cNvPr id="240" name="Google Shape;240;p20"/>
          <p:cNvSpPr txBox="1">
            <a:spLocks noGrp="1"/>
          </p:cNvSpPr>
          <p:nvPr>
            <p:ph type="body" idx="1"/>
          </p:nvPr>
        </p:nvSpPr>
        <p:spPr>
          <a:xfrm>
            <a:off x="228600" y="1609725"/>
            <a:ext cx="8686800" cy="49466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rgbClr val="92D050"/>
              </a:buClr>
              <a:buSzPts val="4000"/>
              <a:buNone/>
            </a:pPr>
            <a:r>
              <a:rPr lang="en-US" sz="4000">
                <a:solidFill>
                  <a:srgbClr val="92D050"/>
                </a:solidFill>
              </a:rPr>
              <a:t>	</a:t>
            </a:r>
            <a:r>
              <a:rPr lang="en-US" sz="4000"/>
              <a:t>	 </a:t>
            </a:r>
            <a:endParaRPr/>
          </a:p>
          <a:p>
            <a:pPr marL="0" lvl="0" indent="0" algn="l" rtl="0">
              <a:spcBef>
                <a:spcPts val="360"/>
              </a:spcBef>
              <a:spcAft>
                <a:spcPts val="0"/>
              </a:spcAft>
              <a:buClr>
                <a:schemeClr val="dk1"/>
              </a:buClr>
              <a:buSzPts val="1800"/>
              <a:buNone/>
            </a:pPr>
            <a:endParaRPr sz="1800"/>
          </a:p>
          <a:p>
            <a:pPr marL="0" lvl="0" indent="0" algn="l" rtl="0">
              <a:spcBef>
                <a:spcPts val="360"/>
              </a:spcBef>
              <a:spcAft>
                <a:spcPts val="0"/>
              </a:spcAft>
              <a:buClr>
                <a:schemeClr val="dk1"/>
              </a:buClr>
              <a:buSzPts val="1800"/>
              <a:buNone/>
            </a:pPr>
            <a:endParaRPr sz="1800"/>
          </a:p>
          <a:p>
            <a:pPr marL="0" lvl="0" indent="0" algn="l" rtl="0">
              <a:spcBef>
                <a:spcPts val="360"/>
              </a:spcBef>
              <a:spcAft>
                <a:spcPts val="0"/>
              </a:spcAft>
              <a:buClr>
                <a:schemeClr val="dk1"/>
              </a:buClr>
              <a:buSzPts val="1800"/>
              <a:buNone/>
            </a:pPr>
            <a:endParaRPr sz="1800"/>
          </a:p>
          <a:p>
            <a:pPr marL="0" lvl="0" indent="0" algn="l" rtl="0">
              <a:spcBef>
                <a:spcPts val="360"/>
              </a:spcBef>
              <a:spcAft>
                <a:spcPts val="0"/>
              </a:spcAft>
              <a:buClr>
                <a:schemeClr val="dk1"/>
              </a:buClr>
              <a:buSzPts val="1800"/>
              <a:buNone/>
            </a:pPr>
            <a:endParaRPr sz="1800"/>
          </a:p>
          <a:p>
            <a:pPr marL="0" lvl="0" indent="0" algn="l" rtl="0">
              <a:spcBef>
                <a:spcPts val="400"/>
              </a:spcBef>
              <a:spcAft>
                <a:spcPts val="0"/>
              </a:spcAft>
              <a:buClr>
                <a:schemeClr val="dk1"/>
              </a:buClr>
              <a:buSzPts val="2000"/>
              <a:buNone/>
            </a:pPr>
            <a:endParaRPr sz="2000"/>
          </a:p>
          <a:p>
            <a:pPr marL="0" lvl="0" indent="0" algn="l" rtl="0">
              <a:spcBef>
                <a:spcPts val="400"/>
              </a:spcBef>
              <a:spcAft>
                <a:spcPts val="0"/>
              </a:spcAft>
              <a:buClr>
                <a:schemeClr val="dk1"/>
              </a:buClr>
              <a:buSzPts val="2000"/>
              <a:buNone/>
            </a:pPr>
            <a:endParaRPr sz="2000"/>
          </a:p>
        </p:txBody>
      </p:sp>
      <p:sp>
        <p:nvSpPr>
          <p:cNvPr id="241" name="Google Shape;241;p20"/>
          <p:cNvSpPr/>
          <p:nvPr/>
        </p:nvSpPr>
        <p:spPr>
          <a:xfrm>
            <a:off x="304800" y="5423095"/>
            <a:ext cx="8229600" cy="520505"/>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Lets learn about numeric functions which will help us meet TIM’s requirements..</a:t>
            </a:r>
            <a:endParaRPr/>
          </a:p>
        </p:txBody>
      </p:sp>
      <p:sp>
        <p:nvSpPr>
          <p:cNvPr id="242" name="Google Shape;242;p20"/>
          <p:cNvSpPr txBox="1">
            <a:spLocks noGrp="1"/>
          </p:cNvSpPr>
          <p:nvPr>
            <p:ph type="title"/>
          </p:nvPr>
        </p:nvSpPr>
        <p:spPr>
          <a:xfrm>
            <a:off x="1303020" y="-152400"/>
            <a:ext cx="829818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Scenario</a:t>
            </a:r>
            <a:endParaRPr/>
          </a:p>
        </p:txBody>
      </p:sp>
      <p:pic>
        <p:nvPicPr>
          <p:cNvPr id="243" name="Google Shape;243;p20" descr="http://t2.gstatic.com/images?q=tbn:ANd9GcTL1mkdoyuwr_kQ_JSoRzK49ZhvsNdgTBkXnCBFnKi-LZ3XUlKd&amp;t=1"/>
          <p:cNvPicPr preferRelativeResize="0"/>
          <p:nvPr/>
        </p:nvPicPr>
        <p:blipFill rotWithShape="1">
          <a:blip r:embed="rId3">
            <a:alphaModFix/>
          </a:blip>
          <a:srcRect/>
          <a:stretch/>
        </p:blipFill>
        <p:spPr>
          <a:xfrm>
            <a:off x="2133600" y="3429000"/>
            <a:ext cx="716508" cy="1524000"/>
          </a:xfrm>
          <a:prstGeom prst="roundRect">
            <a:avLst>
              <a:gd name="adj" fmla="val 8594"/>
            </a:avLst>
          </a:prstGeom>
          <a:solidFill>
            <a:srgbClr val="ECECEC"/>
          </a:solidFill>
          <a:ln>
            <a:noFill/>
          </a:ln>
          <a:effectLst>
            <a:reflection stA="38000" endPos="28000" dist="5000" dir="5400000" sy="-100000" algn="bl" rotWithShape="0"/>
          </a:effectLst>
        </p:spPr>
      </p:pic>
      <p:sp>
        <p:nvSpPr>
          <p:cNvPr id="244" name="Google Shape;244;p20"/>
          <p:cNvSpPr/>
          <p:nvPr/>
        </p:nvSpPr>
        <p:spPr>
          <a:xfrm>
            <a:off x="3200400" y="2209800"/>
            <a:ext cx="4038600" cy="1676400"/>
          </a:xfrm>
          <a:prstGeom prst="wedgeEllipseCallout">
            <a:avLst>
              <a:gd name="adj1" fmla="val -53321"/>
              <a:gd name="adj2" fmla="val 60557"/>
            </a:avLst>
          </a:prstGeom>
          <a:solidFill>
            <a:srgbClr val="EAF1DD"/>
          </a:solidFill>
          <a:ln w="9525"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4800">
                <a:solidFill>
                  <a:srgbClr val="00B0F0"/>
                </a:solidFill>
                <a:latin typeface="Calibri"/>
                <a:ea typeface="Calibri"/>
                <a:cs typeface="Calibri"/>
                <a:sym typeface="Calibri"/>
              </a:rPr>
              <a:t>Hi! </a:t>
            </a:r>
            <a:endParaRPr/>
          </a:p>
          <a:p>
            <a:pPr marL="0" marR="0" lvl="0" indent="0" algn="ctr" rtl="0">
              <a:spcBef>
                <a:spcPts val="0"/>
              </a:spcBef>
              <a:spcAft>
                <a:spcPts val="0"/>
              </a:spcAft>
              <a:buNone/>
            </a:pPr>
            <a:r>
              <a:rPr lang="en-US" sz="1600">
                <a:solidFill>
                  <a:srgbClr val="494429"/>
                </a:solidFill>
                <a:latin typeface="Calibri"/>
                <a:ea typeface="Calibri"/>
                <a:cs typeface="Calibri"/>
                <a:sym typeface="Calibri"/>
              </a:rPr>
              <a:t>Now that you have converted the names to upper case, now round the number to 2 decimal points. </a:t>
            </a:r>
            <a:endParaRPr/>
          </a:p>
          <a:p>
            <a:pPr marL="0" marR="0" lvl="0" indent="0" algn="ctr" rtl="0">
              <a:spcBef>
                <a:spcPts val="0"/>
              </a:spcBef>
              <a:spcAft>
                <a:spcPts val="0"/>
              </a:spcAft>
              <a:buNone/>
            </a:pPr>
            <a:endParaRPr sz="1600">
              <a:solidFill>
                <a:srgbClr val="494429"/>
              </a:solidFill>
              <a:latin typeface="Calibri"/>
              <a:ea typeface="Calibri"/>
              <a:cs typeface="Calibri"/>
              <a:sym typeface="Calibri"/>
            </a:endParaRPr>
          </a:p>
        </p:txBody>
      </p:sp>
      <p:sp>
        <p:nvSpPr>
          <p:cNvPr id="245" name="Google Shape;245;p20"/>
          <p:cNvSpPr txBox="1">
            <a:spLocks noGrp="1"/>
          </p:cNvSpPr>
          <p:nvPr>
            <p:ph type="sldNum" idx="12"/>
          </p:nvPr>
        </p:nvSpPr>
        <p:spPr>
          <a:xfrm>
            <a:off x="138752" y="6414139"/>
            <a:ext cx="457200" cy="277813"/>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fld id="{00000000-1234-1234-1234-123412341234}" type="slidenum">
              <a:rPr lang="en-US"/>
              <a:t>20</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43"/>
                                        </p:tgtEl>
                                        <p:attrNameLst>
                                          <p:attrName>style.visibility</p:attrName>
                                        </p:attrNameLst>
                                      </p:cBhvr>
                                      <p:to>
                                        <p:strVal val="visible"/>
                                      </p:to>
                                    </p:set>
                                    <p:animEffect transition="in" filter="fade">
                                      <p:cBhvr>
                                        <p:cTn id="7" dur="500"/>
                                        <p:tgtEl>
                                          <p:spTgt spid="243"/>
                                        </p:tgtEl>
                                      </p:cBhvr>
                                    </p:animEffect>
                                  </p:childTnLst>
                                </p:cTn>
                              </p:par>
                              <p:par>
                                <p:cTn id="8" presetID="10" presetClass="entr" presetSubtype="0" fill="hold" nodeType="withEffect">
                                  <p:stCondLst>
                                    <p:cond delay="0"/>
                                  </p:stCondLst>
                                  <p:childTnLst>
                                    <p:set>
                                      <p:cBhvr>
                                        <p:cTn id="9" dur="1" fill="hold">
                                          <p:stCondLst>
                                            <p:cond delay="0"/>
                                          </p:stCondLst>
                                        </p:cTn>
                                        <p:tgtEl>
                                          <p:spTgt spid="244"/>
                                        </p:tgtEl>
                                        <p:attrNameLst>
                                          <p:attrName>style.visibility</p:attrName>
                                        </p:attrNameLst>
                                      </p:cBhvr>
                                      <p:to>
                                        <p:strVal val="visible"/>
                                      </p:to>
                                    </p:set>
                                    <p:animEffect transition="in" filter="fade">
                                      <p:cBhvr>
                                        <p:cTn id="10" dur="1000"/>
                                        <p:tgtEl>
                                          <p:spTgt spid="2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50"/>
        <p:cNvGrpSpPr/>
        <p:nvPr/>
      </p:nvGrpSpPr>
      <p:grpSpPr>
        <a:xfrm>
          <a:off x="0" y="0"/>
          <a:ext cx="0" cy="0"/>
          <a:chOff x="0" y="0"/>
          <a:chExt cx="0" cy="0"/>
        </a:xfrm>
      </p:grpSpPr>
      <p:sp>
        <p:nvSpPr>
          <p:cNvPr id="251" name="Google Shape;251;p21"/>
          <p:cNvSpPr txBox="1">
            <a:spLocks noGrp="1"/>
          </p:cNvSpPr>
          <p:nvPr>
            <p:ph type="title"/>
          </p:nvPr>
        </p:nvSpPr>
        <p:spPr>
          <a:xfrm>
            <a:off x="1303020" y="-152400"/>
            <a:ext cx="829818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z="2800"/>
              <a:t>Numeric/Mathematical Functions</a:t>
            </a:r>
            <a:endParaRPr/>
          </a:p>
        </p:txBody>
      </p:sp>
      <p:sp>
        <p:nvSpPr>
          <p:cNvPr id="252" name="Google Shape;252;p21"/>
          <p:cNvSpPr txBox="1"/>
          <p:nvPr/>
        </p:nvSpPr>
        <p:spPr>
          <a:xfrm>
            <a:off x="381000" y="1157609"/>
            <a:ext cx="9144000" cy="2271391"/>
          </a:xfrm>
          <a:prstGeom prst="rect">
            <a:avLst/>
          </a:prstGeom>
          <a:noFill/>
          <a:ln>
            <a:noFill/>
          </a:ln>
        </p:spPr>
        <p:txBody>
          <a:bodyPr spcFirstLastPara="1" wrap="square" lIns="91425" tIns="45700" rIns="91425" bIns="45700" anchor="t" anchorCtr="0">
            <a:spAutoFit/>
          </a:bodyPr>
          <a:lstStyle/>
          <a:p>
            <a:pPr marL="0" marR="0" lvl="0" indent="0" algn="l" rtl="0">
              <a:lnSpc>
                <a:spcPct val="120000"/>
              </a:lnSpc>
              <a:spcBef>
                <a:spcPts val="0"/>
              </a:spcBef>
              <a:spcAft>
                <a:spcPts val="0"/>
              </a:spcAft>
              <a:buNone/>
            </a:pPr>
            <a:r>
              <a:rPr lang="en-US" sz="2400" b="1">
                <a:solidFill>
                  <a:schemeClr val="dk1"/>
                </a:solidFill>
                <a:latin typeface="Calibri"/>
                <a:ea typeface="Calibri"/>
                <a:cs typeface="Calibri"/>
                <a:sym typeface="Calibri"/>
              </a:rPr>
              <a:t>Numeric/Mathematical Functions</a:t>
            </a:r>
            <a:endParaRPr/>
          </a:p>
          <a:p>
            <a:pPr marL="0" marR="0" lvl="0" indent="0" algn="l" rtl="0">
              <a:lnSpc>
                <a:spcPct val="120000"/>
              </a:lnSpc>
              <a:spcBef>
                <a:spcPts val="0"/>
              </a:spcBef>
              <a:spcAft>
                <a:spcPts val="0"/>
              </a:spcAft>
              <a:buNone/>
            </a:pPr>
            <a:r>
              <a:rPr lang="en-US" sz="2200">
                <a:solidFill>
                  <a:schemeClr val="dk1"/>
                </a:solidFill>
                <a:latin typeface="Calibri"/>
                <a:ea typeface="Calibri"/>
                <a:cs typeface="Calibri"/>
                <a:sym typeface="Calibri"/>
              </a:rPr>
              <a:t>Mathematic functions accept numbers, process it &amp; return numeric values.</a:t>
            </a:r>
            <a:endParaRPr/>
          </a:p>
          <a:p>
            <a:pPr marL="0" marR="0" lvl="0" indent="0" algn="l" rtl="0">
              <a:lnSpc>
                <a:spcPct val="120000"/>
              </a:lnSpc>
              <a:spcBef>
                <a:spcPts val="0"/>
              </a:spcBef>
              <a:spcAft>
                <a:spcPts val="0"/>
              </a:spcAft>
              <a:buNone/>
            </a:pPr>
            <a:endParaRPr sz="2400" b="1">
              <a:solidFill>
                <a:schemeClr val="dk1"/>
              </a:solidFill>
              <a:latin typeface="Calibri"/>
              <a:ea typeface="Calibri"/>
              <a:cs typeface="Calibri"/>
              <a:sym typeface="Calibri"/>
            </a:endParaRPr>
          </a:p>
          <a:p>
            <a:pPr marL="0" marR="0" lvl="0" indent="0" algn="l" rtl="0">
              <a:lnSpc>
                <a:spcPct val="120000"/>
              </a:lnSpc>
              <a:spcBef>
                <a:spcPts val="0"/>
              </a:spcBef>
              <a:spcAft>
                <a:spcPts val="0"/>
              </a:spcAft>
              <a:buNone/>
            </a:pPr>
            <a:endParaRPr sz="2400">
              <a:solidFill>
                <a:schemeClr val="dk1"/>
              </a:solidFill>
              <a:latin typeface="Calibri"/>
              <a:ea typeface="Calibri"/>
              <a:cs typeface="Calibri"/>
              <a:sym typeface="Calibri"/>
            </a:endParaRPr>
          </a:p>
          <a:p>
            <a:pPr marL="0" marR="0" lvl="0" indent="0" algn="l" rtl="0">
              <a:lnSpc>
                <a:spcPct val="120000"/>
              </a:lnSpc>
              <a:spcBef>
                <a:spcPts val="0"/>
              </a:spcBef>
              <a:spcAft>
                <a:spcPts val="0"/>
              </a:spcAft>
              <a:buNone/>
            </a:pPr>
            <a:endParaRPr sz="2400">
              <a:solidFill>
                <a:schemeClr val="dk1"/>
              </a:solidFill>
              <a:latin typeface="Calibri"/>
              <a:ea typeface="Calibri"/>
              <a:cs typeface="Calibri"/>
              <a:sym typeface="Calibri"/>
            </a:endParaRPr>
          </a:p>
        </p:txBody>
      </p:sp>
      <p:graphicFrame>
        <p:nvGraphicFramePr>
          <p:cNvPr id="253" name="Google Shape;253;p21"/>
          <p:cNvGraphicFramePr/>
          <p:nvPr/>
        </p:nvGraphicFramePr>
        <p:xfrm>
          <a:off x="543636" y="1977390"/>
          <a:ext cx="7076375" cy="4423500"/>
        </p:xfrm>
        <a:graphic>
          <a:graphicData uri="http://schemas.openxmlformats.org/drawingml/2006/table">
            <a:tbl>
              <a:tblPr firstRow="1" bandRow="1">
                <a:noFill/>
                <a:tableStyleId>{7FFFBDA3-1227-47A5-887F-83766C0D3143}</a:tableStyleId>
              </a:tblPr>
              <a:tblGrid>
                <a:gridCol w="1371600"/>
                <a:gridCol w="5704775"/>
              </a:tblGrid>
              <a:tr h="370850">
                <a:tc>
                  <a:txBody>
                    <a:bodyPr/>
                    <a:lstStyle/>
                    <a:p>
                      <a:pPr marL="0" marR="0" lvl="0" indent="0" algn="ctr" rtl="0">
                        <a:spcBef>
                          <a:spcPts val="0"/>
                        </a:spcBef>
                        <a:spcAft>
                          <a:spcPts val="0"/>
                        </a:spcAft>
                        <a:buNone/>
                      </a:pPr>
                      <a:r>
                        <a:rPr lang="en-US" sz="1600" u="none" strike="noStrike"/>
                        <a:t>Function </a:t>
                      </a:r>
                      <a:endParaRPr sz="1600" b="1" i="0" u="none" strike="noStrike">
                        <a:solidFill>
                          <a:schemeClr val="lt1"/>
                        </a:solidFill>
                        <a:latin typeface="Calibri"/>
                        <a:ea typeface="Calibri"/>
                        <a:cs typeface="Calibri"/>
                        <a:sym typeface="Calibri"/>
                      </a:endParaRPr>
                    </a:p>
                  </a:txBody>
                  <a:tcPr marL="9525" marR="9525" marT="9525" marB="0" anchor="b"/>
                </a:tc>
                <a:tc>
                  <a:txBody>
                    <a:bodyPr/>
                    <a:lstStyle/>
                    <a:p>
                      <a:pPr marL="0" marR="0" lvl="0" indent="0" algn="ctr" rtl="0">
                        <a:spcBef>
                          <a:spcPts val="0"/>
                        </a:spcBef>
                        <a:spcAft>
                          <a:spcPts val="0"/>
                        </a:spcAft>
                        <a:buNone/>
                      </a:pPr>
                      <a:r>
                        <a:rPr lang="en-US" sz="1600" u="none" strike="noStrike"/>
                        <a:t>Usage</a:t>
                      </a:r>
                      <a:endParaRPr sz="1600" b="1" i="0" u="none" strike="noStrike">
                        <a:solidFill>
                          <a:schemeClr val="lt1"/>
                        </a:solidFill>
                        <a:latin typeface="Calibri"/>
                        <a:ea typeface="Calibri"/>
                        <a:cs typeface="Calibri"/>
                        <a:sym typeface="Calibri"/>
                      </a:endParaRPr>
                    </a:p>
                  </a:txBody>
                  <a:tcPr marL="9525" marR="9525" marT="9525" marB="0" anchor="b"/>
                </a:tc>
              </a:tr>
              <a:tr h="370850">
                <a:tc>
                  <a:txBody>
                    <a:bodyPr/>
                    <a:lstStyle/>
                    <a:p>
                      <a:pPr marL="0" marR="0" lvl="0" indent="0" algn="ctr" rtl="0">
                        <a:spcBef>
                          <a:spcPts val="0"/>
                        </a:spcBef>
                        <a:spcAft>
                          <a:spcPts val="0"/>
                        </a:spcAft>
                        <a:buNone/>
                      </a:pPr>
                      <a:r>
                        <a:rPr lang="en-US" sz="1400" u="none" strike="noStrike"/>
                        <a:t>ABS</a:t>
                      </a:r>
                      <a:endParaRPr sz="1400" b="1" i="0" u="none" strike="noStrike">
                        <a:solidFill>
                          <a:srgbClr val="000000"/>
                        </a:solidFill>
                        <a:latin typeface="Calibri"/>
                        <a:ea typeface="Calibri"/>
                        <a:cs typeface="Calibri"/>
                        <a:sym typeface="Calibri"/>
                      </a:endParaRPr>
                    </a:p>
                  </a:txBody>
                  <a:tcPr marL="9525" marR="9525" marT="9525" marB="0" anchor="b"/>
                </a:tc>
                <a:tc>
                  <a:txBody>
                    <a:bodyPr/>
                    <a:lstStyle/>
                    <a:p>
                      <a:pPr marL="0" marR="0" lvl="0" indent="0" algn="l" rtl="0">
                        <a:spcBef>
                          <a:spcPts val="0"/>
                        </a:spcBef>
                        <a:spcAft>
                          <a:spcPts val="0"/>
                        </a:spcAft>
                        <a:buNone/>
                      </a:pPr>
                      <a:r>
                        <a:rPr lang="en-US" sz="1400" u="none" strike="noStrike"/>
                        <a:t>Returns the and absolute value of n.</a:t>
                      </a:r>
                      <a:endParaRPr sz="1400" b="0" i="0" u="none" strike="noStrike">
                        <a:solidFill>
                          <a:srgbClr val="000000"/>
                        </a:solidFill>
                        <a:latin typeface="Calibri"/>
                        <a:ea typeface="Calibri"/>
                        <a:cs typeface="Calibri"/>
                        <a:sym typeface="Calibri"/>
                      </a:endParaRPr>
                    </a:p>
                  </a:txBody>
                  <a:tcPr marL="9525" marR="9525" marT="9525" marB="0" anchor="b"/>
                </a:tc>
              </a:tr>
              <a:tr h="370850">
                <a:tc>
                  <a:txBody>
                    <a:bodyPr/>
                    <a:lstStyle/>
                    <a:p>
                      <a:pPr marL="0" marR="0" lvl="0" indent="0" algn="ctr" rtl="0">
                        <a:spcBef>
                          <a:spcPts val="0"/>
                        </a:spcBef>
                        <a:spcAft>
                          <a:spcPts val="0"/>
                        </a:spcAft>
                        <a:buNone/>
                      </a:pPr>
                      <a:r>
                        <a:rPr lang="en-US" sz="1400" u="none" strike="noStrike"/>
                        <a:t>CEIL</a:t>
                      </a:r>
                      <a:endParaRPr sz="1400" b="1" i="0" u="none" strike="noStrike">
                        <a:solidFill>
                          <a:srgbClr val="000000"/>
                        </a:solidFill>
                        <a:latin typeface="Calibri"/>
                        <a:ea typeface="Calibri"/>
                        <a:cs typeface="Calibri"/>
                        <a:sym typeface="Calibri"/>
                      </a:endParaRPr>
                    </a:p>
                  </a:txBody>
                  <a:tcPr marL="9525" marR="9525" marT="9525" marB="0" anchor="b"/>
                </a:tc>
                <a:tc>
                  <a:txBody>
                    <a:bodyPr/>
                    <a:lstStyle/>
                    <a:p>
                      <a:pPr marL="0" marR="0" lvl="0" indent="0" algn="l" rtl="0">
                        <a:spcBef>
                          <a:spcPts val="0"/>
                        </a:spcBef>
                        <a:spcAft>
                          <a:spcPts val="0"/>
                        </a:spcAft>
                        <a:buNone/>
                      </a:pPr>
                      <a:r>
                        <a:rPr lang="en-US" sz="1400" u="none" strike="noStrike"/>
                        <a:t>Returns the smallest integer greater than or equal to n.</a:t>
                      </a:r>
                      <a:endParaRPr sz="1400" b="0" i="0" u="none" strike="noStrike">
                        <a:solidFill>
                          <a:srgbClr val="000000"/>
                        </a:solidFill>
                        <a:latin typeface="Calibri"/>
                        <a:ea typeface="Calibri"/>
                        <a:cs typeface="Calibri"/>
                        <a:sym typeface="Calibri"/>
                      </a:endParaRPr>
                    </a:p>
                  </a:txBody>
                  <a:tcPr marL="9525" marR="9525" marT="9525" marB="0" anchor="b"/>
                </a:tc>
              </a:tr>
              <a:tr h="370850">
                <a:tc>
                  <a:txBody>
                    <a:bodyPr/>
                    <a:lstStyle/>
                    <a:p>
                      <a:pPr marL="0" marR="0" lvl="0" indent="0" algn="ctr" rtl="0">
                        <a:spcBef>
                          <a:spcPts val="0"/>
                        </a:spcBef>
                        <a:spcAft>
                          <a:spcPts val="0"/>
                        </a:spcAft>
                        <a:buNone/>
                      </a:pPr>
                      <a:r>
                        <a:rPr lang="en-US" sz="1400" u="none" strike="noStrike"/>
                        <a:t>FLOOR </a:t>
                      </a:r>
                      <a:endParaRPr sz="1400" b="1" i="0" u="none" strike="noStrike">
                        <a:solidFill>
                          <a:srgbClr val="000000"/>
                        </a:solidFill>
                        <a:latin typeface="Calibri"/>
                        <a:ea typeface="Calibri"/>
                        <a:cs typeface="Calibri"/>
                        <a:sym typeface="Calibri"/>
                      </a:endParaRPr>
                    </a:p>
                  </a:txBody>
                  <a:tcPr marL="9525" marR="9525" marT="9525" marB="0" anchor="b"/>
                </a:tc>
                <a:tc>
                  <a:txBody>
                    <a:bodyPr/>
                    <a:lstStyle/>
                    <a:p>
                      <a:pPr marL="0" marR="0" lvl="0" indent="0" algn="l" rtl="0">
                        <a:spcBef>
                          <a:spcPts val="0"/>
                        </a:spcBef>
                        <a:spcAft>
                          <a:spcPts val="0"/>
                        </a:spcAft>
                        <a:buNone/>
                      </a:pPr>
                      <a:r>
                        <a:rPr lang="en-US" sz="1400" u="none" strike="noStrike"/>
                        <a:t>Returns the largest integer equal to or less than n.</a:t>
                      </a:r>
                      <a:endParaRPr sz="1400" b="0" i="0" u="none" strike="noStrike">
                        <a:solidFill>
                          <a:srgbClr val="000000"/>
                        </a:solidFill>
                        <a:latin typeface="Calibri"/>
                        <a:ea typeface="Calibri"/>
                        <a:cs typeface="Calibri"/>
                        <a:sym typeface="Calibri"/>
                      </a:endParaRPr>
                    </a:p>
                  </a:txBody>
                  <a:tcPr marL="9525" marR="9525" marT="9525" marB="0" anchor="b"/>
                </a:tc>
              </a:tr>
              <a:tr h="370850">
                <a:tc>
                  <a:txBody>
                    <a:bodyPr/>
                    <a:lstStyle/>
                    <a:p>
                      <a:pPr marL="0" marR="0" lvl="0" indent="0" algn="ctr" rtl="0">
                        <a:spcBef>
                          <a:spcPts val="0"/>
                        </a:spcBef>
                        <a:spcAft>
                          <a:spcPts val="0"/>
                        </a:spcAft>
                        <a:buNone/>
                      </a:pPr>
                      <a:r>
                        <a:rPr lang="en-US" sz="1400" u="none" strike="noStrike"/>
                        <a:t>MOD</a:t>
                      </a:r>
                      <a:endParaRPr sz="1400" b="1" i="0" u="none" strike="noStrike">
                        <a:solidFill>
                          <a:srgbClr val="000000"/>
                        </a:solidFill>
                        <a:latin typeface="Calibri"/>
                        <a:ea typeface="Calibri"/>
                        <a:cs typeface="Calibri"/>
                        <a:sym typeface="Calibri"/>
                      </a:endParaRPr>
                    </a:p>
                  </a:txBody>
                  <a:tcPr marL="9525" marR="9525" marT="9525" marB="0" anchor="b"/>
                </a:tc>
                <a:tc>
                  <a:txBody>
                    <a:bodyPr/>
                    <a:lstStyle/>
                    <a:p>
                      <a:pPr marL="0" marR="0" lvl="0" indent="0" algn="l" rtl="0">
                        <a:spcBef>
                          <a:spcPts val="0"/>
                        </a:spcBef>
                        <a:spcAft>
                          <a:spcPts val="0"/>
                        </a:spcAft>
                        <a:buNone/>
                      </a:pPr>
                      <a:r>
                        <a:rPr lang="en-US" sz="1400" u="none" strike="noStrike"/>
                        <a:t>Returns the operator operator remainder of m divided by n; returns m if n is 0.</a:t>
                      </a:r>
                      <a:endParaRPr sz="1400" b="0" i="0" u="none" strike="noStrike">
                        <a:solidFill>
                          <a:srgbClr val="000000"/>
                        </a:solidFill>
                        <a:latin typeface="Calibri"/>
                        <a:ea typeface="Calibri"/>
                        <a:cs typeface="Calibri"/>
                        <a:sym typeface="Calibri"/>
                      </a:endParaRPr>
                    </a:p>
                  </a:txBody>
                  <a:tcPr marL="9525" marR="9525" marT="9525" marB="0" anchor="b"/>
                </a:tc>
              </a:tr>
              <a:tr h="370850">
                <a:tc>
                  <a:txBody>
                    <a:bodyPr/>
                    <a:lstStyle/>
                    <a:p>
                      <a:pPr marL="0" marR="0" lvl="0" indent="0" algn="ctr" rtl="0">
                        <a:spcBef>
                          <a:spcPts val="0"/>
                        </a:spcBef>
                        <a:spcAft>
                          <a:spcPts val="0"/>
                        </a:spcAft>
                        <a:buNone/>
                      </a:pPr>
                      <a:r>
                        <a:rPr lang="en-US" sz="1400" u="none" strike="noStrike"/>
                        <a:t>PI</a:t>
                      </a:r>
                      <a:endParaRPr sz="1400" b="1" i="0" u="none" strike="noStrike">
                        <a:solidFill>
                          <a:srgbClr val="000000"/>
                        </a:solidFill>
                        <a:latin typeface="Calibri"/>
                        <a:ea typeface="Calibri"/>
                        <a:cs typeface="Calibri"/>
                        <a:sym typeface="Calibri"/>
                      </a:endParaRPr>
                    </a:p>
                  </a:txBody>
                  <a:tcPr marL="9525" marR="9525" marT="9525" marB="0" anchor="b"/>
                </a:tc>
                <a:tc>
                  <a:txBody>
                    <a:bodyPr/>
                    <a:lstStyle/>
                    <a:p>
                      <a:pPr marL="0" marR="0" lvl="0" indent="0" algn="l" rtl="0">
                        <a:spcBef>
                          <a:spcPts val="0"/>
                        </a:spcBef>
                        <a:spcAft>
                          <a:spcPts val="0"/>
                        </a:spcAft>
                        <a:buNone/>
                      </a:pPr>
                      <a:r>
                        <a:rPr lang="en-US" sz="1400" u="none" strike="noStrike"/>
                        <a:t>Returns pi (approx. 3.1415926...).</a:t>
                      </a:r>
                      <a:endParaRPr sz="1400" b="0" i="0" u="none" strike="noStrike">
                        <a:solidFill>
                          <a:srgbClr val="000000"/>
                        </a:solidFill>
                        <a:latin typeface="Calibri"/>
                        <a:ea typeface="Calibri"/>
                        <a:cs typeface="Calibri"/>
                        <a:sym typeface="Calibri"/>
                      </a:endParaRPr>
                    </a:p>
                  </a:txBody>
                  <a:tcPr marL="9525" marR="9525" marT="9525" marB="0" anchor="b"/>
                </a:tc>
              </a:tr>
              <a:tr h="370850">
                <a:tc>
                  <a:txBody>
                    <a:bodyPr/>
                    <a:lstStyle/>
                    <a:p>
                      <a:pPr marL="0" marR="0" lvl="0" indent="0" algn="ctr" rtl="0">
                        <a:spcBef>
                          <a:spcPts val="0"/>
                        </a:spcBef>
                        <a:spcAft>
                          <a:spcPts val="0"/>
                        </a:spcAft>
                        <a:buNone/>
                      </a:pPr>
                      <a:r>
                        <a:rPr lang="en-US" sz="1400" u="none" strike="noStrike"/>
                        <a:t>POWER</a:t>
                      </a:r>
                      <a:endParaRPr sz="1400" b="1" i="0" u="none" strike="noStrike">
                        <a:solidFill>
                          <a:srgbClr val="000000"/>
                        </a:solidFill>
                        <a:latin typeface="Calibri"/>
                        <a:ea typeface="Calibri"/>
                        <a:cs typeface="Calibri"/>
                        <a:sym typeface="Calibri"/>
                      </a:endParaRPr>
                    </a:p>
                  </a:txBody>
                  <a:tcPr marL="9525" marR="9525" marT="9525" marB="0" anchor="b"/>
                </a:tc>
                <a:tc>
                  <a:txBody>
                    <a:bodyPr/>
                    <a:lstStyle/>
                    <a:p>
                      <a:pPr marL="0" marR="0" lvl="0" indent="0" algn="l" rtl="0">
                        <a:spcBef>
                          <a:spcPts val="0"/>
                        </a:spcBef>
                        <a:spcAft>
                          <a:spcPts val="0"/>
                        </a:spcAft>
                        <a:buNone/>
                      </a:pPr>
                      <a:r>
                        <a:rPr lang="en-US" sz="1400" u="none" strike="noStrike"/>
                        <a:t>Returns m raised to the nth power.</a:t>
                      </a:r>
                      <a:endParaRPr sz="1400" b="0" i="0" u="none" strike="noStrike">
                        <a:solidFill>
                          <a:srgbClr val="000000"/>
                        </a:solidFill>
                        <a:latin typeface="Calibri"/>
                        <a:ea typeface="Calibri"/>
                        <a:cs typeface="Calibri"/>
                        <a:sym typeface="Calibri"/>
                      </a:endParaRPr>
                    </a:p>
                  </a:txBody>
                  <a:tcPr marL="9525" marR="9525" marT="9525" marB="0" anchor="b"/>
                </a:tc>
              </a:tr>
              <a:tr h="370850">
                <a:tc>
                  <a:txBody>
                    <a:bodyPr/>
                    <a:lstStyle/>
                    <a:p>
                      <a:pPr marL="0" marR="0" lvl="0" indent="0" algn="ctr" rtl="0">
                        <a:spcBef>
                          <a:spcPts val="0"/>
                        </a:spcBef>
                        <a:spcAft>
                          <a:spcPts val="0"/>
                        </a:spcAft>
                        <a:buNone/>
                      </a:pPr>
                      <a:r>
                        <a:rPr lang="en-US" sz="1400" u="none" strike="noStrike"/>
                        <a:t>ROUND</a:t>
                      </a:r>
                      <a:endParaRPr sz="1400" b="1" i="0" u="none" strike="noStrike">
                        <a:solidFill>
                          <a:srgbClr val="000000"/>
                        </a:solidFill>
                        <a:latin typeface="Calibri"/>
                        <a:ea typeface="Calibri"/>
                        <a:cs typeface="Calibri"/>
                        <a:sym typeface="Calibri"/>
                      </a:endParaRPr>
                    </a:p>
                  </a:txBody>
                  <a:tcPr marL="9525" marR="9525" marT="9525" marB="0" anchor="b"/>
                </a:tc>
                <a:tc>
                  <a:txBody>
                    <a:bodyPr/>
                    <a:lstStyle/>
                    <a:p>
                      <a:pPr marL="0" marR="0" lvl="0" indent="0" algn="l" rtl="0">
                        <a:spcBef>
                          <a:spcPts val="0"/>
                        </a:spcBef>
                        <a:spcAft>
                          <a:spcPts val="0"/>
                        </a:spcAft>
                        <a:buNone/>
                      </a:pPr>
                      <a:r>
                        <a:rPr lang="en-US" sz="1400" u="none" strike="noStrike"/>
                        <a:t>Returns a numeric expression rounded to the specified length or precision.</a:t>
                      </a:r>
                      <a:endParaRPr sz="1400" b="0" i="0" u="none" strike="noStrike">
                        <a:solidFill>
                          <a:srgbClr val="000000"/>
                        </a:solidFill>
                        <a:latin typeface="Calibri"/>
                        <a:ea typeface="Calibri"/>
                        <a:cs typeface="Calibri"/>
                        <a:sym typeface="Calibri"/>
                      </a:endParaRPr>
                    </a:p>
                  </a:txBody>
                  <a:tcPr marL="9525" marR="9525" marT="9525" marB="0" anchor="b"/>
                </a:tc>
              </a:tr>
              <a:tr h="370850">
                <a:tc>
                  <a:txBody>
                    <a:bodyPr/>
                    <a:lstStyle/>
                    <a:p>
                      <a:pPr marL="0" marR="0" lvl="0" indent="0" algn="ctr" rtl="0">
                        <a:spcBef>
                          <a:spcPts val="0"/>
                        </a:spcBef>
                        <a:spcAft>
                          <a:spcPts val="0"/>
                        </a:spcAft>
                        <a:buNone/>
                      </a:pPr>
                      <a:r>
                        <a:rPr lang="en-US" sz="1400" u="none" strike="noStrike"/>
                        <a:t>SQRT</a:t>
                      </a:r>
                      <a:endParaRPr sz="1400" b="1" i="0" u="none" strike="noStrike">
                        <a:solidFill>
                          <a:srgbClr val="000000"/>
                        </a:solidFill>
                        <a:latin typeface="Calibri"/>
                        <a:ea typeface="Calibri"/>
                        <a:cs typeface="Calibri"/>
                        <a:sym typeface="Calibri"/>
                      </a:endParaRPr>
                    </a:p>
                  </a:txBody>
                  <a:tcPr marL="9525" marR="9525" marT="9525" marB="0" anchor="b"/>
                </a:tc>
                <a:tc>
                  <a:txBody>
                    <a:bodyPr/>
                    <a:lstStyle/>
                    <a:p>
                      <a:pPr marL="0" marR="0" lvl="0" indent="0" algn="l" rtl="0">
                        <a:spcBef>
                          <a:spcPts val="0"/>
                        </a:spcBef>
                        <a:spcAft>
                          <a:spcPts val="0"/>
                        </a:spcAft>
                        <a:buNone/>
                      </a:pPr>
                      <a:r>
                        <a:rPr lang="en-US" sz="1400" u="none" strike="noStrike"/>
                        <a:t>Returns the square root of n.</a:t>
                      </a:r>
                      <a:endParaRPr sz="1400" b="0" i="0" u="none" strike="noStrike">
                        <a:solidFill>
                          <a:srgbClr val="000000"/>
                        </a:solidFill>
                        <a:latin typeface="Calibri"/>
                        <a:ea typeface="Calibri"/>
                        <a:cs typeface="Calibri"/>
                        <a:sym typeface="Calibri"/>
                      </a:endParaRPr>
                    </a:p>
                  </a:txBody>
                  <a:tcPr marL="9525" marR="9525" marT="9525" marB="0" anchor="b"/>
                </a:tc>
              </a:tr>
              <a:tr h="370850">
                <a:tc>
                  <a:txBody>
                    <a:bodyPr/>
                    <a:lstStyle/>
                    <a:p>
                      <a:pPr marL="0" marR="0" lvl="0" indent="0" algn="ctr" rtl="0">
                        <a:spcBef>
                          <a:spcPts val="0"/>
                        </a:spcBef>
                        <a:spcAft>
                          <a:spcPts val="0"/>
                        </a:spcAft>
                        <a:buNone/>
                      </a:pPr>
                      <a:r>
                        <a:rPr lang="en-US" sz="1400" u="none" strike="noStrike"/>
                        <a:t>SQUARE</a:t>
                      </a:r>
                      <a:endParaRPr sz="1400" b="1" i="0" u="none" strike="noStrike">
                        <a:solidFill>
                          <a:srgbClr val="000000"/>
                        </a:solidFill>
                        <a:latin typeface="Calibri"/>
                        <a:ea typeface="Calibri"/>
                        <a:cs typeface="Calibri"/>
                        <a:sym typeface="Calibri"/>
                      </a:endParaRPr>
                    </a:p>
                  </a:txBody>
                  <a:tcPr marL="9525" marR="9525" marT="9525" marB="0" anchor="b"/>
                </a:tc>
                <a:tc>
                  <a:txBody>
                    <a:bodyPr/>
                    <a:lstStyle/>
                    <a:p>
                      <a:pPr marL="0" marR="0" lvl="0" indent="0" algn="l" rtl="0">
                        <a:spcBef>
                          <a:spcPts val="0"/>
                        </a:spcBef>
                        <a:spcAft>
                          <a:spcPts val="0"/>
                        </a:spcAft>
                        <a:buNone/>
                      </a:pPr>
                      <a:r>
                        <a:rPr lang="en-US" sz="1400" u="none" strike="noStrike"/>
                        <a:t>Returns the expression raised to the power of 2; equivalent to POWER</a:t>
                      </a:r>
                      <a:br>
                        <a:rPr lang="en-US" sz="1400" u="none" strike="noStrike"/>
                      </a:br>
                      <a:r>
                        <a:rPr lang="en-US" sz="1400" u="none" strike="noStrike"/>
                        <a:t>(number,2).</a:t>
                      </a:r>
                      <a:endParaRPr sz="1400" b="0" i="0" u="none" strike="noStrike">
                        <a:solidFill>
                          <a:srgbClr val="000000"/>
                        </a:solidFill>
                        <a:latin typeface="Calibri"/>
                        <a:ea typeface="Calibri"/>
                        <a:cs typeface="Calibri"/>
                        <a:sym typeface="Calibri"/>
                      </a:endParaRPr>
                    </a:p>
                  </a:txBody>
                  <a:tcPr marL="9525" marR="9525" marT="9525" marB="0" anchor="b"/>
                </a:tc>
              </a:tr>
              <a:tr h="370850">
                <a:tc>
                  <a:txBody>
                    <a:bodyPr/>
                    <a:lstStyle/>
                    <a:p>
                      <a:pPr marL="0" marR="0" lvl="0" indent="0" algn="ctr" rtl="0">
                        <a:spcBef>
                          <a:spcPts val="0"/>
                        </a:spcBef>
                        <a:spcAft>
                          <a:spcPts val="0"/>
                        </a:spcAft>
                        <a:buNone/>
                      </a:pPr>
                      <a:r>
                        <a:rPr lang="en-US" sz="1400" u="none" strike="noStrike"/>
                        <a:t>TRUNC </a:t>
                      </a:r>
                      <a:endParaRPr sz="1400" u="none" strike="noStrike"/>
                    </a:p>
                    <a:p>
                      <a:pPr marL="0" marR="0" lvl="0" indent="0" algn="ctr" rtl="0">
                        <a:spcBef>
                          <a:spcPts val="0"/>
                        </a:spcBef>
                        <a:spcAft>
                          <a:spcPts val="0"/>
                        </a:spcAft>
                        <a:buNone/>
                      </a:pPr>
                      <a:r>
                        <a:rPr lang="en-US" sz="1400" u="none" strike="noStrike"/>
                        <a:t>or </a:t>
                      </a:r>
                      <a:endParaRPr/>
                    </a:p>
                    <a:p>
                      <a:pPr marL="0" marR="0" lvl="0" indent="0" algn="ctr" rtl="0">
                        <a:spcBef>
                          <a:spcPts val="0"/>
                        </a:spcBef>
                        <a:spcAft>
                          <a:spcPts val="0"/>
                        </a:spcAft>
                        <a:buNone/>
                      </a:pPr>
                      <a:r>
                        <a:rPr lang="en-US" sz="1400" u="none" strike="noStrike"/>
                        <a:t>TRUNCATE </a:t>
                      </a:r>
                      <a:endParaRPr sz="1400" b="1" i="0" u="none" strike="noStrike">
                        <a:solidFill>
                          <a:srgbClr val="000000"/>
                        </a:solidFill>
                        <a:latin typeface="Calibri"/>
                        <a:ea typeface="Calibri"/>
                        <a:cs typeface="Calibri"/>
                        <a:sym typeface="Calibri"/>
                      </a:endParaRPr>
                    </a:p>
                  </a:txBody>
                  <a:tcPr marL="9525" marR="9525" marT="9525" marB="0" anchor="b"/>
                </a:tc>
                <a:tc>
                  <a:txBody>
                    <a:bodyPr/>
                    <a:lstStyle/>
                    <a:p>
                      <a:pPr marL="0" marR="0" lvl="0" indent="0" algn="l" rtl="0">
                        <a:spcBef>
                          <a:spcPts val="0"/>
                        </a:spcBef>
                        <a:spcAft>
                          <a:spcPts val="0"/>
                        </a:spcAft>
                        <a:buNone/>
                      </a:pPr>
                      <a:r>
                        <a:rPr lang="en-US" sz="1400" u="none" strike="noStrike"/>
                        <a:t>Returns the num- ber x, truncated to D decimals. If D is 0, the result will have no decimal point or fractional part. If D is negative, the integer part of the  number is zeroed out.</a:t>
                      </a:r>
                      <a:endParaRPr sz="1400" b="0" i="0" u="none" strike="noStrike">
                        <a:solidFill>
                          <a:srgbClr val="000000"/>
                        </a:solidFill>
                        <a:latin typeface="Calibri"/>
                        <a:ea typeface="Calibri"/>
                        <a:cs typeface="Calibri"/>
                        <a:sym typeface="Calibri"/>
                      </a:endParaRPr>
                    </a:p>
                  </a:txBody>
                  <a:tcPr marL="9525" marR="9525" marT="9525" marB="0" anchor="b"/>
                </a:tc>
              </a:tr>
            </a:tbl>
          </a:graphicData>
        </a:graphic>
      </p:graphicFrame>
      <p:sp>
        <p:nvSpPr>
          <p:cNvPr id="254" name="Google Shape;254;p21"/>
          <p:cNvSpPr txBox="1">
            <a:spLocks noGrp="1"/>
          </p:cNvSpPr>
          <p:nvPr>
            <p:ph type="sldNum" idx="12"/>
          </p:nvPr>
        </p:nvSpPr>
        <p:spPr>
          <a:xfrm>
            <a:off x="138752" y="6414139"/>
            <a:ext cx="457200" cy="277813"/>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fld id="{00000000-1234-1234-1234-123412341234}" type="slidenum">
              <a:rPr lang="en-US"/>
              <a:t>21</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53"/>
                                        </p:tgtEl>
                                        <p:attrNameLst>
                                          <p:attrName>style.visibility</p:attrName>
                                        </p:attrNameLst>
                                      </p:cBhvr>
                                      <p:to>
                                        <p:strVal val="visible"/>
                                      </p:to>
                                    </p:set>
                                    <p:animEffect transition="in" filter="fade">
                                      <p:cBhvr>
                                        <p:cTn id="7" dur="500"/>
                                        <p:tgtEl>
                                          <p:spTgt spid="2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0" name="Google Shape;260;p22"/>
          <p:cNvSpPr txBox="1">
            <a:spLocks noGrp="1"/>
          </p:cNvSpPr>
          <p:nvPr>
            <p:ph type="title"/>
          </p:nvPr>
        </p:nvSpPr>
        <p:spPr>
          <a:xfrm>
            <a:off x="1303020" y="-152400"/>
            <a:ext cx="8298180" cy="1143000"/>
          </a:xfrm>
          <a:prstGeom prst="rect">
            <a:avLst/>
          </a:prstGeom>
          <a:noFill/>
          <a:ln>
            <a:noFill/>
          </a:ln>
        </p:spPr>
        <p:txBody>
          <a:bodyPr spcFirstLastPara="1" wrap="square" lIns="91425" tIns="45700" rIns="91425" bIns="45700" anchor="ctr" anchorCtr="0">
            <a:noAutofit/>
          </a:bodyPr>
          <a:lstStyle/>
          <a:p>
            <a:pPr marL="0" lvl="1" indent="0" algn="l" rtl="0">
              <a:spcBef>
                <a:spcPts val="0"/>
              </a:spcBef>
              <a:spcAft>
                <a:spcPts val="0"/>
              </a:spcAft>
              <a:buNone/>
            </a:pPr>
            <a:r>
              <a:rPr lang="en-US" sz="3200">
                <a:latin typeface="Verdana"/>
                <a:ea typeface="Verdana"/>
                <a:cs typeface="Verdana"/>
                <a:sym typeface="Verdana"/>
              </a:rPr>
              <a:t>Numeric/Mathematical Functions</a:t>
            </a:r>
            <a:endParaRPr sz="3200">
              <a:latin typeface="Verdana"/>
              <a:ea typeface="Verdana"/>
              <a:cs typeface="Verdana"/>
              <a:sym typeface="Verdana"/>
            </a:endParaRPr>
          </a:p>
        </p:txBody>
      </p:sp>
      <p:sp>
        <p:nvSpPr>
          <p:cNvPr id="261" name="Google Shape;261;p22"/>
          <p:cNvSpPr txBox="1"/>
          <p:nvPr/>
        </p:nvSpPr>
        <p:spPr>
          <a:xfrm>
            <a:off x="381000" y="1214735"/>
            <a:ext cx="8839200" cy="461665"/>
          </a:xfrm>
          <a:prstGeom prst="rect">
            <a:avLst/>
          </a:prstGeom>
          <a:noFill/>
          <a:ln>
            <a:noFill/>
          </a:ln>
        </p:spPr>
        <p:txBody>
          <a:bodyPr spcFirstLastPara="1" wrap="square" lIns="91425" tIns="45700" rIns="91425" bIns="45700" anchor="t" anchorCtr="0">
            <a:spAutoFit/>
          </a:bodyPr>
          <a:lstStyle/>
          <a:p>
            <a:pPr marL="342900" marR="0" lvl="0" indent="-342900" algn="l" rtl="0">
              <a:spcBef>
                <a:spcPts val="0"/>
              </a:spcBef>
              <a:spcAft>
                <a:spcPts val="0"/>
              </a:spcAft>
              <a:buNone/>
            </a:pPr>
            <a:r>
              <a:rPr lang="en-US" sz="2400">
                <a:solidFill>
                  <a:schemeClr val="dk1"/>
                </a:solidFill>
                <a:latin typeface="Calibri"/>
                <a:ea typeface="Calibri"/>
                <a:cs typeface="Calibri"/>
                <a:sym typeface="Calibri"/>
              </a:rPr>
              <a:t>Few mathematic functions examples are shown below:</a:t>
            </a:r>
            <a:endParaRPr/>
          </a:p>
        </p:txBody>
      </p:sp>
      <p:graphicFrame>
        <p:nvGraphicFramePr>
          <p:cNvPr id="262" name="Google Shape;262;p22"/>
          <p:cNvGraphicFramePr/>
          <p:nvPr/>
        </p:nvGraphicFramePr>
        <p:xfrm>
          <a:off x="457199" y="1920240"/>
          <a:ext cx="8229600" cy="3779560"/>
        </p:xfrm>
        <a:graphic>
          <a:graphicData uri="http://schemas.openxmlformats.org/drawingml/2006/table">
            <a:tbl>
              <a:tblPr firstRow="1" bandRow="1">
                <a:noFill/>
                <a:tableStyleId>{7FFFBDA3-1227-47A5-887F-83766C0D3143}</a:tableStyleId>
              </a:tblPr>
              <a:tblGrid>
                <a:gridCol w="1295400"/>
                <a:gridCol w="2362200"/>
                <a:gridCol w="3276600"/>
                <a:gridCol w="1295400"/>
              </a:tblGrid>
              <a:tr h="264150">
                <a:tc>
                  <a:txBody>
                    <a:bodyPr/>
                    <a:lstStyle/>
                    <a:p>
                      <a:pPr marL="0" marR="0" lvl="0" indent="0" algn="l" rtl="0">
                        <a:spcBef>
                          <a:spcPts val="0"/>
                        </a:spcBef>
                        <a:spcAft>
                          <a:spcPts val="0"/>
                        </a:spcAft>
                        <a:buNone/>
                      </a:pPr>
                      <a:r>
                        <a:rPr lang="en-US" sz="1600"/>
                        <a:t>Function Name</a:t>
                      </a:r>
                      <a:endParaRPr sz="1600">
                        <a:latin typeface="Arial"/>
                        <a:ea typeface="Arial"/>
                        <a:cs typeface="Arial"/>
                        <a:sym typeface="Arial"/>
                      </a:endParaRPr>
                    </a:p>
                  </a:txBody>
                  <a:tcPr marL="91450" marR="91450" marT="45725" marB="45725"/>
                </a:tc>
                <a:tc>
                  <a:txBody>
                    <a:bodyPr/>
                    <a:lstStyle/>
                    <a:p>
                      <a:pPr marL="0" marR="0" lvl="0" indent="0" algn="l" rtl="0">
                        <a:spcBef>
                          <a:spcPts val="0"/>
                        </a:spcBef>
                        <a:spcAft>
                          <a:spcPts val="0"/>
                        </a:spcAft>
                        <a:buNone/>
                      </a:pPr>
                      <a:r>
                        <a:rPr lang="en-US" sz="1600"/>
                        <a:t>Description</a:t>
                      </a:r>
                      <a:endParaRPr sz="1600">
                        <a:latin typeface="Arial"/>
                        <a:ea typeface="Arial"/>
                        <a:cs typeface="Arial"/>
                        <a:sym typeface="Arial"/>
                      </a:endParaRPr>
                    </a:p>
                  </a:txBody>
                  <a:tcPr marL="91450" marR="91450" marT="45725" marB="45725"/>
                </a:tc>
                <a:tc>
                  <a:txBody>
                    <a:bodyPr/>
                    <a:lstStyle/>
                    <a:p>
                      <a:pPr marL="0" marR="0" lvl="0" indent="0" algn="l" rtl="0">
                        <a:spcBef>
                          <a:spcPts val="0"/>
                        </a:spcBef>
                        <a:spcAft>
                          <a:spcPts val="0"/>
                        </a:spcAft>
                        <a:buNone/>
                      </a:pPr>
                      <a:r>
                        <a:rPr lang="en-US" sz="1600"/>
                        <a:t>Example </a:t>
                      </a:r>
                      <a:endParaRPr sz="1600">
                        <a:latin typeface="Arial"/>
                        <a:ea typeface="Arial"/>
                        <a:cs typeface="Arial"/>
                        <a:sym typeface="Arial"/>
                      </a:endParaRPr>
                    </a:p>
                  </a:txBody>
                  <a:tcPr marL="91450" marR="91450" marT="45725" marB="45725"/>
                </a:tc>
                <a:tc>
                  <a:txBody>
                    <a:bodyPr/>
                    <a:lstStyle/>
                    <a:p>
                      <a:pPr marL="0" marR="0" lvl="0" indent="0" algn="l" rtl="0">
                        <a:spcBef>
                          <a:spcPts val="0"/>
                        </a:spcBef>
                        <a:spcAft>
                          <a:spcPts val="0"/>
                        </a:spcAft>
                        <a:buNone/>
                      </a:pPr>
                      <a:r>
                        <a:rPr lang="en-US" sz="1600"/>
                        <a:t>Output</a:t>
                      </a:r>
                      <a:endParaRPr sz="1600">
                        <a:latin typeface="Arial"/>
                        <a:ea typeface="Arial"/>
                        <a:cs typeface="Arial"/>
                        <a:sym typeface="Arial"/>
                      </a:endParaRPr>
                    </a:p>
                  </a:txBody>
                  <a:tcPr marL="91450" marR="91450" marT="45725" marB="45725"/>
                </a:tc>
              </a:tr>
              <a:tr h="853450">
                <a:tc>
                  <a:txBody>
                    <a:bodyPr/>
                    <a:lstStyle/>
                    <a:p>
                      <a:pPr marL="0" marR="0" lvl="0" indent="0" algn="l" rtl="0">
                        <a:spcBef>
                          <a:spcPts val="0"/>
                        </a:spcBef>
                        <a:spcAft>
                          <a:spcPts val="0"/>
                        </a:spcAft>
                        <a:buNone/>
                      </a:pPr>
                      <a:r>
                        <a:rPr lang="en-US" sz="1600"/>
                        <a:t>Round</a:t>
                      </a:r>
                      <a:endParaRPr sz="1600" b="0">
                        <a:latin typeface="Arial"/>
                        <a:ea typeface="Arial"/>
                        <a:cs typeface="Arial"/>
                        <a:sym typeface="Arial"/>
                      </a:endParaRPr>
                    </a:p>
                  </a:txBody>
                  <a:tcPr marL="91450" marR="91450" marT="45725" marB="45725"/>
                </a:tc>
                <a:tc>
                  <a:txBody>
                    <a:bodyPr/>
                    <a:lstStyle/>
                    <a:p>
                      <a:pPr marL="0" marR="0" lvl="0" indent="0" algn="l" rtl="0">
                        <a:spcBef>
                          <a:spcPts val="0"/>
                        </a:spcBef>
                        <a:spcAft>
                          <a:spcPts val="0"/>
                        </a:spcAft>
                        <a:buNone/>
                      </a:pPr>
                      <a:r>
                        <a:rPr lang="en-US" sz="1600"/>
                        <a:t>Rounds value to specified decimal. </a:t>
                      </a:r>
                      <a:endParaRPr sz="1600" b="0">
                        <a:latin typeface="Arial"/>
                        <a:ea typeface="Arial"/>
                        <a:cs typeface="Arial"/>
                        <a:sym typeface="Arial"/>
                      </a:endParaRPr>
                    </a:p>
                  </a:txBody>
                  <a:tcPr marL="91450" marR="91450" marT="45725" marB="45725"/>
                </a:tc>
                <a:tc>
                  <a:txBody>
                    <a:bodyPr/>
                    <a:lstStyle/>
                    <a:p>
                      <a:pPr marL="0" marR="0" lvl="0" indent="0" algn="l" rtl="0">
                        <a:spcBef>
                          <a:spcPts val="0"/>
                        </a:spcBef>
                        <a:spcAft>
                          <a:spcPts val="0"/>
                        </a:spcAft>
                        <a:buNone/>
                      </a:pPr>
                      <a:r>
                        <a:rPr lang="en-US" sz="1600" b="1">
                          <a:solidFill>
                            <a:srgbClr val="0070C0"/>
                          </a:solidFill>
                        </a:rPr>
                        <a:t>SELECT </a:t>
                      </a:r>
                      <a:r>
                        <a:rPr lang="en-US" sz="1600" b="1">
                          <a:solidFill>
                            <a:srgbClr val="BC8F00"/>
                          </a:solidFill>
                          <a:latin typeface="Calibri"/>
                          <a:ea typeface="Calibri"/>
                          <a:cs typeface="Calibri"/>
                          <a:sym typeface="Calibri"/>
                        </a:rPr>
                        <a:t>CUSTOMERNAME</a:t>
                      </a:r>
                      <a:r>
                        <a:rPr lang="en-US" sz="1600" b="1">
                          <a:solidFill>
                            <a:srgbClr val="0070C0"/>
                          </a:solidFill>
                        </a:rPr>
                        <a:t>, </a:t>
                      </a:r>
                      <a:endParaRPr/>
                    </a:p>
                    <a:p>
                      <a:pPr marL="0" marR="0" lvl="0" indent="0" algn="l" rtl="0">
                        <a:spcBef>
                          <a:spcPts val="0"/>
                        </a:spcBef>
                        <a:spcAft>
                          <a:spcPts val="0"/>
                        </a:spcAft>
                        <a:buNone/>
                      </a:pPr>
                      <a:r>
                        <a:rPr lang="en-US" sz="1600" b="1">
                          <a:solidFill>
                            <a:srgbClr val="0070C0"/>
                          </a:solidFill>
                        </a:rPr>
                        <a:t>ROUND (</a:t>
                      </a:r>
                      <a:r>
                        <a:rPr lang="en-US" sz="1600" b="1">
                          <a:solidFill>
                            <a:srgbClr val="BC8F00"/>
                          </a:solidFill>
                          <a:latin typeface="Calibri"/>
                          <a:ea typeface="Calibri"/>
                          <a:cs typeface="Calibri"/>
                          <a:sym typeface="Calibri"/>
                        </a:rPr>
                        <a:t>CREDITLIMIT</a:t>
                      </a:r>
                      <a:r>
                        <a:rPr lang="en-US" sz="1600" b="1">
                          <a:solidFill>
                            <a:srgbClr val="0070C0"/>
                          </a:solidFill>
                        </a:rPr>
                        <a:t>, </a:t>
                      </a:r>
                      <a:r>
                        <a:rPr lang="en-US" sz="1600" b="1">
                          <a:solidFill>
                            <a:srgbClr val="FFC000"/>
                          </a:solidFill>
                        </a:rPr>
                        <a:t>2</a:t>
                      </a:r>
                      <a:r>
                        <a:rPr lang="en-US" sz="1600" b="1">
                          <a:solidFill>
                            <a:srgbClr val="0070C0"/>
                          </a:solidFill>
                        </a:rPr>
                        <a:t>) </a:t>
                      </a:r>
                      <a:endParaRPr/>
                    </a:p>
                    <a:p>
                      <a:pPr marL="0" marR="0" lvl="0" indent="0" algn="l" rtl="0">
                        <a:spcBef>
                          <a:spcPts val="0"/>
                        </a:spcBef>
                        <a:spcAft>
                          <a:spcPts val="0"/>
                        </a:spcAft>
                        <a:buNone/>
                      </a:pPr>
                      <a:r>
                        <a:rPr lang="en-US" sz="1600" b="1">
                          <a:solidFill>
                            <a:srgbClr val="0070C0"/>
                          </a:solidFill>
                        </a:rPr>
                        <a:t>FROM </a:t>
                      </a:r>
                      <a:r>
                        <a:rPr lang="en-US" sz="1600" b="1">
                          <a:solidFill>
                            <a:srgbClr val="BC8F00"/>
                          </a:solidFill>
                          <a:latin typeface="Calibri"/>
                          <a:ea typeface="Calibri"/>
                          <a:cs typeface="Calibri"/>
                          <a:sym typeface="Calibri"/>
                        </a:rPr>
                        <a:t>CUSTOMERS</a:t>
                      </a:r>
                      <a:r>
                        <a:rPr lang="en-US" sz="1600" b="1">
                          <a:solidFill>
                            <a:srgbClr val="0070C0"/>
                          </a:solidFill>
                        </a:rPr>
                        <a:t> </a:t>
                      </a:r>
                      <a:endParaRPr/>
                    </a:p>
                    <a:p>
                      <a:pPr marL="0" marR="0" lvl="0" indent="0" algn="l" rtl="0">
                        <a:spcBef>
                          <a:spcPts val="0"/>
                        </a:spcBef>
                        <a:spcAft>
                          <a:spcPts val="0"/>
                        </a:spcAft>
                        <a:buNone/>
                      </a:pPr>
                      <a:r>
                        <a:rPr lang="en-US" sz="1600"/>
                        <a:t>//When Creditlimit=4500.926</a:t>
                      </a:r>
                      <a:endParaRPr sz="1600" b="0">
                        <a:solidFill>
                          <a:srgbClr val="0070C0"/>
                        </a:solidFill>
                        <a:latin typeface="Arial"/>
                        <a:ea typeface="Arial"/>
                        <a:cs typeface="Arial"/>
                        <a:sym typeface="Arial"/>
                      </a:endParaRPr>
                    </a:p>
                  </a:txBody>
                  <a:tcPr marL="91450" marR="91450" marT="45725" marB="45725"/>
                </a:tc>
                <a:tc>
                  <a:txBody>
                    <a:bodyPr/>
                    <a:lstStyle/>
                    <a:p>
                      <a:pPr marL="0" marR="0" lvl="0" indent="0" algn="l" rtl="0">
                        <a:spcBef>
                          <a:spcPts val="0"/>
                        </a:spcBef>
                        <a:spcAft>
                          <a:spcPts val="0"/>
                        </a:spcAft>
                        <a:buNone/>
                      </a:pPr>
                      <a:r>
                        <a:rPr lang="en-US" sz="1600"/>
                        <a:t>4500.93</a:t>
                      </a:r>
                      <a:endParaRPr sz="1600" b="0">
                        <a:latin typeface="Arial"/>
                        <a:ea typeface="Arial"/>
                        <a:cs typeface="Arial"/>
                        <a:sym typeface="Arial"/>
                      </a:endParaRPr>
                    </a:p>
                  </a:txBody>
                  <a:tcPr marL="91450" marR="91450" marT="45725" marB="45725"/>
                </a:tc>
              </a:tr>
              <a:tr h="1066800">
                <a:tc>
                  <a:txBody>
                    <a:bodyPr/>
                    <a:lstStyle/>
                    <a:p>
                      <a:pPr marL="0" marR="0" lvl="0" indent="0" algn="l" rtl="0">
                        <a:spcBef>
                          <a:spcPts val="0"/>
                        </a:spcBef>
                        <a:spcAft>
                          <a:spcPts val="0"/>
                        </a:spcAft>
                        <a:buNone/>
                      </a:pPr>
                      <a:r>
                        <a:rPr lang="en-US" sz="1600"/>
                        <a:t>Truncate</a:t>
                      </a:r>
                      <a:endParaRPr sz="1600" b="0">
                        <a:latin typeface="Arial"/>
                        <a:ea typeface="Arial"/>
                        <a:cs typeface="Arial"/>
                        <a:sym typeface="Arial"/>
                      </a:endParaRPr>
                    </a:p>
                  </a:txBody>
                  <a:tcPr marL="91450" marR="91450" marT="45725" marB="45725"/>
                </a:tc>
                <a:tc>
                  <a:txBody>
                    <a:bodyPr/>
                    <a:lstStyle/>
                    <a:p>
                      <a:pPr marL="0" marR="0" lvl="0" indent="0" algn="l" rtl="0">
                        <a:spcBef>
                          <a:spcPts val="0"/>
                        </a:spcBef>
                        <a:spcAft>
                          <a:spcPts val="0"/>
                        </a:spcAft>
                        <a:buNone/>
                      </a:pPr>
                      <a:r>
                        <a:rPr lang="en-US" sz="1600"/>
                        <a:t>Truncates value to specified decimal</a:t>
                      </a:r>
                      <a:endParaRPr sz="1600" b="0">
                        <a:latin typeface="Arial"/>
                        <a:ea typeface="Arial"/>
                        <a:cs typeface="Arial"/>
                        <a:sym typeface="Arial"/>
                      </a:endParaRPr>
                    </a:p>
                  </a:txBody>
                  <a:tcPr marL="91450" marR="91450" marT="45725" marB="45725"/>
                </a:tc>
                <a:tc>
                  <a:txBody>
                    <a:bodyPr/>
                    <a:lstStyle/>
                    <a:p>
                      <a:pPr marL="0" marR="0" lvl="0" indent="0" algn="l" rtl="0">
                        <a:lnSpc>
                          <a:spcPct val="100000"/>
                        </a:lnSpc>
                        <a:spcBef>
                          <a:spcPts val="0"/>
                        </a:spcBef>
                        <a:spcAft>
                          <a:spcPts val="0"/>
                        </a:spcAft>
                        <a:buClr>
                          <a:srgbClr val="0070C0"/>
                        </a:buClr>
                        <a:buSzPts val="1600"/>
                        <a:buFont typeface="Calibri"/>
                        <a:buNone/>
                      </a:pPr>
                      <a:r>
                        <a:rPr lang="en-US" sz="1600" b="1">
                          <a:solidFill>
                            <a:srgbClr val="0070C0"/>
                          </a:solidFill>
                        </a:rPr>
                        <a:t>SELECT </a:t>
                      </a:r>
                      <a:r>
                        <a:rPr lang="en-US" sz="1600" b="1">
                          <a:solidFill>
                            <a:srgbClr val="BC8F00"/>
                          </a:solidFill>
                          <a:latin typeface="Calibri"/>
                          <a:ea typeface="Calibri"/>
                          <a:cs typeface="Calibri"/>
                          <a:sym typeface="Calibri"/>
                        </a:rPr>
                        <a:t>CUSTOMERNAME</a:t>
                      </a:r>
                      <a:r>
                        <a:rPr lang="en-US" sz="1600" b="1">
                          <a:solidFill>
                            <a:srgbClr val="0070C0"/>
                          </a:solidFill>
                        </a:rPr>
                        <a:t>, TRUNCATE(</a:t>
                      </a:r>
                      <a:r>
                        <a:rPr lang="en-US" sz="1600" b="1">
                          <a:solidFill>
                            <a:srgbClr val="BC8F00"/>
                          </a:solidFill>
                          <a:latin typeface="Calibri"/>
                          <a:ea typeface="Calibri"/>
                          <a:cs typeface="Calibri"/>
                          <a:sym typeface="Calibri"/>
                        </a:rPr>
                        <a:t>CREDITLIMIT</a:t>
                      </a:r>
                      <a:r>
                        <a:rPr lang="en-US" sz="1600" b="1">
                          <a:solidFill>
                            <a:srgbClr val="0070C0"/>
                          </a:solidFill>
                        </a:rPr>
                        <a:t>, </a:t>
                      </a:r>
                      <a:r>
                        <a:rPr lang="en-US" sz="1600" b="1">
                          <a:solidFill>
                            <a:srgbClr val="FFC000"/>
                          </a:solidFill>
                        </a:rPr>
                        <a:t>2</a:t>
                      </a:r>
                      <a:r>
                        <a:rPr lang="en-US" sz="1600" b="1">
                          <a:solidFill>
                            <a:srgbClr val="0070C0"/>
                          </a:solidFill>
                        </a:rPr>
                        <a:t>) </a:t>
                      </a:r>
                      <a:endParaRPr/>
                    </a:p>
                    <a:p>
                      <a:pPr marL="0" marR="0" lvl="0" indent="0" algn="l" rtl="0">
                        <a:lnSpc>
                          <a:spcPct val="100000"/>
                        </a:lnSpc>
                        <a:spcBef>
                          <a:spcPts val="0"/>
                        </a:spcBef>
                        <a:spcAft>
                          <a:spcPts val="0"/>
                        </a:spcAft>
                        <a:buClr>
                          <a:srgbClr val="0070C0"/>
                        </a:buClr>
                        <a:buSzPts val="1600"/>
                        <a:buFont typeface="Calibri"/>
                        <a:buNone/>
                      </a:pPr>
                      <a:r>
                        <a:rPr lang="en-US" sz="1600" b="1">
                          <a:solidFill>
                            <a:srgbClr val="0070C0"/>
                          </a:solidFill>
                        </a:rPr>
                        <a:t>FROM </a:t>
                      </a:r>
                      <a:r>
                        <a:rPr lang="en-US" sz="1600" b="1">
                          <a:solidFill>
                            <a:srgbClr val="BC8F00"/>
                          </a:solidFill>
                          <a:latin typeface="Calibri"/>
                          <a:ea typeface="Calibri"/>
                          <a:cs typeface="Calibri"/>
                          <a:sym typeface="Calibri"/>
                        </a:rPr>
                        <a:t>CUSTOMERS</a:t>
                      </a:r>
                      <a:endParaRPr/>
                    </a:p>
                    <a:p>
                      <a:pPr marL="0" marR="0" lvl="0" indent="0" algn="l" rtl="0">
                        <a:spcBef>
                          <a:spcPts val="0"/>
                        </a:spcBef>
                        <a:spcAft>
                          <a:spcPts val="0"/>
                        </a:spcAft>
                        <a:buNone/>
                      </a:pPr>
                      <a:r>
                        <a:rPr lang="en-US" sz="1600"/>
                        <a:t>//When Creditlimit=4500.926</a:t>
                      </a:r>
                      <a:endParaRPr sz="1600" b="0">
                        <a:solidFill>
                          <a:srgbClr val="0070C0"/>
                        </a:solidFill>
                        <a:latin typeface="Arial"/>
                        <a:ea typeface="Arial"/>
                        <a:cs typeface="Arial"/>
                        <a:sym typeface="Arial"/>
                      </a:endParaRPr>
                    </a:p>
                  </a:txBody>
                  <a:tcPr marL="91450" marR="91450" marT="45725" marB="45725"/>
                </a:tc>
                <a:tc>
                  <a:txBody>
                    <a:bodyPr/>
                    <a:lstStyle/>
                    <a:p>
                      <a:pPr marL="0" marR="0" lvl="0" indent="0" algn="l" rtl="0">
                        <a:spcBef>
                          <a:spcPts val="0"/>
                        </a:spcBef>
                        <a:spcAft>
                          <a:spcPts val="0"/>
                        </a:spcAft>
                        <a:buNone/>
                      </a:pPr>
                      <a:r>
                        <a:rPr lang="en-US" sz="1600"/>
                        <a:t>4500.92</a:t>
                      </a:r>
                      <a:endParaRPr sz="1600" b="0">
                        <a:latin typeface="Arial"/>
                        <a:ea typeface="Arial"/>
                        <a:cs typeface="Arial"/>
                        <a:sym typeface="Arial"/>
                      </a:endParaRPr>
                    </a:p>
                  </a:txBody>
                  <a:tcPr marL="91450" marR="91450" marT="45725" marB="45725"/>
                </a:tc>
              </a:tr>
              <a:tr h="633975">
                <a:tc>
                  <a:txBody>
                    <a:bodyPr/>
                    <a:lstStyle/>
                    <a:p>
                      <a:pPr marL="0" marR="0" lvl="0" indent="0" algn="l" rtl="0">
                        <a:spcBef>
                          <a:spcPts val="0"/>
                        </a:spcBef>
                        <a:spcAft>
                          <a:spcPts val="0"/>
                        </a:spcAft>
                        <a:buNone/>
                      </a:pPr>
                      <a:r>
                        <a:rPr lang="en-US" sz="1600"/>
                        <a:t>Mod</a:t>
                      </a:r>
                      <a:endParaRPr sz="1600" b="0">
                        <a:latin typeface="Arial"/>
                        <a:ea typeface="Arial"/>
                        <a:cs typeface="Arial"/>
                        <a:sym typeface="Arial"/>
                      </a:endParaRPr>
                    </a:p>
                  </a:txBody>
                  <a:tcPr marL="91450" marR="91450" marT="45725" marB="45725"/>
                </a:tc>
                <a:tc>
                  <a:txBody>
                    <a:bodyPr/>
                    <a:lstStyle/>
                    <a:p>
                      <a:pPr marL="0" marR="0" lvl="0" indent="0" algn="l" rtl="0">
                        <a:spcBef>
                          <a:spcPts val="0"/>
                        </a:spcBef>
                        <a:spcAft>
                          <a:spcPts val="0"/>
                        </a:spcAft>
                        <a:buNone/>
                      </a:pPr>
                      <a:r>
                        <a:rPr lang="en-US" sz="1600"/>
                        <a:t>Returns remainder of division</a:t>
                      </a:r>
                      <a:endParaRPr sz="1600" b="0">
                        <a:latin typeface="Arial"/>
                        <a:ea typeface="Arial"/>
                        <a:cs typeface="Arial"/>
                        <a:sym typeface="Arial"/>
                      </a:endParaRPr>
                    </a:p>
                  </a:txBody>
                  <a:tcPr marL="91450" marR="91450" marT="45725" marB="45725"/>
                </a:tc>
                <a:tc>
                  <a:txBody>
                    <a:bodyPr/>
                    <a:lstStyle/>
                    <a:p>
                      <a:pPr marL="0" marR="0" lvl="0" indent="0" algn="l" rtl="0">
                        <a:lnSpc>
                          <a:spcPct val="100000"/>
                        </a:lnSpc>
                        <a:spcBef>
                          <a:spcPts val="0"/>
                        </a:spcBef>
                        <a:spcAft>
                          <a:spcPts val="0"/>
                        </a:spcAft>
                        <a:buClr>
                          <a:srgbClr val="0070C0"/>
                        </a:buClr>
                        <a:buSzPts val="1600"/>
                        <a:buFont typeface="Calibri"/>
                        <a:buNone/>
                      </a:pPr>
                      <a:r>
                        <a:rPr lang="en-US" sz="1600" b="1">
                          <a:solidFill>
                            <a:srgbClr val="0070C0"/>
                          </a:solidFill>
                        </a:rPr>
                        <a:t>SELECT </a:t>
                      </a:r>
                      <a:r>
                        <a:rPr lang="en-US" sz="1600" b="1">
                          <a:solidFill>
                            <a:srgbClr val="BC8F00"/>
                          </a:solidFill>
                          <a:latin typeface="Calibri"/>
                          <a:ea typeface="Calibri"/>
                          <a:cs typeface="Calibri"/>
                          <a:sym typeface="Calibri"/>
                        </a:rPr>
                        <a:t>CUSTOMERNAME</a:t>
                      </a:r>
                      <a:r>
                        <a:rPr lang="en-US" sz="1600" b="1">
                          <a:solidFill>
                            <a:srgbClr val="0070C0"/>
                          </a:solidFill>
                        </a:rPr>
                        <a:t>, </a:t>
                      </a:r>
                      <a:endParaRPr/>
                    </a:p>
                    <a:p>
                      <a:pPr marL="0" marR="0" lvl="0" indent="0" algn="l" rtl="0">
                        <a:lnSpc>
                          <a:spcPct val="100000"/>
                        </a:lnSpc>
                        <a:spcBef>
                          <a:spcPts val="0"/>
                        </a:spcBef>
                        <a:spcAft>
                          <a:spcPts val="0"/>
                        </a:spcAft>
                        <a:buClr>
                          <a:srgbClr val="0070C0"/>
                        </a:buClr>
                        <a:buSzPts val="1600"/>
                        <a:buFont typeface="Calibri"/>
                        <a:buNone/>
                      </a:pPr>
                      <a:r>
                        <a:rPr lang="en-US" sz="1600" b="1">
                          <a:solidFill>
                            <a:srgbClr val="0070C0"/>
                          </a:solidFill>
                        </a:rPr>
                        <a:t>MOD(</a:t>
                      </a:r>
                      <a:r>
                        <a:rPr lang="en-US" sz="1600" b="1">
                          <a:solidFill>
                            <a:srgbClr val="BC8F00"/>
                          </a:solidFill>
                          <a:latin typeface="Calibri"/>
                          <a:ea typeface="Calibri"/>
                          <a:cs typeface="Calibri"/>
                          <a:sym typeface="Calibri"/>
                        </a:rPr>
                        <a:t>CREDITLIMIT</a:t>
                      </a:r>
                      <a:r>
                        <a:rPr lang="en-US" sz="1600" b="1">
                          <a:solidFill>
                            <a:srgbClr val="0070C0"/>
                          </a:solidFill>
                        </a:rPr>
                        <a:t>,</a:t>
                      </a:r>
                      <a:r>
                        <a:rPr lang="en-US" sz="1600" b="1">
                          <a:solidFill>
                            <a:srgbClr val="FFC000"/>
                          </a:solidFill>
                          <a:latin typeface="Calibri"/>
                          <a:ea typeface="Calibri"/>
                          <a:cs typeface="Calibri"/>
                          <a:sym typeface="Calibri"/>
                        </a:rPr>
                        <a:t> 300</a:t>
                      </a:r>
                      <a:r>
                        <a:rPr lang="en-US" sz="1600" b="1">
                          <a:solidFill>
                            <a:srgbClr val="0070C0"/>
                          </a:solidFill>
                        </a:rPr>
                        <a:t>) </a:t>
                      </a:r>
                      <a:endParaRPr/>
                    </a:p>
                    <a:p>
                      <a:pPr marL="0" marR="0" lvl="0" indent="0" algn="l" rtl="0">
                        <a:lnSpc>
                          <a:spcPct val="100000"/>
                        </a:lnSpc>
                        <a:spcBef>
                          <a:spcPts val="0"/>
                        </a:spcBef>
                        <a:spcAft>
                          <a:spcPts val="0"/>
                        </a:spcAft>
                        <a:buClr>
                          <a:srgbClr val="0070C0"/>
                        </a:buClr>
                        <a:buSzPts val="1600"/>
                        <a:buFont typeface="Calibri"/>
                        <a:buNone/>
                      </a:pPr>
                      <a:r>
                        <a:rPr lang="en-US" sz="1600" b="1">
                          <a:solidFill>
                            <a:srgbClr val="0070C0"/>
                          </a:solidFill>
                        </a:rPr>
                        <a:t>FROM </a:t>
                      </a:r>
                      <a:r>
                        <a:rPr lang="en-US" sz="1600" b="1">
                          <a:solidFill>
                            <a:srgbClr val="BC8F00"/>
                          </a:solidFill>
                          <a:latin typeface="Calibri"/>
                          <a:ea typeface="Calibri"/>
                          <a:cs typeface="Calibri"/>
                          <a:sym typeface="Calibri"/>
                        </a:rPr>
                        <a:t>CUSTOMERS</a:t>
                      </a:r>
                      <a:endParaRPr sz="1600" b="1">
                        <a:solidFill>
                          <a:srgbClr val="0070C0"/>
                        </a:solidFill>
                      </a:endParaRPr>
                    </a:p>
                    <a:p>
                      <a:pPr marL="0" marR="0" lvl="0" indent="0" algn="l" rtl="0">
                        <a:lnSpc>
                          <a:spcPct val="100000"/>
                        </a:lnSpc>
                        <a:spcBef>
                          <a:spcPts val="0"/>
                        </a:spcBef>
                        <a:spcAft>
                          <a:spcPts val="0"/>
                        </a:spcAft>
                        <a:buClr>
                          <a:schemeClr val="dk1"/>
                        </a:buClr>
                        <a:buSzPts val="1600"/>
                        <a:buFont typeface="Calibri"/>
                        <a:buNone/>
                      </a:pPr>
                      <a:r>
                        <a:rPr lang="en-US" sz="1600"/>
                        <a:t>//When CreditLimit=1600</a:t>
                      </a:r>
                      <a:endParaRPr sz="1600"/>
                    </a:p>
                  </a:txBody>
                  <a:tcPr marL="91450" marR="91450" marT="45725" marB="45725"/>
                </a:tc>
                <a:tc>
                  <a:txBody>
                    <a:bodyPr/>
                    <a:lstStyle/>
                    <a:p>
                      <a:pPr marL="0" marR="0" lvl="0" indent="0" algn="l" rtl="0">
                        <a:spcBef>
                          <a:spcPts val="0"/>
                        </a:spcBef>
                        <a:spcAft>
                          <a:spcPts val="0"/>
                        </a:spcAft>
                        <a:buNone/>
                      </a:pPr>
                      <a:r>
                        <a:rPr lang="en-US" sz="1600"/>
                        <a:t>100</a:t>
                      </a:r>
                      <a:endParaRPr sz="1600" b="0">
                        <a:latin typeface="Arial"/>
                        <a:ea typeface="Arial"/>
                        <a:cs typeface="Arial"/>
                        <a:sym typeface="Arial"/>
                      </a:endParaRPr>
                    </a:p>
                  </a:txBody>
                  <a:tcPr marL="91450" marR="91450" marT="45725" marB="45725"/>
                </a:tc>
              </a:tr>
            </a:tbl>
          </a:graphicData>
        </a:graphic>
      </p:graphicFrame>
      <p:sp>
        <p:nvSpPr>
          <p:cNvPr id="263" name="Google Shape;263;p22"/>
          <p:cNvSpPr txBox="1">
            <a:spLocks noGrp="1"/>
          </p:cNvSpPr>
          <p:nvPr>
            <p:ph type="sldNum" idx="12"/>
          </p:nvPr>
        </p:nvSpPr>
        <p:spPr>
          <a:xfrm>
            <a:off x="138752" y="6414139"/>
            <a:ext cx="457200" cy="277813"/>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fld id="{00000000-1234-1234-1234-123412341234}" type="slidenum">
              <a:rPr lang="en-US"/>
              <a:t>22</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62"/>
                                        </p:tgtEl>
                                        <p:attrNameLst>
                                          <p:attrName>style.visibility</p:attrName>
                                        </p:attrNameLst>
                                      </p:cBhvr>
                                      <p:to>
                                        <p:strVal val="visible"/>
                                      </p:to>
                                    </p:set>
                                    <p:animEffect transition="in" filter="fade">
                                      <p:cBhvr>
                                        <p:cTn id="7" dur="500"/>
                                        <p:tgtEl>
                                          <p:spTgt spid="2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68"/>
        <p:cNvGrpSpPr/>
        <p:nvPr/>
      </p:nvGrpSpPr>
      <p:grpSpPr>
        <a:xfrm>
          <a:off x="0" y="0"/>
          <a:ext cx="0" cy="0"/>
          <a:chOff x="0" y="0"/>
          <a:chExt cx="0" cy="0"/>
        </a:xfrm>
      </p:grpSpPr>
      <p:sp>
        <p:nvSpPr>
          <p:cNvPr id="269" name="Google Shape;269;p23"/>
          <p:cNvSpPr txBox="1">
            <a:spLocks noGrp="1"/>
          </p:cNvSpPr>
          <p:nvPr>
            <p:ph type="body" idx="1"/>
          </p:nvPr>
        </p:nvSpPr>
        <p:spPr>
          <a:xfrm>
            <a:off x="228600" y="1609725"/>
            <a:ext cx="8686800" cy="49466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rgbClr val="92D050"/>
              </a:buClr>
              <a:buSzPts val="4000"/>
              <a:buNone/>
            </a:pPr>
            <a:r>
              <a:rPr lang="en-US" sz="4000">
                <a:solidFill>
                  <a:srgbClr val="92D050"/>
                </a:solidFill>
              </a:rPr>
              <a:t>	</a:t>
            </a:r>
            <a:r>
              <a:rPr lang="en-US" sz="4000"/>
              <a:t>	 </a:t>
            </a:r>
            <a:endParaRPr/>
          </a:p>
          <a:p>
            <a:pPr marL="0" lvl="0" indent="0" algn="l" rtl="0">
              <a:spcBef>
                <a:spcPts val="360"/>
              </a:spcBef>
              <a:spcAft>
                <a:spcPts val="0"/>
              </a:spcAft>
              <a:buClr>
                <a:schemeClr val="dk1"/>
              </a:buClr>
              <a:buSzPts val="1800"/>
              <a:buNone/>
            </a:pPr>
            <a:endParaRPr sz="1800"/>
          </a:p>
          <a:p>
            <a:pPr marL="0" lvl="0" indent="0" algn="l" rtl="0">
              <a:spcBef>
                <a:spcPts val="360"/>
              </a:spcBef>
              <a:spcAft>
                <a:spcPts val="0"/>
              </a:spcAft>
              <a:buClr>
                <a:schemeClr val="dk1"/>
              </a:buClr>
              <a:buSzPts val="1800"/>
              <a:buNone/>
            </a:pPr>
            <a:endParaRPr sz="1800"/>
          </a:p>
          <a:p>
            <a:pPr marL="0" lvl="0" indent="0" algn="l" rtl="0">
              <a:spcBef>
                <a:spcPts val="360"/>
              </a:spcBef>
              <a:spcAft>
                <a:spcPts val="0"/>
              </a:spcAft>
              <a:buClr>
                <a:schemeClr val="dk1"/>
              </a:buClr>
              <a:buSzPts val="1800"/>
              <a:buNone/>
            </a:pPr>
            <a:endParaRPr sz="1800"/>
          </a:p>
          <a:p>
            <a:pPr marL="0" lvl="0" indent="0" algn="l" rtl="0">
              <a:spcBef>
                <a:spcPts val="360"/>
              </a:spcBef>
              <a:spcAft>
                <a:spcPts val="0"/>
              </a:spcAft>
              <a:buClr>
                <a:schemeClr val="dk1"/>
              </a:buClr>
              <a:buSzPts val="1800"/>
              <a:buNone/>
            </a:pPr>
            <a:endParaRPr sz="1800"/>
          </a:p>
          <a:p>
            <a:pPr marL="0" lvl="0" indent="0" algn="l" rtl="0">
              <a:spcBef>
                <a:spcPts val="400"/>
              </a:spcBef>
              <a:spcAft>
                <a:spcPts val="0"/>
              </a:spcAft>
              <a:buClr>
                <a:schemeClr val="dk1"/>
              </a:buClr>
              <a:buSzPts val="2000"/>
              <a:buNone/>
            </a:pPr>
            <a:endParaRPr sz="2000"/>
          </a:p>
          <a:p>
            <a:pPr marL="0" lvl="0" indent="0" algn="l" rtl="0">
              <a:spcBef>
                <a:spcPts val="400"/>
              </a:spcBef>
              <a:spcAft>
                <a:spcPts val="0"/>
              </a:spcAft>
              <a:buClr>
                <a:schemeClr val="dk1"/>
              </a:buClr>
              <a:buSzPts val="2000"/>
              <a:buNone/>
            </a:pPr>
            <a:endParaRPr sz="2000"/>
          </a:p>
        </p:txBody>
      </p:sp>
      <p:sp>
        <p:nvSpPr>
          <p:cNvPr id="270" name="Google Shape;270;p23"/>
          <p:cNvSpPr/>
          <p:nvPr/>
        </p:nvSpPr>
        <p:spPr>
          <a:xfrm>
            <a:off x="381000" y="5410200"/>
            <a:ext cx="8229600" cy="520505"/>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Lets learn about date time functions which will help us meet TIM’s requirements..</a:t>
            </a:r>
            <a:endParaRPr/>
          </a:p>
        </p:txBody>
      </p:sp>
      <p:sp>
        <p:nvSpPr>
          <p:cNvPr id="271" name="Google Shape;271;p23"/>
          <p:cNvSpPr txBox="1">
            <a:spLocks noGrp="1"/>
          </p:cNvSpPr>
          <p:nvPr>
            <p:ph type="title"/>
          </p:nvPr>
        </p:nvSpPr>
        <p:spPr>
          <a:xfrm>
            <a:off x="1303020" y="-152400"/>
            <a:ext cx="829818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Scenario</a:t>
            </a:r>
            <a:endParaRPr/>
          </a:p>
        </p:txBody>
      </p:sp>
      <p:pic>
        <p:nvPicPr>
          <p:cNvPr id="272" name="Google Shape;272;p23" descr="http://t2.gstatic.com/images?q=tbn:ANd9GcTL1mkdoyuwr_kQ_JSoRzK49ZhvsNdgTBkXnCBFnKi-LZ3XUlKd&amp;t=1"/>
          <p:cNvPicPr preferRelativeResize="0"/>
          <p:nvPr/>
        </p:nvPicPr>
        <p:blipFill rotWithShape="1">
          <a:blip r:embed="rId3">
            <a:alphaModFix/>
          </a:blip>
          <a:srcRect/>
          <a:stretch/>
        </p:blipFill>
        <p:spPr>
          <a:xfrm>
            <a:off x="2133600" y="3429000"/>
            <a:ext cx="716508" cy="1524000"/>
          </a:xfrm>
          <a:prstGeom prst="roundRect">
            <a:avLst>
              <a:gd name="adj" fmla="val 8594"/>
            </a:avLst>
          </a:prstGeom>
          <a:solidFill>
            <a:srgbClr val="ECECEC"/>
          </a:solidFill>
          <a:ln>
            <a:noFill/>
          </a:ln>
          <a:effectLst>
            <a:reflection stA="38000" endPos="28000" dist="5000" dir="5400000" sy="-100000" algn="bl" rotWithShape="0"/>
          </a:effectLst>
        </p:spPr>
      </p:pic>
      <p:sp>
        <p:nvSpPr>
          <p:cNvPr id="273" name="Google Shape;273;p23"/>
          <p:cNvSpPr/>
          <p:nvPr/>
        </p:nvSpPr>
        <p:spPr>
          <a:xfrm>
            <a:off x="3200400" y="2209800"/>
            <a:ext cx="4038600" cy="1676400"/>
          </a:xfrm>
          <a:prstGeom prst="wedgeEllipseCallout">
            <a:avLst>
              <a:gd name="adj1" fmla="val -53321"/>
              <a:gd name="adj2" fmla="val 60557"/>
            </a:avLst>
          </a:prstGeom>
          <a:solidFill>
            <a:srgbClr val="EAF1DD"/>
          </a:solidFill>
          <a:ln w="9525"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4800">
                <a:solidFill>
                  <a:srgbClr val="00B0F0"/>
                </a:solidFill>
                <a:latin typeface="Calibri"/>
                <a:ea typeface="Calibri"/>
                <a:cs typeface="Calibri"/>
                <a:sym typeface="Calibri"/>
              </a:rPr>
              <a:t>Hi! </a:t>
            </a:r>
            <a:endParaRPr/>
          </a:p>
          <a:p>
            <a:pPr marL="0" marR="0" lvl="0" indent="0" algn="ctr" rtl="0">
              <a:spcBef>
                <a:spcPts val="0"/>
              </a:spcBef>
              <a:spcAft>
                <a:spcPts val="0"/>
              </a:spcAft>
              <a:buNone/>
            </a:pPr>
            <a:r>
              <a:rPr lang="en-US" sz="1600">
                <a:solidFill>
                  <a:srgbClr val="494429"/>
                </a:solidFill>
                <a:latin typeface="Calibri"/>
                <a:ea typeface="Calibri"/>
                <a:cs typeface="Calibri"/>
                <a:sym typeface="Calibri"/>
              </a:rPr>
              <a:t>Please tell me the command to find the current date.</a:t>
            </a:r>
            <a:endParaRPr sz="1600">
              <a:solidFill>
                <a:srgbClr val="494429"/>
              </a:solidFill>
              <a:latin typeface="Calibri"/>
              <a:ea typeface="Calibri"/>
              <a:cs typeface="Calibri"/>
              <a:sym typeface="Calibri"/>
            </a:endParaRPr>
          </a:p>
          <a:p>
            <a:pPr marL="0" marR="0" lvl="0" indent="0" algn="ctr" rtl="0">
              <a:spcBef>
                <a:spcPts val="0"/>
              </a:spcBef>
              <a:spcAft>
                <a:spcPts val="0"/>
              </a:spcAft>
              <a:buNone/>
            </a:pPr>
            <a:endParaRPr sz="1600">
              <a:solidFill>
                <a:srgbClr val="494429"/>
              </a:solidFill>
              <a:latin typeface="Calibri"/>
              <a:ea typeface="Calibri"/>
              <a:cs typeface="Calibri"/>
              <a:sym typeface="Calibri"/>
            </a:endParaRPr>
          </a:p>
        </p:txBody>
      </p:sp>
      <p:sp>
        <p:nvSpPr>
          <p:cNvPr id="274" name="Google Shape;274;p23"/>
          <p:cNvSpPr txBox="1">
            <a:spLocks noGrp="1"/>
          </p:cNvSpPr>
          <p:nvPr>
            <p:ph type="sldNum" idx="12"/>
          </p:nvPr>
        </p:nvSpPr>
        <p:spPr>
          <a:xfrm>
            <a:off x="138752" y="6414139"/>
            <a:ext cx="457200" cy="277813"/>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fld id="{00000000-1234-1234-1234-123412341234}" type="slidenum">
              <a:rPr lang="en-US"/>
              <a:t>23</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72"/>
                                        </p:tgtEl>
                                        <p:attrNameLst>
                                          <p:attrName>style.visibility</p:attrName>
                                        </p:attrNameLst>
                                      </p:cBhvr>
                                      <p:to>
                                        <p:strVal val="visible"/>
                                      </p:to>
                                    </p:set>
                                    <p:animEffect transition="in" filter="fade">
                                      <p:cBhvr>
                                        <p:cTn id="7" dur="500"/>
                                        <p:tgtEl>
                                          <p:spTgt spid="272"/>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273"/>
                                        </p:tgtEl>
                                        <p:attrNameLst>
                                          <p:attrName>style.visibility</p:attrName>
                                        </p:attrNameLst>
                                      </p:cBhvr>
                                      <p:to>
                                        <p:strVal val="visible"/>
                                      </p:to>
                                    </p:set>
                                    <p:animEffect transition="in" filter="fade">
                                      <p:cBhvr>
                                        <p:cTn id="11" dur="1000"/>
                                        <p:tgtEl>
                                          <p:spTgt spid="2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79"/>
        <p:cNvGrpSpPr/>
        <p:nvPr/>
      </p:nvGrpSpPr>
      <p:grpSpPr>
        <a:xfrm>
          <a:off x="0" y="0"/>
          <a:ext cx="0" cy="0"/>
          <a:chOff x="0" y="0"/>
          <a:chExt cx="0" cy="0"/>
        </a:xfrm>
      </p:grpSpPr>
      <p:sp>
        <p:nvSpPr>
          <p:cNvPr id="280" name="Google Shape;280;p24"/>
          <p:cNvSpPr txBox="1">
            <a:spLocks noGrp="1"/>
          </p:cNvSpPr>
          <p:nvPr>
            <p:ph type="title"/>
          </p:nvPr>
        </p:nvSpPr>
        <p:spPr>
          <a:xfrm>
            <a:off x="1303020" y="-152400"/>
            <a:ext cx="8298180" cy="1143000"/>
          </a:xfrm>
          <a:prstGeom prst="rect">
            <a:avLst/>
          </a:prstGeom>
          <a:noFill/>
          <a:ln>
            <a:noFill/>
          </a:ln>
        </p:spPr>
        <p:txBody>
          <a:bodyPr spcFirstLastPara="1" wrap="square" lIns="91425" tIns="45700" rIns="91425" bIns="45700" anchor="ctr" anchorCtr="0">
            <a:noAutofit/>
          </a:bodyPr>
          <a:lstStyle/>
          <a:p>
            <a:pPr marL="0" lvl="1" indent="0" algn="l" rtl="0">
              <a:spcBef>
                <a:spcPts val="0"/>
              </a:spcBef>
              <a:spcAft>
                <a:spcPts val="0"/>
              </a:spcAft>
              <a:buNone/>
            </a:pPr>
            <a:r>
              <a:rPr lang="en-US" sz="3200">
                <a:latin typeface="Verdana"/>
                <a:ea typeface="Verdana"/>
                <a:cs typeface="Verdana"/>
                <a:sym typeface="Verdana"/>
              </a:rPr>
              <a:t>Date Time Function</a:t>
            </a:r>
            <a:endParaRPr/>
          </a:p>
        </p:txBody>
      </p:sp>
      <p:graphicFrame>
        <p:nvGraphicFramePr>
          <p:cNvPr id="281" name="Google Shape;281;p24"/>
          <p:cNvGraphicFramePr/>
          <p:nvPr/>
        </p:nvGraphicFramePr>
        <p:xfrm>
          <a:off x="457200" y="2144120"/>
          <a:ext cx="8382000" cy="3799525"/>
        </p:xfrm>
        <a:graphic>
          <a:graphicData uri="http://schemas.openxmlformats.org/drawingml/2006/table">
            <a:tbl>
              <a:tblPr firstRow="1" bandRow="1">
                <a:noFill/>
                <a:tableStyleId>{7FFFBDA3-1227-47A5-887F-83766C0D3143}</a:tableStyleId>
              </a:tblPr>
              <a:tblGrid>
                <a:gridCol w="905550"/>
                <a:gridCol w="3742650"/>
                <a:gridCol w="2743200"/>
                <a:gridCol w="990600"/>
              </a:tblGrid>
              <a:tr h="222525">
                <a:tc>
                  <a:txBody>
                    <a:bodyPr/>
                    <a:lstStyle/>
                    <a:p>
                      <a:pPr marL="0" marR="0" lvl="0" indent="0" algn="l" rtl="0">
                        <a:spcBef>
                          <a:spcPts val="0"/>
                        </a:spcBef>
                        <a:spcAft>
                          <a:spcPts val="0"/>
                        </a:spcAft>
                        <a:buNone/>
                      </a:pPr>
                      <a:r>
                        <a:rPr lang="en-US" sz="1400"/>
                        <a:t>Function Name</a:t>
                      </a:r>
                      <a:endParaRPr sz="1400">
                        <a:latin typeface="Calibri"/>
                        <a:ea typeface="Calibri"/>
                        <a:cs typeface="Calibri"/>
                        <a:sym typeface="Calibri"/>
                      </a:endParaRPr>
                    </a:p>
                  </a:txBody>
                  <a:tcPr marL="91450" marR="91450" marT="45725" marB="45725"/>
                </a:tc>
                <a:tc>
                  <a:txBody>
                    <a:bodyPr/>
                    <a:lstStyle/>
                    <a:p>
                      <a:pPr marL="0" marR="0" lvl="0" indent="0" algn="l" rtl="0">
                        <a:spcBef>
                          <a:spcPts val="0"/>
                        </a:spcBef>
                        <a:spcAft>
                          <a:spcPts val="0"/>
                        </a:spcAft>
                        <a:buNone/>
                      </a:pPr>
                      <a:r>
                        <a:rPr lang="en-US" sz="1400"/>
                        <a:t>Description</a:t>
                      </a:r>
                      <a:endParaRPr sz="1400">
                        <a:latin typeface="Calibri"/>
                        <a:ea typeface="Calibri"/>
                        <a:cs typeface="Calibri"/>
                        <a:sym typeface="Calibri"/>
                      </a:endParaRPr>
                    </a:p>
                  </a:txBody>
                  <a:tcPr marL="91450" marR="91450" marT="45725" marB="45725"/>
                </a:tc>
                <a:tc>
                  <a:txBody>
                    <a:bodyPr/>
                    <a:lstStyle/>
                    <a:p>
                      <a:pPr marL="0" marR="0" lvl="0" indent="0" algn="l" rtl="0">
                        <a:spcBef>
                          <a:spcPts val="0"/>
                        </a:spcBef>
                        <a:spcAft>
                          <a:spcPts val="0"/>
                        </a:spcAft>
                        <a:buNone/>
                      </a:pPr>
                      <a:r>
                        <a:rPr lang="en-US" sz="1400"/>
                        <a:t>Example </a:t>
                      </a:r>
                      <a:endParaRPr sz="1400">
                        <a:latin typeface="Calibri"/>
                        <a:ea typeface="Calibri"/>
                        <a:cs typeface="Calibri"/>
                        <a:sym typeface="Calibri"/>
                      </a:endParaRPr>
                    </a:p>
                  </a:txBody>
                  <a:tcPr marL="91450" marR="91450" marT="45725" marB="45725"/>
                </a:tc>
                <a:tc>
                  <a:txBody>
                    <a:bodyPr/>
                    <a:lstStyle/>
                    <a:p>
                      <a:pPr marL="0" marR="0" lvl="0" indent="0" algn="l" rtl="0">
                        <a:spcBef>
                          <a:spcPts val="0"/>
                        </a:spcBef>
                        <a:spcAft>
                          <a:spcPts val="0"/>
                        </a:spcAft>
                        <a:buNone/>
                      </a:pPr>
                      <a:r>
                        <a:rPr lang="en-US" sz="1400"/>
                        <a:t>Result</a:t>
                      </a:r>
                      <a:endParaRPr sz="1400">
                        <a:latin typeface="Calibri"/>
                        <a:ea typeface="Calibri"/>
                        <a:cs typeface="Calibri"/>
                        <a:sym typeface="Calibri"/>
                      </a:endParaRPr>
                    </a:p>
                  </a:txBody>
                  <a:tcPr marL="91450" marR="91450" marT="45725" marB="45725"/>
                </a:tc>
              </a:tr>
              <a:tr h="689850">
                <a:tc>
                  <a:txBody>
                    <a:bodyPr/>
                    <a:lstStyle/>
                    <a:p>
                      <a:pPr marL="0" marR="0" lvl="0" indent="0" algn="l" rtl="0">
                        <a:spcBef>
                          <a:spcPts val="0"/>
                        </a:spcBef>
                        <a:spcAft>
                          <a:spcPts val="0"/>
                        </a:spcAft>
                        <a:buNone/>
                      </a:pPr>
                      <a:r>
                        <a:rPr lang="en-US" sz="1300"/>
                        <a:t>DATE</a:t>
                      </a:r>
                      <a:endParaRPr sz="1300" b="1">
                        <a:latin typeface="Calibri"/>
                        <a:ea typeface="Calibri"/>
                        <a:cs typeface="Calibri"/>
                        <a:sym typeface="Calibri"/>
                      </a:endParaRPr>
                    </a:p>
                  </a:txBody>
                  <a:tcPr marL="91450" marR="91450" marT="45725" marB="45725"/>
                </a:tc>
                <a:tc>
                  <a:txBody>
                    <a:bodyPr/>
                    <a:lstStyle/>
                    <a:p>
                      <a:pPr marL="0" marR="0" lvl="0" indent="0" algn="l" rtl="0">
                        <a:spcBef>
                          <a:spcPts val="0"/>
                        </a:spcBef>
                        <a:spcAft>
                          <a:spcPts val="0"/>
                        </a:spcAft>
                        <a:buNone/>
                      </a:pPr>
                      <a:r>
                        <a:rPr lang="en-US" sz="1300"/>
                        <a:t>Converts TIMESTAMP or character string to DATE. </a:t>
                      </a:r>
                      <a:endParaRPr sz="1300" b="0">
                        <a:latin typeface="Calibri"/>
                        <a:ea typeface="Calibri"/>
                        <a:cs typeface="Calibri"/>
                        <a:sym typeface="Calibri"/>
                      </a:endParaRPr>
                    </a:p>
                  </a:txBody>
                  <a:tcPr marL="91450" marR="91450" marT="45725" marB="45725"/>
                </a:tc>
                <a:tc>
                  <a:txBody>
                    <a:bodyPr/>
                    <a:lstStyle/>
                    <a:p>
                      <a:pPr marL="0" marR="0" lvl="0" indent="0" algn="l" rtl="0">
                        <a:lnSpc>
                          <a:spcPct val="100000"/>
                        </a:lnSpc>
                        <a:spcBef>
                          <a:spcPts val="0"/>
                        </a:spcBef>
                        <a:spcAft>
                          <a:spcPts val="0"/>
                        </a:spcAft>
                        <a:buClr>
                          <a:srgbClr val="538CD5"/>
                        </a:buClr>
                        <a:buSzPts val="1300"/>
                        <a:buFont typeface="Calibri"/>
                        <a:buNone/>
                      </a:pPr>
                      <a:r>
                        <a:rPr lang="en-US" sz="1300" b="1">
                          <a:solidFill>
                            <a:srgbClr val="538CD5"/>
                          </a:solidFill>
                          <a:latin typeface="Calibri"/>
                          <a:ea typeface="Calibri"/>
                          <a:cs typeface="Calibri"/>
                          <a:sym typeface="Calibri"/>
                        </a:rPr>
                        <a:t>select</a:t>
                      </a:r>
                      <a:r>
                        <a:rPr lang="en-US" sz="1300">
                          <a:latin typeface="Calibri"/>
                          <a:ea typeface="Calibri"/>
                          <a:cs typeface="Calibri"/>
                          <a:sym typeface="Calibri"/>
                        </a:rPr>
                        <a:t> </a:t>
                      </a:r>
                      <a:r>
                        <a:rPr lang="en-US" sz="1300" b="1">
                          <a:solidFill>
                            <a:srgbClr val="538CD5"/>
                          </a:solidFill>
                          <a:latin typeface="Calibri"/>
                          <a:ea typeface="Calibri"/>
                          <a:cs typeface="Calibri"/>
                          <a:sym typeface="Calibri"/>
                        </a:rPr>
                        <a:t>date</a:t>
                      </a:r>
                      <a:r>
                        <a:rPr lang="en-US" sz="1300">
                          <a:latin typeface="Calibri"/>
                          <a:ea typeface="Calibri"/>
                          <a:cs typeface="Calibri"/>
                          <a:sym typeface="Calibri"/>
                        </a:rPr>
                        <a:t>(</a:t>
                      </a:r>
                      <a:r>
                        <a:rPr lang="en-US" sz="1300" b="1">
                          <a:solidFill>
                            <a:srgbClr val="BC8F00"/>
                          </a:solidFill>
                          <a:latin typeface="Calibri"/>
                          <a:ea typeface="Calibri"/>
                          <a:cs typeface="Calibri"/>
                          <a:sym typeface="Calibri"/>
                        </a:rPr>
                        <a:t>200802</a:t>
                      </a:r>
                      <a:r>
                        <a:rPr lang="en-US" sz="1300">
                          <a:latin typeface="Calibri"/>
                          <a:ea typeface="Calibri"/>
                          <a:cs typeface="Calibri"/>
                          <a:sym typeface="Calibri"/>
                        </a:rPr>
                        <a:t>) </a:t>
                      </a:r>
                      <a:endParaRPr/>
                    </a:p>
                    <a:p>
                      <a:pPr marL="0" marR="0" lvl="0" indent="0" algn="l" rtl="0">
                        <a:lnSpc>
                          <a:spcPct val="100000"/>
                        </a:lnSpc>
                        <a:spcBef>
                          <a:spcPts val="0"/>
                        </a:spcBef>
                        <a:spcAft>
                          <a:spcPts val="0"/>
                        </a:spcAft>
                        <a:buClr>
                          <a:srgbClr val="538CD5"/>
                        </a:buClr>
                        <a:buSzPts val="1300"/>
                        <a:buFont typeface="Calibri"/>
                        <a:buNone/>
                      </a:pPr>
                      <a:r>
                        <a:rPr lang="en-US" sz="1300" b="1">
                          <a:solidFill>
                            <a:srgbClr val="538CD5"/>
                          </a:solidFill>
                          <a:latin typeface="Calibri"/>
                          <a:ea typeface="Calibri"/>
                          <a:cs typeface="Calibri"/>
                          <a:sym typeface="Calibri"/>
                        </a:rPr>
                        <a:t>from</a:t>
                      </a:r>
                      <a:r>
                        <a:rPr lang="en-US" sz="1300">
                          <a:latin typeface="Calibri"/>
                          <a:ea typeface="Calibri"/>
                          <a:cs typeface="Calibri"/>
                          <a:sym typeface="Calibri"/>
                        </a:rPr>
                        <a:t> </a:t>
                      </a:r>
                      <a:r>
                        <a:rPr lang="en-US" sz="1300" b="1">
                          <a:solidFill>
                            <a:srgbClr val="BC8F00"/>
                          </a:solidFill>
                          <a:latin typeface="Calibri"/>
                          <a:ea typeface="Calibri"/>
                          <a:cs typeface="Calibri"/>
                          <a:sym typeface="Calibri"/>
                        </a:rPr>
                        <a:t>customers</a:t>
                      </a:r>
                      <a:r>
                        <a:rPr lang="en-US" sz="1300">
                          <a:latin typeface="Calibri"/>
                          <a:ea typeface="Calibri"/>
                          <a:cs typeface="Calibri"/>
                          <a:sym typeface="Calibri"/>
                        </a:rPr>
                        <a:t>;</a:t>
                      </a:r>
                      <a:endParaRPr sz="1300" b="0">
                        <a:latin typeface="Calibri"/>
                        <a:ea typeface="Calibri"/>
                        <a:cs typeface="Calibri"/>
                        <a:sym typeface="Calibri"/>
                      </a:endParaRPr>
                    </a:p>
                  </a:txBody>
                  <a:tcPr marL="91450" marR="91450" marT="45725" marB="45725"/>
                </a:tc>
                <a:tc>
                  <a:txBody>
                    <a:bodyPr/>
                    <a:lstStyle/>
                    <a:p>
                      <a:pPr marL="0" marR="0" lvl="0" indent="0" algn="l" rtl="0">
                        <a:spcBef>
                          <a:spcPts val="0"/>
                        </a:spcBef>
                        <a:spcAft>
                          <a:spcPts val="0"/>
                        </a:spcAft>
                        <a:buNone/>
                      </a:pPr>
                      <a:r>
                        <a:rPr lang="en-US" sz="1300"/>
                        <a:t>2020-08-02</a:t>
                      </a:r>
                      <a:endParaRPr/>
                    </a:p>
                  </a:txBody>
                  <a:tcPr marL="91450" marR="91450" marT="45725" marB="45725" anchor="ctr"/>
                </a:tc>
              </a:tr>
              <a:tr h="534075">
                <a:tc>
                  <a:txBody>
                    <a:bodyPr/>
                    <a:lstStyle/>
                    <a:p>
                      <a:pPr marL="0" marR="0" lvl="0" indent="0" algn="l" rtl="0">
                        <a:spcBef>
                          <a:spcPts val="0"/>
                        </a:spcBef>
                        <a:spcAft>
                          <a:spcPts val="0"/>
                        </a:spcAft>
                        <a:buNone/>
                      </a:pPr>
                      <a:r>
                        <a:rPr lang="en-US" sz="1300"/>
                        <a:t>ADDDATE</a:t>
                      </a:r>
                      <a:endParaRPr sz="1300" b="1">
                        <a:latin typeface="Calibri"/>
                        <a:ea typeface="Calibri"/>
                        <a:cs typeface="Calibri"/>
                        <a:sym typeface="Calibri"/>
                      </a:endParaRPr>
                    </a:p>
                  </a:txBody>
                  <a:tcPr marL="91450" marR="91450" marT="45725" marB="45725"/>
                </a:tc>
                <a:tc>
                  <a:txBody>
                    <a:bodyPr/>
                    <a:lstStyle/>
                    <a:p>
                      <a:pPr marL="0" marR="0" lvl="0" indent="0" algn="l" rtl="0">
                        <a:lnSpc>
                          <a:spcPct val="100000"/>
                        </a:lnSpc>
                        <a:spcBef>
                          <a:spcPts val="0"/>
                        </a:spcBef>
                        <a:spcAft>
                          <a:spcPts val="0"/>
                        </a:spcAft>
                        <a:buClr>
                          <a:schemeClr val="dk1"/>
                        </a:buClr>
                        <a:buSzPts val="1300"/>
                        <a:buFont typeface="Calibri"/>
                        <a:buNone/>
                      </a:pPr>
                      <a:r>
                        <a:rPr lang="en-US" sz="1300"/>
                        <a:t>Adds interval to date time value. </a:t>
                      </a:r>
                      <a:endParaRPr sz="1300" b="0">
                        <a:latin typeface="Calibri"/>
                        <a:ea typeface="Calibri"/>
                        <a:cs typeface="Calibri"/>
                        <a:sym typeface="Calibri"/>
                      </a:endParaRPr>
                    </a:p>
                  </a:txBody>
                  <a:tcPr marL="91450" marR="91450" marT="45725" marB="45725"/>
                </a:tc>
                <a:tc>
                  <a:txBody>
                    <a:bodyPr/>
                    <a:lstStyle/>
                    <a:p>
                      <a:pPr marL="0" marR="0" lvl="0" indent="0" algn="l" rtl="0">
                        <a:lnSpc>
                          <a:spcPct val="100000"/>
                        </a:lnSpc>
                        <a:spcBef>
                          <a:spcPts val="0"/>
                        </a:spcBef>
                        <a:spcAft>
                          <a:spcPts val="0"/>
                        </a:spcAft>
                        <a:buClr>
                          <a:srgbClr val="538CD5"/>
                        </a:buClr>
                        <a:buSzPts val="1300"/>
                        <a:buFont typeface="Calibri"/>
                        <a:buNone/>
                      </a:pPr>
                      <a:r>
                        <a:rPr lang="en-US" sz="1300" b="1">
                          <a:solidFill>
                            <a:srgbClr val="538CD5"/>
                          </a:solidFill>
                          <a:latin typeface="Calibri"/>
                          <a:ea typeface="Calibri"/>
                          <a:cs typeface="Calibri"/>
                          <a:sym typeface="Calibri"/>
                        </a:rPr>
                        <a:t>SELECT</a:t>
                      </a:r>
                      <a:r>
                        <a:rPr lang="en-US" sz="1300">
                          <a:latin typeface="Calibri"/>
                          <a:ea typeface="Calibri"/>
                          <a:cs typeface="Calibri"/>
                          <a:sym typeface="Calibri"/>
                        </a:rPr>
                        <a:t> </a:t>
                      </a:r>
                      <a:r>
                        <a:rPr lang="en-US" sz="1300" b="1">
                          <a:solidFill>
                            <a:srgbClr val="538CD5"/>
                          </a:solidFill>
                          <a:latin typeface="Calibri"/>
                          <a:ea typeface="Calibri"/>
                          <a:cs typeface="Calibri"/>
                          <a:sym typeface="Calibri"/>
                        </a:rPr>
                        <a:t>ADDDATE</a:t>
                      </a:r>
                      <a:r>
                        <a:rPr lang="en-US" sz="1300">
                          <a:latin typeface="Calibri"/>
                          <a:ea typeface="Calibri"/>
                          <a:cs typeface="Calibri"/>
                          <a:sym typeface="Calibri"/>
                        </a:rPr>
                        <a:t>(</a:t>
                      </a:r>
                      <a:r>
                        <a:rPr lang="en-US" sz="1300" b="1">
                          <a:solidFill>
                            <a:srgbClr val="BC8F00"/>
                          </a:solidFill>
                          <a:latin typeface="Calibri"/>
                          <a:ea typeface="Calibri"/>
                          <a:cs typeface="Calibri"/>
                          <a:sym typeface="Calibri"/>
                        </a:rPr>
                        <a:t>'2008-01-02</a:t>
                      </a:r>
                      <a:r>
                        <a:rPr lang="en-US" sz="1300">
                          <a:latin typeface="Calibri"/>
                          <a:ea typeface="Calibri"/>
                          <a:cs typeface="Calibri"/>
                          <a:sym typeface="Calibri"/>
                        </a:rPr>
                        <a:t>', </a:t>
                      </a:r>
                      <a:r>
                        <a:rPr lang="en-US" sz="1300" b="1">
                          <a:solidFill>
                            <a:srgbClr val="538CD5"/>
                          </a:solidFill>
                          <a:latin typeface="Calibri"/>
                          <a:ea typeface="Calibri"/>
                          <a:cs typeface="Calibri"/>
                          <a:sym typeface="Calibri"/>
                        </a:rPr>
                        <a:t>INTERVAL</a:t>
                      </a:r>
                      <a:r>
                        <a:rPr lang="en-US" sz="1300">
                          <a:latin typeface="Calibri"/>
                          <a:ea typeface="Calibri"/>
                          <a:cs typeface="Calibri"/>
                          <a:sym typeface="Calibri"/>
                        </a:rPr>
                        <a:t> 31 </a:t>
                      </a:r>
                      <a:r>
                        <a:rPr lang="en-US" sz="1300" b="1">
                          <a:solidFill>
                            <a:srgbClr val="538CD5"/>
                          </a:solidFill>
                          <a:latin typeface="Calibri"/>
                          <a:ea typeface="Calibri"/>
                          <a:cs typeface="Calibri"/>
                          <a:sym typeface="Calibri"/>
                        </a:rPr>
                        <a:t>DAY</a:t>
                      </a:r>
                      <a:r>
                        <a:rPr lang="en-US" sz="1300">
                          <a:latin typeface="Calibri"/>
                          <a:ea typeface="Calibri"/>
                          <a:cs typeface="Calibri"/>
                          <a:sym typeface="Calibri"/>
                        </a:rPr>
                        <a:t>)  </a:t>
                      </a:r>
                      <a:endParaRPr/>
                    </a:p>
                    <a:p>
                      <a:pPr marL="0" marR="0" lvl="0" indent="0" algn="l" rtl="0">
                        <a:lnSpc>
                          <a:spcPct val="100000"/>
                        </a:lnSpc>
                        <a:spcBef>
                          <a:spcPts val="0"/>
                        </a:spcBef>
                        <a:spcAft>
                          <a:spcPts val="0"/>
                        </a:spcAft>
                        <a:buClr>
                          <a:srgbClr val="538CD5"/>
                        </a:buClr>
                        <a:buSzPts val="1300"/>
                        <a:buFont typeface="Calibri"/>
                        <a:buNone/>
                      </a:pPr>
                      <a:r>
                        <a:rPr lang="en-US" sz="1300" b="1">
                          <a:solidFill>
                            <a:srgbClr val="538CD5"/>
                          </a:solidFill>
                          <a:latin typeface="Calibri"/>
                          <a:ea typeface="Calibri"/>
                          <a:cs typeface="Calibri"/>
                          <a:sym typeface="Calibri"/>
                        </a:rPr>
                        <a:t>FROM</a:t>
                      </a:r>
                      <a:r>
                        <a:rPr lang="en-US" sz="1300">
                          <a:latin typeface="Calibri"/>
                          <a:ea typeface="Calibri"/>
                          <a:cs typeface="Calibri"/>
                          <a:sym typeface="Calibri"/>
                        </a:rPr>
                        <a:t> </a:t>
                      </a:r>
                      <a:r>
                        <a:rPr lang="en-US" sz="1300" b="1">
                          <a:solidFill>
                            <a:srgbClr val="BC8F00"/>
                          </a:solidFill>
                          <a:latin typeface="Calibri"/>
                          <a:ea typeface="Calibri"/>
                          <a:cs typeface="Calibri"/>
                          <a:sym typeface="Calibri"/>
                        </a:rPr>
                        <a:t>customers</a:t>
                      </a:r>
                      <a:r>
                        <a:rPr lang="en-US" sz="1300">
                          <a:latin typeface="Calibri"/>
                          <a:ea typeface="Calibri"/>
                          <a:cs typeface="Calibri"/>
                          <a:sym typeface="Calibri"/>
                        </a:rPr>
                        <a:t>;</a:t>
                      </a:r>
                      <a:endParaRPr sz="1300" b="0">
                        <a:latin typeface="Calibri"/>
                        <a:ea typeface="Calibri"/>
                        <a:cs typeface="Calibri"/>
                        <a:sym typeface="Calibri"/>
                      </a:endParaRPr>
                    </a:p>
                  </a:txBody>
                  <a:tcPr marL="91450" marR="91450" marT="45725" marB="45725"/>
                </a:tc>
                <a:tc>
                  <a:txBody>
                    <a:bodyPr/>
                    <a:lstStyle/>
                    <a:p>
                      <a:pPr marL="0" marR="0" lvl="0" indent="0" algn="l" rtl="0">
                        <a:spcBef>
                          <a:spcPts val="0"/>
                        </a:spcBef>
                        <a:spcAft>
                          <a:spcPts val="0"/>
                        </a:spcAft>
                        <a:buNone/>
                      </a:pPr>
                      <a:r>
                        <a:rPr lang="en-US" sz="1300"/>
                        <a:t>2008-02-02</a:t>
                      </a:r>
                      <a:endParaRPr sz="1300" b="0">
                        <a:latin typeface="Calibri"/>
                        <a:ea typeface="Calibri"/>
                        <a:cs typeface="Calibri"/>
                        <a:sym typeface="Calibri"/>
                      </a:endParaRPr>
                    </a:p>
                  </a:txBody>
                  <a:tcPr marL="91450" marR="91450" marT="45725" marB="45725"/>
                </a:tc>
              </a:tr>
              <a:tr h="534075">
                <a:tc>
                  <a:txBody>
                    <a:bodyPr/>
                    <a:lstStyle/>
                    <a:p>
                      <a:pPr marL="0" marR="0" lvl="0" indent="0" algn="l" rtl="0">
                        <a:spcBef>
                          <a:spcPts val="0"/>
                        </a:spcBef>
                        <a:spcAft>
                          <a:spcPts val="0"/>
                        </a:spcAft>
                        <a:buNone/>
                      </a:pPr>
                      <a:r>
                        <a:rPr lang="en-US" sz="1300"/>
                        <a:t>DATEDIFF</a:t>
                      </a:r>
                      <a:endParaRPr sz="1300" b="1">
                        <a:latin typeface="Calibri"/>
                        <a:ea typeface="Calibri"/>
                        <a:cs typeface="Calibri"/>
                        <a:sym typeface="Calibri"/>
                      </a:endParaRPr>
                    </a:p>
                  </a:txBody>
                  <a:tcPr marL="91450" marR="91450" marT="45725" marB="45725"/>
                </a:tc>
                <a:tc>
                  <a:txBody>
                    <a:bodyPr/>
                    <a:lstStyle/>
                    <a:p>
                      <a:pPr marL="0" marR="0" lvl="0" indent="0" algn="l" rtl="0">
                        <a:lnSpc>
                          <a:spcPct val="100000"/>
                        </a:lnSpc>
                        <a:spcBef>
                          <a:spcPts val="0"/>
                        </a:spcBef>
                        <a:spcAft>
                          <a:spcPts val="0"/>
                        </a:spcAft>
                        <a:buClr>
                          <a:schemeClr val="dk1"/>
                        </a:buClr>
                        <a:buSzPts val="1300"/>
                        <a:buFont typeface="Calibri"/>
                        <a:buNone/>
                      </a:pPr>
                      <a:r>
                        <a:rPr lang="en-US" sz="1300"/>
                        <a:t>Subtract two dates (Computes difference between two date time values. )	</a:t>
                      </a:r>
                      <a:endParaRPr/>
                    </a:p>
                  </a:txBody>
                  <a:tcPr marL="91450" marR="91450" marT="45725" marB="45725"/>
                </a:tc>
                <a:tc>
                  <a:txBody>
                    <a:bodyPr/>
                    <a:lstStyle/>
                    <a:p>
                      <a:pPr marL="0" marR="0" lvl="0" indent="0" algn="l" rtl="0">
                        <a:lnSpc>
                          <a:spcPct val="100000"/>
                        </a:lnSpc>
                        <a:spcBef>
                          <a:spcPts val="0"/>
                        </a:spcBef>
                        <a:spcAft>
                          <a:spcPts val="0"/>
                        </a:spcAft>
                        <a:buClr>
                          <a:srgbClr val="538CD5"/>
                        </a:buClr>
                        <a:buSzPts val="1300"/>
                        <a:buFont typeface="Calibri"/>
                        <a:buNone/>
                      </a:pPr>
                      <a:r>
                        <a:rPr lang="en-US" sz="1300" b="1">
                          <a:solidFill>
                            <a:srgbClr val="538CD5"/>
                          </a:solidFill>
                          <a:latin typeface="Calibri"/>
                          <a:ea typeface="Calibri"/>
                          <a:cs typeface="Calibri"/>
                          <a:sym typeface="Calibri"/>
                        </a:rPr>
                        <a:t>SELECT</a:t>
                      </a:r>
                      <a:r>
                        <a:rPr lang="en-US" sz="1300">
                          <a:latin typeface="Calibri"/>
                          <a:ea typeface="Calibri"/>
                          <a:cs typeface="Calibri"/>
                          <a:sym typeface="Calibri"/>
                        </a:rPr>
                        <a:t> </a:t>
                      </a:r>
                      <a:r>
                        <a:rPr lang="en-US" sz="1300" b="1">
                          <a:solidFill>
                            <a:srgbClr val="538CD5"/>
                          </a:solidFill>
                          <a:latin typeface="Calibri"/>
                          <a:ea typeface="Calibri"/>
                          <a:cs typeface="Calibri"/>
                          <a:sym typeface="Calibri"/>
                        </a:rPr>
                        <a:t>DATEDIFF</a:t>
                      </a:r>
                      <a:r>
                        <a:rPr lang="en-US" sz="1300">
                          <a:latin typeface="Calibri"/>
                          <a:ea typeface="Calibri"/>
                          <a:cs typeface="Calibri"/>
                          <a:sym typeface="Calibri"/>
                        </a:rPr>
                        <a:t>(</a:t>
                      </a:r>
                      <a:r>
                        <a:rPr lang="en-US" sz="1300" b="1">
                          <a:solidFill>
                            <a:srgbClr val="BC8F00"/>
                          </a:solidFill>
                          <a:latin typeface="Calibri"/>
                          <a:ea typeface="Calibri"/>
                          <a:cs typeface="Calibri"/>
                          <a:sym typeface="Calibri"/>
                        </a:rPr>
                        <a:t>'2007-12-31</a:t>
                      </a:r>
                      <a:r>
                        <a:rPr lang="en-US" sz="1300">
                          <a:latin typeface="Calibri"/>
                          <a:ea typeface="Calibri"/>
                          <a:cs typeface="Calibri"/>
                          <a:sym typeface="Calibri"/>
                        </a:rPr>
                        <a:t> </a:t>
                      </a:r>
                      <a:r>
                        <a:rPr lang="en-US" sz="1300" b="1">
                          <a:solidFill>
                            <a:srgbClr val="BC8F00"/>
                          </a:solidFill>
                          <a:latin typeface="Calibri"/>
                          <a:ea typeface="Calibri"/>
                          <a:cs typeface="Calibri"/>
                          <a:sym typeface="Calibri"/>
                        </a:rPr>
                        <a:t>23:59:59</a:t>
                      </a:r>
                      <a:r>
                        <a:rPr lang="en-US" sz="1300">
                          <a:latin typeface="Calibri"/>
                          <a:ea typeface="Calibri"/>
                          <a:cs typeface="Calibri"/>
                          <a:sym typeface="Calibri"/>
                        </a:rPr>
                        <a:t>',</a:t>
                      </a:r>
                      <a:r>
                        <a:rPr lang="en-US" sz="1300" b="1">
                          <a:solidFill>
                            <a:srgbClr val="BC8F00"/>
                          </a:solidFill>
                          <a:latin typeface="Calibri"/>
                          <a:ea typeface="Calibri"/>
                          <a:cs typeface="Calibri"/>
                          <a:sym typeface="Calibri"/>
                        </a:rPr>
                        <a:t>'2007-12-30</a:t>
                      </a:r>
                      <a:r>
                        <a:rPr lang="en-US" sz="1300">
                          <a:latin typeface="Calibri"/>
                          <a:ea typeface="Calibri"/>
                          <a:cs typeface="Calibri"/>
                          <a:sym typeface="Calibri"/>
                        </a:rPr>
                        <a:t>') </a:t>
                      </a:r>
                      <a:endParaRPr/>
                    </a:p>
                    <a:p>
                      <a:pPr marL="0" marR="0" lvl="0" indent="0" algn="l" rtl="0">
                        <a:lnSpc>
                          <a:spcPct val="100000"/>
                        </a:lnSpc>
                        <a:spcBef>
                          <a:spcPts val="0"/>
                        </a:spcBef>
                        <a:spcAft>
                          <a:spcPts val="0"/>
                        </a:spcAft>
                        <a:buClr>
                          <a:srgbClr val="538CD5"/>
                        </a:buClr>
                        <a:buSzPts val="1300"/>
                        <a:buFont typeface="Calibri"/>
                        <a:buNone/>
                      </a:pPr>
                      <a:r>
                        <a:rPr lang="en-US" sz="1300" b="1">
                          <a:solidFill>
                            <a:srgbClr val="538CD5"/>
                          </a:solidFill>
                          <a:latin typeface="Calibri"/>
                          <a:ea typeface="Calibri"/>
                          <a:cs typeface="Calibri"/>
                          <a:sym typeface="Calibri"/>
                        </a:rPr>
                        <a:t>from</a:t>
                      </a:r>
                      <a:r>
                        <a:rPr lang="en-US" sz="1300">
                          <a:latin typeface="Calibri"/>
                          <a:ea typeface="Calibri"/>
                          <a:cs typeface="Calibri"/>
                          <a:sym typeface="Calibri"/>
                        </a:rPr>
                        <a:t> </a:t>
                      </a:r>
                      <a:r>
                        <a:rPr lang="en-US" sz="1300" b="1">
                          <a:solidFill>
                            <a:srgbClr val="BC8F00"/>
                          </a:solidFill>
                          <a:latin typeface="Calibri"/>
                          <a:ea typeface="Calibri"/>
                          <a:cs typeface="Calibri"/>
                          <a:sym typeface="Calibri"/>
                        </a:rPr>
                        <a:t>customers;</a:t>
                      </a:r>
                      <a:endParaRPr/>
                    </a:p>
                  </a:txBody>
                  <a:tcPr marL="91450" marR="91450" marT="45725" marB="45725"/>
                </a:tc>
                <a:tc>
                  <a:txBody>
                    <a:bodyPr/>
                    <a:lstStyle/>
                    <a:p>
                      <a:pPr marL="0" marR="0" lvl="0" indent="0" algn="l" rtl="0">
                        <a:spcBef>
                          <a:spcPts val="0"/>
                        </a:spcBef>
                        <a:spcAft>
                          <a:spcPts val="0"/>
                        </a:spcAft>
                        <a:buNone/>
                      </a:pPr>
                      <a:r>
                        <a:rPr lang="en-US" sz="1300"/>
                        <a:t>1</a:t>
                      </a:r>
                      <a:endParaRPr sz="1300" b="0">
                        <a:latin typeface="Calibri"/>
                        <a:ea typeface="Calibri"/>
                        <a:cs typeface="Calibri"/>
                        <a:sym typeface="Calibri"/>
                      </a:endParaRPr>
                    </a:p>
                  </a:txBody>
                  <a:tcPr marL="91450" marR="91450" marT="45725" marB="45725"/>
                </a:tc>
              </a:tr>
              <a:tr h="534075">
                <a:tc>
                  <a:txBody>
                    <a:bodyPr/>
                    <a:lstStyle/>
                    <a:p>
                      <a:pPr marL="0" marR="0" lvl="0" indent="0" algn="l" rtl="0">
                        <a:spcBef>
                          <a:spcPts val="0"/>
                        </a:spcBef>
                        <a:spcAft>
                          <a:spcPts val="0"/>
                        </a:spcAft>
                        <a:buNone/>
                      </a:pPr>
                      <a:r>
                        <a:rPr lang="en-US" sz="1300"/>
                        <a:t>TIME</a:t>
                      </a:r>
                      <a:endParaRPr sz="1300" b="1">
                        <a:latin typeface="Calibri"/>
                        <a:ea typeface="Calibri"/>
                        <a:cs typeface="Calibri"/>
                        <a:sym typeface="Calibri"/>
                      </a:endParaRPr>
                    </a:p>
                  </a:txBody>
                  <a:tcPr marL="91450" marR="91450" marT="45725" marB="45725"/>
                </a:tc>
                <a:tc>
                  <a:txBody>
                    <a:bodyPr/>
                    <a:lstStyle/>
                    <a:p>
                      <a:pPr marL="0" marR="0" lvl="0" indent="0" algn="l" rtl="0">
                        <a:spcBef>
                          <a:spcPts val="0"/>
                        </a:spcBef>
                        <a:spcAft>
                          <a:spcPts val="0"/>
                        </a:spcAft>
                        <a:buNone/>
                      </a:pPr>
                      <a:r>
                        <a:rPr lang="en-US" sz="1300"/>
                        <a:t>Converts TIMESTAMP or character string to TIME. </a:t>
                      </a:r>
                      <a:endParaRPr sz="1300" b="0">
                        <a:solidFill>
                          <a:schemeClr val="dk1"/>
                        </a:solidFill>
                        <a:latin typeface="Calibri"/>
                        <a:ea typeface="Calibri"/>
                        <a:cs typeface="Calibri"/>
                        <a:sym typeface="Calibri"/>
                      </a:endParaRPr>
                    </a:p>
                  </a:txBody>
                  <a:tcPr marL="91450" marR="91450" marT="45725" marB="45725"/>
                </a:tc>
                <a:tc>
                  <a:txBody>
                    <a:bodyPr/>
                    <a:lstStyle/>
                    <a:p>
                      <a:pPr marL="0" marR="0" lvl="0" indent="0" algn="l" rtl="0">
                        <a:lnSpc>
                          <a:spcPct val="100000"/>
                        </a:lnSpc>
                        <a:spcBef>
                          <a:spcPts val="0"/>
                        </a:spcBef>
                        <a:spcAft>
                          <a:spcPts val="0"/>
                        </a:spcAft>
                        <a:buClr>
                          <a:srgbClr val="538CD5"/>
                        </a:buClr>
                        <a:buSzPts val="1300"/>
                        <a:buFont typeface="Calibri"/>
                        <a:buNone/>
                      </a:pPr>
                      <a:r>
                        <a:rPr lang="en-US" sz="1300" b="1">
                          <a:solidFill>
                            <a:srgbClr val="538CD5"/>
                          </a:solidFill>
                          <a:latin typeface="Calibri"/>
                          <a:ea typeface="Calibri"/>
                          <a:cs typeface="Calibri"/>
                          <a:sym typeface="Calibri"/>
                        </a:rPr>
                        <a:t>SELECT</a:t>
                      </a:r>
                      <a:r>
                        <a:rPr lang="en-US" sz="1300" b="0">
                          <a:latin typeface="Calibri"/>
                          <a:ea typeface="Calibri"/>
                          <a:cs typeface="Calibri"/>
                          <a:sym typeface="Calibri"/>
                        </a:rPr>
                        <a:t> </a:t>
                      </a:r>
                      <a:r>
                        <a:rPr lang="en-US" sz="1300" b="1">
                          <a:solidFill>
                            <a:srgbClr val="538CD5"/>
                          </a:solidFill>
                          <a:latin typeface="Calibri"/>
                          <a:ea typeface="Calibri"/>
                          <a:cs typeface="Calibri"/>
                          <a:sym typeface="Calibri"/>
                        </a:rPr>
                        <a:t>time</a:t>
                      </a:r>
                      <a:r>
                        <a:rPr lang="en-US" sz="1300" b="0">
                          <a:latin typeface="Calibri"/>
                          <a:ea typeface="Calibri"/>
                          <a:cs typeface="Calibri"/>
                          <a:sym typeface="Calibri"/>
                        </a:rPr>
                        <a:t>(</a:t>
                      </a:r>
                      <a:r>
                        <a:rPr lang="en-US" sz="1300" b="1">
                          <a:solidFill>
                            <a:srgbClr val="BC8F00"/>
                          </a:solidFill>
                          <a:latin typeface="Calibri"/>
                          <a:ea typeface="Calibri"/>
                          <a:cs typeface="Calibri"/>
                          <a:sym typeface="Calibri"/>
                        </a:rPr>
                        <a:t>'2008-02-03</a:t>
                      </a:r>
                      <a:r>
                        <a:rPr lang="en-US" sz="1300" b="0">
                          <a:latin typeface="Calibri"/>
                          <a:ea typeface="Calibri"/>
                          <a:cs typeface="Calibri"/>
                          <a:sym typeface="Calibri"/>
                        </a:rPr>
                        <a:t>') </a:t>
                      </a:r>
                      <a:endParaRPr/>
                    </a:p>
                    <a:p>
                      <a:pPr marL="0" marR="0" lvl="0" indent="0" algn="l" rtl="0">
                        <a:lnSpc>
                          <a:spcPct val="100000"/>
                        </a:lnSpc>
                        <a:spcBef>
                          <a:spcPts val="0"/>
                        </a:spcBef>
                        <a:spcAft>
                          <a:spcPts val="0"/>
                        </a:spcAft>
                        <a:buClr>
                          <a:srgbClr val="538CD5"/>
                        </a:buClr>
                        <a:buSzPts val="1300"/>
                        <a:buFont typeface="Calibri"/>
                        <a:buNone/>
                      </a:pPr>
                      <a:r>
                        <a:rPr lang="en-US" sz="1300" b="1">
                          <a:solidFill>
                            <a:srgbClr val="538CD5"/>
                          </a:solidFill>
                          <a:latin typeface="Calibri"/>
                          <a:ea typeface="Calibri"/>
                          <a:cs typeface="Calibri"/>
                          <a:sym typeface="Calibri"/>
                        </a:rPr>
                        <a:t>FROM</a:t>
                      </a:r>
                      <a:r>
                        <a:rPr lang="en-US" sz="1300" b="0">
                          <a:latin typeface="Calibri"/>
                          <a:ea typeface="Calibri"/>
                          <a:cs typeface="Calibri"/>
                          <a:sym typeface="Calibri"/>
                        </a:rPr>
                        <a:t> </a:t>
                      </a:r>
                      <a:r>
                        <a:rPr lang="en-US" sz="1300" b="1">
                          <a:solidFill>
                            <a:srgbClr val="BC8F00"/>
                          </a:solidFill>
                          <a:latin typeface="Calibri"/>
                          <a:ea typeface="Calibri"/>
                          <a:cs typeface="Calibri"/>
                          <a:sym typeface="Calibri"/>
                        </a:rPr>
                        <a:t>customers</a:t>
                      </a:r>
                      <a:r>
                        <a:rPr lang="en-US" sz="1300" b="0">
                          <a:latin typeface="Calibri"/>
                          <a:ea typeface="Calibri"/>
                          <a:cs typeface="Calibri"/>
                          <a:sym typeface="Calibri"/>
                        </a:rPr>
                        <a:t>;</a:t>
                      </a:r>
                      <a:endParaRPr sz="1300" b="0">
                        <a:latin typeface="Calibri"/>
                        <a:ea typeface="Calibri"/>
                        <a:cs typeface="Calibri"/>
                        <a:sym typeface="Calibri"/>
                      </a:endParaRPr>
                    </a:p>
                  </a:txBody>
                  <a:tcPr marL="91450" marR="91450" marT="45725" marB="45725"/>
                </a:tc>
                <a:tc>
                  <a:txBody>
                    <a:bodyPr/>
                    <a:lstStyle/>
                    <a:p>
                      <a:pPr marL="0" marR="0" lvl="0" indent="0" algn="l" rtl="0">
                        <a:spcBef>
                          <a:spcPts val="0"/>
                        </a:spcBef>
                        <a:spcAft>
                          <a:spcPts val="0"/>
                        </a:spcAft>
                        <a:buNone/>
                      </a:pPr>
                      <a:r>
                        <a:rPr lang="en-US" sz="1300"/>
                        <a:t>00:20:08</a:t>
                      </a:r>
                      <a:endParaRPr/>
                    </a:p>
                  </a:txBody>
                  <a:tcPr marL="91450" marR="91450" marT="45725" marB="45725" anchor="ctr"/>
                </a:tc>
              </a:tr>
              <a:tr h="534075">
                <a:tc>
                  <a:txBody>
                    <a:bodyPr/>
                    <a:lstStyle/>
                    <a:p>
                      <a:pPr marL="0" marR="0" lvl="0" indent="0" algn="l" rtl="0">
                        <a:spcBef>
                          <a:spcPts val="0"/>
                        </a:spcBef>
                        <a:spcAft>
                          <a:spcPts val="0"/>
                        </a:spcAft>
                        <a:buNone/>
                      </a:pPr>
                      <a:r>
                        <a:rPr lang="en-US" sz="1300"/>
                        <a:t>EXTRACT </a:t>
                      </a:r>
                      <a:endParaRPr sz="1300" b="1">
                        <a:latin typeface="Calibri"/>
                        <a:ea typeface="Calibri"/>
                        <a:cs typeface="Calibri"/>
                        <a:sym typeface="Calibri"/>
                      </a:endParaRPr>
                    </a:p>
                  </a:txBody>
                  <a:tcPr marL="91450" marR="91450" marT="45725" marB="45725"/>
                </a:tc>
                <a:tc>
                  <a:txBody>
                    <a:bodyPr/>
                    <a:lstStyle/>
                    <a:p>
                      <a:pPr marL="0" marR="0" lvl="0" indent="0" algn="l" rtl="0">
                        <a:spcBef>
                          <a:spcPts val="0"/>
                        </a:spcBef>
                        <a:spcAft>
                          <a:spcPts val="0"/>
                        </a:spcAft>
                        <a:buNone/>
                      </a:pPr>
                      <a:r>
                        <a:rPr lang="en-US" sz="1300"/>
                        <a:t>Allows the date part to be extracted (YEAR, MONTH, DAY, HOUR, MINUTE, SECOND, TIMEZONE_HOUR, or TIMEZONE_MINUTE) from a temporal expression.</a:t>
                      </a:r>
                      <a:endParaRPr/>
                    </a:p>
                  </a:txBody>
                  <a:tcPr marL="91450" marR="91450" marT="45725" marB="45725"/>
                </a:tc>
                <a:tc>
                  <a:txBody>
                    <a:bodyPr/>
                    <a:lstStyle/>
                    <a:p>
                      <a:pPr marL="0" marR="0" lvl="0" indent="0" algn="l" rtl="0">
                        <a:lnSpc>
                          <a:spcPct val="100000"/>
                        </a:lnSpc>
                        <a:spcBef>
                          <a:spcPts val="0"/>
                        </a:spcBef>
                        <a:spcAft>
                          <a:spcPts val="0"/>
                        </a:spcAft>
                        <a:buClr>
                          <a:srgbClr val="538CD5"/>
                        </a:buClr>
                        <a:buSzPts val="1300"/>
                        <a:buFont typeface="Calibri"/>
                        <a:buNone/>
                      </a:pPr>
                      <a:r>
                        <a:rPr lang="en-US" sz="1300" b="1">
                          <a:solidFill>
                            <a:srgbClr val="538CD5"/>
                          </a:solidFill>
                          <a:latin typeface="Calibri"/>
                          <a:ea typeface="Calibri"/>
                          <a:cs typeface="Calibri"/>
                          <a:sym typeface="Calibri"/>
                        </a:rPr>
                        <a:t>SELECT</a:t>
                      </a:r>
                      <a:r>
                        <a:rPr lang="en-US" sz="1300" b="0">
                          <a:latin typeface="Calibri"/>
                          <a:ea typeface="Calibri"/>
                          <a:cs typeface="Calibri"/>
                          <a:sym typeface="Calibri"/>
                        </a:rPr>
                        <a:t> </a:t>
                      </a:r>
                      <a:r>
                        <a:rPr lang="en-US" sz="1300" b="1">
                          <a:solidFill>
                            <a:srgbClr val="538CD5"/>
                          </a:solidFill>
                          <a:latin typeface="Calibri"/>
                          <a:ea typeface="Calibri"/>
                          <a:cs typeface="Calibri"/>
                          <a:sym typeface="Calibri"/>
                        </a:rPr>
                        <a:t>EXTRACT(DAY</a:t>
                      </a:r>
                      <a:r>
                        <a:rPr lang="en-US" sz="1300" b="0">
                          <a:latin typeface="Calibri"/>
                          <a:ea typeface="Calibri"/>
                          <a:cs typeface="Calibri"/>
                          <a:sym typeface="Calibri"/>
                        </a:rPr>
                        <a:t> </a:t>
                      </a:r>
                      <a:r>
                        <a:rPr lang="en-US" sz="1300" b="1">
                          <a:solidFill>
                            <a:srgbClr val="538CD5"/>
                          </a:solidFill>
                          <a:latin typeface="Calibri"/>
                          <a:ea typeface="Calibri"/>
                          <a:cs typeface="Calibri"/>
                          <a:sym typeface="Calibri"/>
                        </a:rPr>
                        <a:t>FROM</a:t>
                      </a:r>
                      <a:r>
                        <a:rPr lang="en-US" sz="1300" b="0">
                          <a:latin typeface="Calibri"/>
                          <a:ea typeface="Calibri"/>
                          <a:cs typeface="Calibri"/>
                          <a:sym typeface="Calibri"/>
                        </a:rPr>
                        <a:t> </a:t>
                      </a:r>
                      <a:r>
                        <a:rPr lang="en-US" sz="1300" b="1">
                          <a:solidFill>
                            <a:srgbClr val="538CD5"/>
                          </a:solidFill>
                          <a:latin typeface="Calibri"/>
                          <a:ea typeface="Calibri"/>
                          <a:cs typeface="Calibri"/>
                          <a:sym typeface="Calibri"/>
                        </a:rPr>
                        <a:t>DATE</a:t>
                      </a:r>
                      <a:r>
                        <a:rPr lang="en-US" sz="1300" b="0">
                          <a:latin typeface="Calibri"/>
                          <a:ea typeface="Calibri"/>
                          <a:cs typeface="Calibri"/>
                          <a:sym typeface="Calibri"/>
                        </a:rPr>
                        <a:t>(</a:t>
                      </a:r>
                      <a:r>
                        <a:rPr lang="en-US" sz="1300" b="1">
                          <a:solidFill>
                            <a:srgbClr val="BC8F00"/>
                          </a:solidFill>
                          <a:latin typeface="Calibri"/>
                          <a:ea typeface="Calibri"/>
                          <a:cs typeface="Calibri"/>
                          <a:sym typeface="Calibri"/>
                        </a:rPr>
                        <a:t>'2009-01-01</a:t>
                      </a:r>
                      <a:r>
                        <a:rPr lang="en-US" sz="1300" b="0">
                          <a:latin typeface="Calibri"/>
                          <a:ea typeface="Calibri"/>
                          <a:cs typeface="Calibri"/>
                          <a:sym typeface="Calibri"/>
                        </a:rPr>
                        <a:t>') ) </a:t>
                      </a:r>
                      <a:endParaRPr/>
                    </a:p>
                    <a:p>
                      <a:pPr marL="0" marR="0" lvl="0" indent="0" algn="l" rtl="0">
                        <a:lnSpc>
                          <a:spcPct val="100000"/>
                        </a:lnSpc>
                        <a:spcBef>
                          <a:spcPts val="0"/>
                        </a:spcBef>
                        <a:spcAft>
                          <a:spcPts val="0"/>
                        </a:spcAft>
                        <a:buClr>
                          <a:srgbClr val="538CD5"/>
                        </a:buClr>
                        <a:buSzPts val="1300"/>
                        <a:buFont typeface="Calibri"/>
                        <a:buNone/>
                      </a:pPr>
                      <a:r>
                        <a:rPr lang="en-US" sz="1300" b="1">
                          <a:solidFill>
                            <a:srgbClr val="538CD5"/>
                          </a:solidFill>
                          <a:latin typeface="Calibri"/>
                          <a:ea typeface="Calibri"/>
                          <a:cs typeface="Calibri"/>
                          <a:sym typeface="Calibri"/>
                        </a:rPr>
                        <a:t>FROM</a:t>
                      </a:r>
                      <a:r>
                        <a:rPr lang="en-US" sz="1300" b="0">
                          <a:latin typeface="Calibri"/>
                          <a:ea typeface="Calibri"/>
                          <a:cs typeface="Calibri"/>
                          <a:sym typeface="Calibri"/>
                        </a:rPr>
                        <a:t> </a:t>
                      </a:r>
                      <a:r>
                        <a:rPr lang="en-US" sz="1300" b="1">
                          <a:solidFill>
                            <a:srgbClr val="BC8F00"/>
                          </a:solidFill>
                          <a:latin typeface="Calibri"/>
                          <a:ea typeface="Calibri"/>
                          <a:cs typeface="Calibri"/>
                          <a:sym typeface="Calibri"/>
                        </a:rPr>
                        <a:t>customers;</a:t>
                      </a:r>
                      <a:endParaRPr sz="1300" b="1">
                        <a:solidFill>
                          <a:srgbClr val="BC8F00"/>
                        </a:solidFill>
                        <a:latin typeface="Calibri"/>
                        <a:ea typeface="Calibri"/>
                        <a:cs typeface="Calibri"/>
                        <a:sym typeface="Calibri"/>
                      </a:endParaRPr>
                    </a:p>
                  </a:txBody>
                  <a:tcPr marL="91450" marR="91450" marT="45725" marB="45725"/>
                </a:tc>
                <a:tc>
                  <a:txBody>
                    <a:bodyPr/>
                    <a:lstStyle/>
                    <a:p>
                      <a:pPr marL="0" marR="0" lvl="0" indent="0" algn="l" rtl="0">
                        <a:spcBef>
                          <a:spcPts val="0"/>
                        </a:spcBef>
                        <a:spcAft>
                          <a:spcPts val="0"/>
                        </a:spcAft>
                        <a:buNone/>
                      </a:pPr>
                      <a:r>
                        <a:rPr lang="en-US" sz="1300"/>
                        <a:t>1</a:t>
                      </a:r>
                      <a:endParaRPr sz="1300" b="0">
                        <a:latin typeface="Calibri"/>
                        <a:ea typeface="Calibri"/>
                        <a:cs typeface="Calibri"/>
                        <a:sym typeface="Calibri"/>
                      </a:endParaRPr>
                    </a:p>
                  </a:txBody>
                  <a:tcPr marL="91450" marR="91450" marT="45725" marB="45725"/>
                </a:tc>
              </a:tr>
            </a:tbl>
          </a:graphicData>
        </a:graphic>
      </p:graphicFrame>
      <p:sp>
        <p:nvSpPr>
          <p:cNvPr id="282" name="Google Shape;282;p24"/>
          <p:cNvSpPr txBox="1"/>
          <p:nvPr/>
        </p:nvSpPr>
        <p:spPr>
          <a:xfrm>
            <a:off x="381000" y="1226403"/>
            <a:ext cx="8305800" cy="83099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chemeClr val="dk1"/>
                </a:solidFill>
                <a:latin typeface="Calibri"/>
                <a:ea typeface="Calibri"/>
                <a:cs typeface="Calibri"/>
                <a:sym typeface="Calibri"/>
              </a:rPr>
              <a:t>Definition</a:t>
            </a:r>
            <a:r>
              <a:rPr lang="en-US" sz="2400">
                <a:solidFill>
                  <a:schemeClr val="dk1"/>
                </a:solidFill>
                <a:latin typeface="Calibri"/>
                <a:ea typeface="Calibri"/>
                <a:cs typeface="Calibri"/>
                <a:sym typeface="Calibri"/>
              </a:rPr>
              <a:t>: </a:t>
            </a:r>
            <a:r>
              <a:rPr lang="en-US" sz="2400" b="0">
                <a:solidFill>
                  <a:schemeClr val="dk1"/>
                </a:solidFill>
                <a:latin typeface="Calibri"/>
                <a:ea typeface="Calibri"/>
                <a:cs typeface="Calibri"/>
                <a:sym typeface="Calibri"/>
              </a:rPr>
              <a:t>Date/Time functions operates on date, timestamp data type.</a:t>
            </a:r>
            <a:endParaRPr sz="2400">
              <a:solidFill>
                <a:schemeClr val="dk1"/>
              </a:solidFill>
              <a:latin typeface="Calibri"/>
              <a:ea typeface="Calibri"/>
              <a:cs typeface="Calibri"/>
              <a:sym typeface="Calibri"/>
            </a:endParaRPr>
          </a:p>
        </p:txBody>
      </p:sp>
      <p:sp>
        <p:nvSpPr>
          <p:cNvPr id="283" name="Google Shape;283;p24"/>
          <p:cNvSpPr txBox="1">
            <a:spLocks noGrp="1"/>
          </p:cNvSpPr>
          <p:nvPr>
            <p:ph type="sldNum" idx="12"/>
          </p:nvPr>
        </p:nvSpPr>
        <p:spPr>
          <a:xfrm>
            <a:off x="138752" y="6414139"/>
            <a:ext cx="457200" cy="277813"/>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fld id="{00000000-1234-1234-1234-123412341234}" type="slidenum">
              <a:rPr lang="en-US"/>
              <a:t>24</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81"/>
                                        </p:tgtEl>
                                        <p:attrNameLst>
                                          <p:attrName>style.visibility</p:attrName>
                                        </p:attrNameLst>
                                      </p:cBhvr>
                                      <p:to>
                                        <p:strVal val="visible"/>
                                      </p:to>
                                    </p:set>
                                    <p:animEffect transition="in" filter="fade">
                                      <p:cBhvr>
                                        <p:cTn id="7" dur="500"/>
                                        <p:tgtEl>
                                          <p:spTgt spid="2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88"/>
        <p:cNvGrpSpPr/>
        <p:nvPr/>
      </p:nvGrpSpPr>
      <p:grpSpPr>
        <a:xfrm>
          <a:off x="0" y="0"/>
          <a:ext cx="0" cy="0"/>
          <a:chOff x="0" y="0"/>
          <a:chExt cx="0" cy="0"/>
        </a:xfrm>
      </p:grpSpPr>
      <p:sp>
        <p:nvSpPr>
          <p:cNvPr id="289" name="Google Shape;289;p25"/>
          <p:cNvSpPr txBox="1">
            <a:spLocks noGrp="1"/>
          </p:cNvSpPr>
          <p:nvPr>
            <p:ph type="title"/>
          </p:nvPr>
        </p:nvSpPr>
        <p:spPr>
          <a:xfrm>
            <a:off x="1303020" y="-152400"/>
            <a:ext cx="8298180" cy="1143000"/>
          </a:xfrm>
          <a:prstGeom prst="rect">
            <a:avLst/>
          </a:prstGeom>
          <a:noFill/>
          <a:ln>
            <a:noFill/>
          </a:ln>
        </p:spPr>
        <p:txBody>
          <a:bodyPr spcFirstLastPara="1" wrap="square" lIns="91425" tIns="45700" rIns="91425" bIns="45700" anchor="ctr" anchorCtr="0">
            <a:noAutofit/>
          </a:bodyPr>
          <a:lstStyle/>
          <a:p>
            <a:pPr marL="0" lvl="1" indent="0" algn="l" rtl="0">
              <a:spcBef>
                <a:spcPts val="0"/>
              </a:spcBef>
              <a:spcAft>
                <a:spcPts val="0"/>
              </a:spcAft>
              <a:buNone/>
            </a:pPr>
            <a:r>
              <a:rPr lang="en-US" sz="3200">
                <a:latin typeface="Verdana"/>
                <a:ea typeface="Verdana"/>
                <a:cs typeface="Verdana"/>
                <a:sym typeface="Verdana"/>
              </a:rPr>
              <a:t>Date Time Function</a:t>
            </a:r>
            <a:endParaRPr/>
          </a:p>
        </p:txBody>
      </p:sp>
      <p:graphicFrame>
        <p:nvGraphicFramePr>
          <p:cNvPr id="290" name="Google Shape;290;p25"/>
          <p:cNvGraphicFramePr/>
          <p:nvPr/>
        </p:nvGraphicFramePr>
        <p:xfrm>
          <a:off x="533400" y="1752600"/>
          <a:ext cx="8305800" cy="4050665"/>
        </p:xfrm>
        <a:graphic>
          <a:graphicData uri="http://schemas.openxmlformats.org/drawingml/2006/table">
            <a:tbl>
              <a:tblPr firstRow="1" bandRow="1">
                <a:noFill/>
                <a:tableStyleId>{7FFFBDA3-1227-47A5-887F-83766C0D3143}</a:tableStyleId>
              </a:tblPr>
              <a:tblGrid>
                <a:gridCol w="1134150"/>
                <a:gridCol w="3276600"/>
                <a:gridCol w="2743200"/>
                <a:gridCol w="1151850"/>
              </a:tblGrid>
              <a:tr h="222525">
                <a:tc>
                  <a:txBody>
                    <a:bodyPr/>
                    <a:lstStyle/>
                    <a:p>
                      <a:pPr marL="0" marR="0" lvl="0" indent="0" algn="l" rtl="0">
                        <a:spcBef>
                          <a:spcPts val="0"/>
                        </a:spcBef>
                        <a:spcAft>
                          <a:spcPts val="0"/>
                        </a:spcAft>
                        <a:buNone/>
                      </a:pPr>
                      <a:r>
                        <a:rPr lang="en-US" sz="1400"/>
                        <a:t>Function Name</a:t>
                      </a:r>
                      <a:endParaRPr sz="1400">
                        <a:latin typeface="Calibri"/>
                        <a:ea typeface="Calibri"/>
                        <a:cs typeface="Calibri"/>
                        <a:sym typeface="Calibri"/>
                      </a:endParaRPr>
                    </a:p>
                  </a:txBody>
                  <a:tcPr marL="91450" marR="91450" marT="45725" marB="45725"/>
                </a:tc>
                <a:tc>
                  <a:txBody>
                    <a:bodyPr/>
                    <a:lstStyle/>
                    <a:p>
                      <a:pPr marL="0" marR="0" lvl="0" indent="0" algn="l" rtl="0">
                        <a:spcBef>
                          <a:spcPts val="0"/>
                        </a:spcBef>
                        <a:spcAft>
                          <a:spcPts val="0"/>
                        </a:spcAft>
                        <a:buNone/>
                      </a:pPr>
                      <a:r>
                        <a:rPr lang="en-US" sz="1400"/>
                        <a:t>Description</a:t>
                      </a:r>
                      <a:endParaRPr sz="1400">
                        <a:latin typeface="Calibri"/>
                        <a:ea typeface="Calibri"/>
                        <a:cs typeface="Calibri"/>
                        <a:sym typeface="Calibri"/>
                      </a:endParaRPr>
                    </a:p>
                  </a:txBody>
                  <a:tcPr marL="91450" marR="91450" marT="45725" marB="45725"/>
                </a:tc>
                <a:tc>
                  <a:txBody>
                    <a:bodyPr/>
                    <a:lstStyle/>
                    <a:p>
                      <a:pPr marL="0" marR="0" lvl="0" indent="0" algn="l" rtl="0">
                        <a:spcBef>
                          <a:spcPts val="0"/>
                        </a:spcBef>
                        <a:spcAft>
                          <a:spcPts val="0"/>
                        </a:spcAft>
                        <a:buNone/>
                      </a:pPr>
                      <a:r>
                        <a:rPr lang="en-US" sz="1400"/>
                        <a:t>Example </a:t>
                      </a:r>
                      <a:endParaRPr sz="1400">
                        <a:latin typeface="Calibri"/>
                        <a:ea typeface="Calibri"/>
                        <a:cs typeface="Calibri"/>
                        <a:sym typeface="Calibri"/>
                      </a:endParaRPr>
                    </a:p>
                  </a:txBody>
                  <a:tcPr marL="91450" marR="91450" marT="45725" marB="45725"/>
                </a:tc>
                <a:tc>
                  <a:txBody>
                    <a:bodyPr/>
                    <a:lstStyle/>
                    <a:p>
                      <a:pPr marL="0" marR="0" lvl="0" indent="0" algn="l" rtl="0">
                        <a:spcBef>
                          <a:spcPts val="0"/>
                        </a:spcBef>
                        <a:spcAft>
                          <a:spcPts val="0"/>
                        </a:spcAft>
                        <a:buNone/>
                      </a:pPr>
                      <a:r>
                        <a:rPr lang="en-US" sz="1400"/>
                        <a:t>Result</a:t>
                      </a:r>
                      <a:endParaRPr sz="1400">
                        <a:latin typeface="Calibri"/>
                        <a:ea typeface="Calibri"/>
                        <a:cs typeface="Calibri"/>
                        <a:sym typeface="Calibri"/>
                      </a:endParaRPr>
                    </a:p>
                  </a:txBody>
                  <a:tcPr marL="91450" marR="91450" marT="45725" marB="45725"/>
                </a:tc>
              </a:tr>
              <a:tr h="689850">
                <a:tc>
                  <a:txBody>
                    <a:bodyPr/>
                    <a:lstStyle/>
                    <a:p>
                      <a:pPr marL="0" marR="0" lvl="0" indent="0" algn="l" rtl="0">
                        <a:spcBef>
                          <a:spcPts val="0"/>
                        </a:spcBef>
                        <a:spcAft>
                          <a:spcPts val="0"/>
                        </a:spcAft>
                        <a:buNone/>
                      </a:pPr>
                      <a:r>
                        <a:rPr lang="en-US" sz="1300"/>
                        <a:t>CURRENT_DATE</a:t>
                      </a:r>
                      <a:endParaRPr sz="1300" b="1">
                        <a:solidFill>
                          <a:schemeClr val="dk1"/>
                        </a:solidFill>
                        <a:latin typeface="Calibri"/>
                        <a:ea typeface="Calibri"/>
                        <a:cs typeface="Calibri"/>
                        <a:sym typeface="Calibri"/>
                      </a:endParaRPr>
                    </a:p>
                  </a:txBody>
                  <a:tcPr marL="0" marR="0" marT="0" marB="0" anchor="ctr"/>
                </a:tc>
                <a:tc>
                  <a:txBody>
                    <a:bodyPr/>
                    <a:lstStyle/>
                    <a:p>
                      <a:pPr marL="0" marR="0" lvl="0" indent="0" algn="l" rtl="0">
                        <a:spcBef>
                          <a:spcPts val="0"/>
                        </a:spcBef>
                        <a:spcAft>
                          <a:spcPts val="0"/>
                        </a:spcAft>
                        <a:buNone/>
                      </a:pPr>
                      <a:r>
                        <a:rPr lang="en-US" sz="1300"/>
                        <a:t>Returns current date</a:t>
                      </a:r>
                      <a:endParaRPr sz="1300">
                        <a:solidFill>
                          <a:schemeClr val="dk1"/>
                        </a:solidFill>
                        <a:latin typeface="Calibri"/>
                        <a:ea typeface="Calibri"/>
                        <a:cs typeface="Calibri"/>
                        <a:sym typeface="Calibri"/>
                      </a:endParaRPr>
                    </a:p>
                  </a:txBody>
                  <a:tcPr marL="0" marR="0" marT="0" marB="0" anchor="ctr"/>
                </a:tc>
                <a:tc>
                  <a:txBody>
                    <a:bodyPr/>
                    <a:lstStyle/>
                    <a:p>
                      <a:pPr marL="0" marR="0" lvl="0" indent="0" algn="l" rtl="0">
                        <a:lnSpc>
                          <a:spcPct val="100000"/>
                        </a:lnSpc>
                        <a:spcBef>
                          <a:spcPts val="0"/>
                        </a:spcBef>
                        <a:spcAft>
                          <a:spcPts val="0"/>
                        </a:spcAft>
                        <a:buClr>
                          <a:srgbClr val="538CD5"/>
                        </a:buClr>
                        <a:buSzPts val="1300"/>
                        <a:buFont typeface="Calibri"/>
                        <a:buNone/>
                      </a:pPr>
                      <a:r>
                        <a:rPr lang="en-US" sz="1300" b="1">
                          <a:solidFill>
                            <a:srgbClr val="538CD5"/>
                          </a:solidFill>
                          <a:latin typeface="Calibri"/>
                          <a:ea typeface="Calibri"/>
                          <a:cs typeface="Calibri"/>
                          <a:sym typeface="Calibri"/>
                        </a:rPr>
                        <a:t>SELECT CURRENT_DATE;</a:t>
                      </a:r>
                      <a:endParaRPr/>
                    </a:p>
                  </a:txBody>
                  <a:tcPr marL="0" marR="0" marT="0" marB="0" anchor="ctr"/>
                </a:tc>
                <a:tc>
                  <a:txBody>
                    <a:bodyPr/>
                    <a:lstStyle/>
                    <a:p>
                      <a:pPr marL="0" marR="0" lvl="0" indent="0" algn="l" rtl="0">
                        <a:spcBef>
                          <a:spcPts val="0"/>
                        </a:spcBef>
                        <a:spcAft>
                          <a:spcPts val="0"/>
                        </a:spcAft>
                        <a:buNone/>
                      </a:pPr>
                      <a:r>
                        <a:rPr lang="en-US" sz="1300"/>
                        <a:t>2013-02-15</a:t>
                      </a:r>
                      <a:endParaRPr sz="1300">
                        <a:solidFill>
                          <a:schemeClr val="dk1"/>
                        </a:solidFill>
                        <a:latin typeface="Calibri"/>
                        <a:ea typeface="Calibri"/>
                        <a:cs typeface="Calibri"/>
                        <a:sym typeface="Calibri"/>
                      </a:endParaRPr>
                    </a:p>
                  </a:txBody>
                  <a:tcPr marL="0" marR="0" marT="0" marB="0" anchor="ctr"/>
                </a:tc>
              </a:tr>
              <a:tr h="534075">
                <a:tc>
                  <a:txBody>
                    <a:bodyPr/>
                    <a:lstStyle/>
                    <a:p>
                      <a:pPr marL="0" marR="0" lvl="0" indent="0" algn="l" rtl="0">
                        <a:spcBef>
                          <a:spcPts val="0"/>
                        </a:spcBef>
                        <a:spcAft>
                          <a:spcPts val="0"/>
                        </a:spcAft>
                        <a:buNone/>
                      </a:pPr>
                      <a:r>
                        <a:rPr lang="en-US" sz="1300"/>
                        <a:t>CURRENT_TIME </a:t>
                      </a:r>
                      <a:endParaRPr sz="1300" b="1">
                        <a:solidFill>
                          <a:schemeClr val="dk1"/>
                        </a:solidFill>
                        <a:latin typeface="Calibri"/>
                        <a:ea typeface="Calibri"/>
                        <a:cs typeface="Calibri"/>
                        <a:sym typeface="Calibri"/>
                      </a:endParaRPr>
                    </a:p>
                  </a:txBody>
                  <a:tcPr marL="0" marR="0" marT="0" marB="0" anchor="ctr"/>
                </a:tc>
                <a:tc>
                  <a:txBody>
                    <a:bodyPr/>
                    <a:lstStyle/>
                    <a:p>
                      <a:pPr marL="0" marR="0" lvl="0" indent="0" algn="l" rtl="0">
                        <a:spcBef>
                          <a:spcPts val="0"/>
                        </a:spcBef>
                        <a:spcAft>
                          <a:spcPts val="0"/>
                        </a:spcAft>
                        <a:buNone/>
                      </a:pPr>
                      <a:r>
                        <a:rPr lang="en-US" sz="1300"/>
                        <a:t>Returns current time</a:t>
                      </a:r>
                      <a:endParaRPr sz="1300">
                        <a:solidFill>
                          <a:schemeClr val="dk1"/>
                        </a:solidFill>
                        <a:latin typeface="Calibri"/>
                        <a:ea typeface="Calibri"/>
                        <a:cs typeface="Calibri"/>
                        <a:sym typeface="Calibri"/>
                      </a:endParaRPr>
                    </a:p>
                  </a:txBody>
                  <a:tcPr marL="0" marR="0" marT="0" marB="0" anchor="ctr"/>
                </a:tc>
                <a:tc>
                  <a:txBody>
                    <a:bodyPr/>
                    <a:lstStyle/>
                    <a:p>
                      <a:pPr marL="0" marR="0" lvl="0" indent="0" algn="l" rtl="0">
                        <a:lnSpc>
                          <a:spcPct val="100000"/>
                        </a:lnSpc>
                        <a:spcBef>
                          <a:spcPts val="0"/>
                        </a:spcBef>
                        <a:spcAft>
                          <a:spcPts val="0"/>
                        </a:spcAft>
                        <a:buClr>
                          <a:srgbClr val="538CD5"/>
                        </a:buClr>
                        <a:buSzPts val="1300"/>
                        <a:buFont typeface="Calibri"/>
                        <a:buNone/>
                      </a:pPr>
                      <a:r>
                        <a:rPr lang="en-US" sz="1300" b="1">
                          <a:solidFill>
                            <a:srgbClr val="538CD5"/>
                          </a:solidFill>
                          <a:latin typeface="Calibri"/>
                          <a:ea typeface="Calibri"/>
                          <a:cs typeface="Calibri"/>
                          <a:sym typeface="Calibri"/>
                        </a:rPr>
                        <a:t>SELECT CURRENT_TIME;</a:t>
                      </a:r>
                      <a:endParaRPr/>
                    </a:p>
                  </a:txBody>
                  <a:tcPr marL="0" marR="0" marT="0" marB="0" anchor="ctr"/>
                </a:tc>
                <a:tc>
                  <a:txBody>
                    <a:bodyPr/>
                    <a:lstStyle/>
                    <a:p>
                      <a:pPr marL="0" marR="0" lvl="0" indent="0" algn="l" rtl="0">
                        <a:spcBef>
                          <a:spcPts val="0"/>
                        </a:spcBef>
                        <a:spcAft>
                          <a:spcPts val="0"/>
                        </a:spcAft>
                        <a:buNone/>
                      </a:pPr>
                      <a:r>
                        <a:rPr lang="en-US" sz="1300"/>
                        <a:t>09:40:51</a:t>
                      </a:r>
                      <a:endParaRPr sz="1300">
                        <a:solidFill>
                          <a:schemeClr val="dk1"/>
                        </a:solidFill>
                        <a:latin typeface="Calibri"/>
                        <a:ea typeface="Calibri"/>
                        <a:cs typeface="Calibri"/>
                        <a:sym typeface="Calibri"/>
                      </a:endParaRPr>
                    </a:p>
                  </a:txBody>
                  <a:tcPr marL="0" marR="0" marT="0" marB="0" anchor="ctr"/>
                </a:tc>
              </a:tr>
              <a:tr h="534075">
                <a:tc>
                  <a:txBody>
                    <a:bodyPr/>
                    <a:lstStyle/>
                    <a:p>
                      <a:pPr marL="0" marR="0" lvl="0" indent="0" algn="l" rtl="0">
                        <a:lnSpc>
                          <a:spcPct val="100000"/>
                        </a:lnSpc>
                        <a:spcBef>
                          <a:spcPts val="0"/>
                        </a:spcBef>
                        <a:spcAft>
                          <a:spcPts val="0"/>
                        </a:spcAft>
                        <a:buClr>
                          <a:schemeClr val="dk1"/>
                        </a:buClr>
                        <a:buSzPts val="1300"/>
                        <a:buFont typeface="Calibri"/>
                        <a:buNone/>
                      </a:pPr>
                      <a:r>
                        <a:rPr lang="en-US" sz="1300"/>
                        <a:t>CURRENT_TIMESTAMP</a:t>
                      </a:r>
                      <a:endParaRPr/>
                    </a:p>
                    <a:p>
                      <a:pPr marL="0" marR="0" lvl="0" indent="0" algn="l" rtl="0">
                        <a:spcBef>
                          <a:spcPts val="0"/>
                        </a:spcBef>
                        <a:spcAft>
                          <a:spcPts val="0"/>
                        </a:spcAft>
                        <a:buNone/>
                      </a:pPr>
                      <a:endParaRPr sz="1300" b="1">
                        <a:solidFill>
                          <a:schemeClr val="dk1"/>
                        </a:solidFill>
                        <a:latin typeface="Calibri"/>
                        <a:ea typeface="Calibri"/>
                        <a:cs typeface="Calibri"/>
                        <a:sym typeface="Calibri"/>
                      </a:endParaRPr>
                    </a:p>
                  </a:txBody>
                  <a:tcPr marL="0" marR="0" marT="0" marB="0" anchor="ctr"/>
                </a:tc>
                <a:tc>
                  <a:txBody>
                    <a:bodyPr/>
                    <a:lstStyle/>
                    <a:p>
                      <a:pPr marL="0" marR="0" lvl="0" indent="0" algn="l" rtl="0">
                        <a:spcBef>
                          <a:spcPts val="0"/>
                        </a:spcBef>
                        <a:spcAft>
                          <a:spcPts val="0"/>
                        </a:spcAft>
                        <a:buNone/>
                      </a:pPr>
                      <a:r>
                        <a:rPr lang="en-US" sz="1300"/>
                        <a:t>Returns current date and time</a:t>
                      </a:r>
                      <a:endParaRPr sz="1300">
                        <a:solidFill>
                          <a:schemeClr val="dk1"/>
                        </a:solidFill>
                        <a:latin typeface="Calibri"/>
                        <a:ea typeface="Calibri"/>
                        <a:cs typeface="Calibri"/>
                        <a:sym typeface="Calibri"/>
                      </a:endParaRPr>
                    </a:p>
                  </a:txBody>
                  <a:tcPr marL="0" marR="0" marT="0" marB="0" anchor="ctr"/>
                </a:tc>
                <a:tc>
                  <a:txBody>
                    <a:bodyPr/>
                    <a:lstStyle/>
                    <a:p>
                      <a:pPr marL="0" marR="0" lvl="0" indent="0" algn="l" rtl="0">
                        <a:lnSpc>
                          <a:spcPct val="100000"/>
                        </a:lnSpc>
                        <a:spcBef>
                          <a:spcPts val="0"/>
                        </a:spcBef>
                        <a:spcAft>
                          <a:spcPts val="0"/>
                        </a:spcAft>
                        <a:buClr>
                          <a:srgbClr val="538CD5"/>
                        </a:buClr>
                        <a:buSzPts val="1300"/>
                        <a:buFont typeface="Calibri"/>
                        <a:buNone/>
                      </a:pPr>
                      <a:r>
                        <a:rPr lang="en-US" sz="1300" b="1">
                          <a:solidFill>
                            <a:srgbClr val="538CD5"/>
                          </a:solidFill>
                          <a:latin typeface="Calibri"/>
                          <a:ea typeface="Calibri"/>
                          <a:cs typeface="Calibri"/>
                          <a:sym typeface="Calibri"/>
                        </a:rPr>
                        <a:t>SELECT CURRENT_TIMESTAMP; </a:t>
                      </a:r>
                      <a:endParaRPr/>
                    </a:p>
                  </a:txBody>
                  <a:tcPr marL="0" marR="0" marT="0" marB="0" anchor="ctr"/>
                </a:tc>
                <a:tc>
                  <a:txBody>
                    <a:bodyPr/>
                    <a:lstStyle/>
                    <a:p>
                      <a:pPr marL="0" marR="0" lvl="0" indent="0" algn="l" rtl="0">
                        <a:spcBef>
                          <a:spcPts val="0"/>
                        </a:spcBef>
                        <a:spcAft>
                          <a:spcPts val="0"/>
                        </a:spcAft>
                        <a:buNone/>
                      </a:pPr>
                      <a:r>
                        <a:rPr lang="en-US" sz="1300"/>
                        <a:t>2013-02-15 09:42:40</a:t>
                      </a:r>
                      <a:endParaRPr sz="1300">
                        <a:solidFill>
                          <a:schemeClr val="dk1"/>
                        </a:solidFill>
                        <a:latin typeface="Calibri"/>
                        <a:ea typeface="Calibri"/>
                        <a:cs typeface="Calibri"/>
                        <a:sym typeface="Calibri"/>
                      </a:endParaRPr>
                    </a:p>
                  </a:txBody>
                  <a:tcPr marL="0" marR="0" marT="0" marB="0" anchor="ctr"/>
                </a:tc>
              </a:tr>
              <a:tr h="534075">
                <a:tc>
                  <a:txBody>
                    <a:bodyPr/>
                    <a:lstStyle/>
                    <a:p>
                      <a:pPr marL="0" marR="0" lvl="0" indent="0" algn="l" rtl="0">
                        <a:spcBef>
                          <a:spcPts val="0"/>
                        </a:spcBef>
                        <a:spcAft>
                          <a:spcPts val="0"/>
                        </a:spcAft>
                        <a:buNone/>
                      </a:pPr>
                      <a:r>
                        <a:rPr lang="en-US" sz="1300"/>
                        <a:t>Date Addition</a:t>
                      </a:r>
                      <a:endParaRPr sz="1300" b="1">
                        <a:solidFill>
                          <a:schemeClr val="dk1"/>
                        </a:solidFill>
                        <a:latin typeface="Calibri"/>
                        <a:ea typeface="Calibri"/>
                        <a:cs typeface="Calibri"/>
                        <a:sym typeface="Calibri"/>
                      </a:endParaRPr>
                    </a:p>
                  </a:txBody>
                  <a:tcPr marL="0" marR="0" marT="0" marB="0" anchor="ctr"/>
                </a:tc>
                <a:tc>
                  <a:txBody>
                    <a:bodyPr/>
                    <a:lstStyle/>
                    <a:p>
                      <a:pPr marL="0" marR="0" lvl="0" indent="0" algn="l" rtl="0">
                        <a:spcBef>
                          <a:spcPts val="0"/>
                        </a:spcBef>
                        <a:spcAft>
                          <a:spcPts val="0"/>
                        </a:spcAft>
                        <a:buNone/>
                      </a:pPr>
                      <a:r>
                        <a:rPr lang="en-US" sz="1300"/>
                        <a:t>Adding days to a date</a:t>
                      </a:r>
                      <a:endParaRPr sz="1300">
                        <a:solidFill>
                          <a:schemeClr val="dk1"/>
                        </a:solidFill>
                        <a:latin typeface="Calibri"/>
                        <a:ea typeface="Calibri"/>
                        <a:cs typeface="Calibri"/>
                        <a:sym typeface="Calibri"/>
                      </a:endParaRPr>
                    </a:p>
                  </a:txBody>
                  <a:tcPr marL="0" marR="0" marT="0" marB="0" anchor="ctr"/>
                </a:tc>
                <a:tc>
                  <a:txBody>
                    <a:bodyPr/>
                    <a:lstStyle/>
                    <a:p>
                      <a:pPr marL="0" marR="0" lvl="0" indent="0" algn="l" rtl="0">
                        <a:lnSpc>
                          <a:spcPct val="100000"/>
                        </a:lnSpc>
                        <a:spcBef>
                          <a:spcPts val="0"/>
                        </a:spcBef>
                        <a:spcAft>
                          <a:spcPts val="0"/>
                        </a:spcAft>
                        <a:buClr>
                          <a:srgbClr val="538CD5"/>
                        </a:buClr>
                        <a:buSzPts val="1300"/>
                        <a:buFont typeface="Calibri"/>
                        <a:buNone/>
                      </a:pPr>
                      <a:r>
                        <a:rPr lang="en-US" sz="1300" b="1">
                          <a:solidFill>
                            <a:srgbClr val="538CD5"/>
                          </a:solidFill>
                          <a:latin typeface="Calibri"/>
                          <a:ea typeface="Calibri"/>
                          <a:cs typeface="Calibri"/>
                          <a:sym typeface="Calibri"/>
                        </a:rPr>
                        <a:t>SELECT CURRENT_DATE+10;</a:t>
                      </a:r>
                      <a:endParaRPr/>
                    </a:p>
                  </a:txBody>
                  <a:tcPr marL="0" marR="0" marT="0" marB="0" anchor="ctr"/>
                </a:tc>
                <a:tc>
                  <a:txBody>
                    <a:bodyPr/>
                    <a:lstStyle/>
                    <a:p>
                      <a:pPr marL="0" marR="0" lvl="0" indent="0" algn="l" rtl="0">
                        <a:spcBef>
                          <a:spcPts val="0"/>
                        </a:spcBef>
                        <a:spcAft>
                          <a:spcPts val="0"/>
                        </a:spcAft>
                        <a:buNone/>
                      </a:pPr>
                      <a:r>
                        <a:rPr lang="en-US" sz="1300"/>
                        <a:t>20130225</a:t>
                      </a:r>
                      <a:endParaRPr sz="1300">
                        <a:solidFill>
                          <a:schemeClr val="dk1"/>
                        </a:solidFill>
                        <a:latin typeface="Calibri"/>
                        <a:ea typeface="Calibri"/>
                        <a:cs typeface="Calibri"/>
                        <a:sym typeface="Calibri"/>
                      </a:endParaRPr>
                    </a:p>
                  </a:txBody>
                  <a:tcPr marL="0" marR="0" marT="0" marB="0" anchor="ctr"/>
                </a:tc>
              </a:tr>
              <a:tr h="585775">
                <a:tc>
                  <a:txBody>
                    <a:bodyPr/>
                    <a:lstStyle/>
                    <a:p>
                      <a:pPr marL="0" marR="0" lvl="0" indent="0" algn="l" rtl="0">
                        <a:spcBef>
                          <a:spcPts val="0"/>
                        </a:spcBef>
                        <a:spcAft>
                          <a:spcPts val="0"/>
                        </a:spcAft>
                        <a:buNone/>
                      </a:pPr>
                      <a:r>
                        <a:rPr lang="en-US" sz="1300"/>
                        <a:t>Date Subtraction</a:t>
                      </a:r>
                      <a:endParaRPr sz="1300" b="1">
                        <a:solidFill>
                          <a:schemeClr val="dk1"/>
                        </a:solidFill>
                        <a:latin typeface="Calibri"/>
                        <a:ea typeface="Calibri"/>
                        <a:cs typeface="Calibri"/>
                        <a:sym typeface="Calibri"/>
                      </a:endParaRPr>
                    </a:p>
                  </a:txBody>
                  <a:tcPr marL="0" marR="0" marT="0" marB="0" anchor="ctr"/>
                </a:tc>
                <a:tc>
                  <a:txBody>
                    <a:bodyPr/>
                    <a:lstStyle/>
                    <a:p>
                      <a:pPr marL="0" marR="0" lvl="0" indent="0" algn="l" rtl="0">
                        <a:spcBef>
                          <a:spcPts val="0"/>
                        </a:spcBef>
                        <a:spcAft>
                          <a:spcPts val="0"/>
                        </a:spcAft>
                        <a:buNone/>
                      </a:pPr>
                      <a:r>
                        <a:rPr lang="en-US" sz="1300"/>
                        <a:t>Subtracting days from a date</a:t>
                      </a:r>
                      <a:endParaRPr sz="1300">
                        <a:solidFill>
                          <a:schemeClr val="dk1"/>
                        </a:solidFill>
                        <a:latin typeface="Calibri"/>
                        <a:ea typeface="Calibri"/>
                        <a:cs typeface="Calibri"/>
                        <a:sym typeface="Calibri"/>
                      </a:endParaRPr>
                    </a:p>
                  </a:txBody>
                  <a:tcPr marL="0" marR="0" marT="0" marB="0" anchor="ctr"/>
                </a:tc>
                <a:tc>
                  <a:txBody>
                    <a:bodyPr/>
                    <a:lstStyle/>
                    <a:p>
                      <a:pPr marL="0" marR="0" lvl="0" indent="0" algn="l" rtl="0">
                        <a:lnSpc>
                          <a:spcPct val="100000"/>
                        </a:lnSpc>
                        <a:spcBef>
                          <a:spcPts val="0"/>
                        </a:spcBef>
                        <a:spcAft>
                          <a:spcPts val="0"/>
                        </a:spcAft>
                        <a:buClr>
                          <a:srgbClr val="538CD5"/>
                        </a:buClr>
                        <a:buSzPts val="1300"/>
                        <a:buFont typeface="Calibri"/>
                        <a:buNone/>
                      </a:pPr>
                      <a:r>
                        <a:rPr lang="en-US" sz="1300" b="1">
                          <a:solidFill>
                            <a:srgbClr val="538CD5"/>
                          </a:solidFill>
                          <a:latin typeface="Calibri"/>
                          <a:ea typeface="Calibri"/>
                          <a:cs typeface="Calibri"/>
                          <a:sym typeface="Calibri"/>
                        </a:rPr>
                        <a:t>SELECT CURRENT_DATE-10;</a:t>
                      </a:r>
                      <a:endParaRPr/>
                    </a:p>
                  </a:txBody>
                  <a:tcPr marL="0" marR="0" marT="0" marB="0" anchor="ctr"/>
                </a:tc>
                <a:tc>
                  <a:txBody>
                    <a:bodyPr/>
                    <a:lstStyle/>
                    <a:p>
                      <a:pPr marL="0" marR="0" lvl="0" indent="0" algn="l" rtl="0">
                        <a:spcBef>
                          <a:spcPts val="0"/>
                        </a:spcBef>
                        <a:spcAft>
                          <a:spcPts val="0"/>
                        </a:spcAft>
                        <a:buNone/>
                      </a:pPr>
                      <a:r>
                        <a:rPr lang="en-US" sz="1300"/>
                        <a:t>20130205</a:t>
                      </a:r>
                      <a:endParaRPr sz="1300">
                        <a:solidFill>
                          <a:schemeClr val="dk1"/>
                        </a:solidFill>
                        <a:latin typeface="Calibri"/>
                        <a:ea typeface="Calibri"/>
                        <a:cs typeface="Calibri"/>
                        <a:sym typeface="Calibri"/>
                      </a:endParaRPr>
                    </a:p>
                  </a:txBody>
                  <a:tcPr marL="0" marR="0" marT="0" marB="0" anchor="ctr"/>
                </a:tc>
              </a:tr>
              <a:tr h="534075">
                <a:tc>
                  <a:txBody>
                    <a:bodyPr/>
                    <a:lstStyle/>
                    <a:p>
                      <a:pPr marL="0" marR="0" lvl="0" indent="0" algn="l" rtl="0">
                        <a:spcBef>
                          <a:spcPts val="0"/>
                        </a:spcBef>
                        <a:spcAft>
                          <a:spcPts val="0"/>
                        </a:spcAft>
                        <a:buNone/>
                      </a:pPr>
                      <a:r>
                        <a:rPr lang="en-US" sz="1300"/>
                        <a:t>Date Difference</a:t>
                      </a:r>
                      <a:endParaRPr sz="1300" b="1">
                        <a:solidFill>
                          <a:schemeClr val="dk1"/>
                        </a:solidFill>
                        <a:latin typeface="Calibri"/>
                        <a:ea typeface="Calibri"/>
                        <a:cs typeface="Calibri"/>
                        <a:sym typeface="Calibri"/>
                      </a:endParaRPr>
                    </a:p>
                  </a:txBody>
                  <a:tcPr marL="0" marR="0" marT="0" marB="0" anchor="ctr"/>
                </a:tc>
                <a:tc>
                  <a:txBody>
                    <a:bodyPr/>
                    <a:lstStyle/>
                    <a:p>
                      <a:pPr marL="0" marR="0" lvl="0" indent="0" algn="l" rtl="0">
                        <a:spcBef>
                          <a:spcPts val="0"/>
                        </a:spcBef>
                        <a:spcAft>
                          <a:spcPts val="0"/>
                        </a:spcAft>
                        <a:buNone/>
                      </a:pPr>
                      <a:r>
                        <a:rPr lang="en-US" sz="1300"/>
                        <a:t>Provides no of days between two dates</a:t>
                      </a:r>
                      <a:endParaRPr sz="1300">
                        <a:solidFill>
                          <a:schemeClr val="dk1"/>
                        </a:solidFill>
                        <a:latin typeface="Calibri"/>
                        <a:ea typeface="Calibri"/>
                        <a:cs typeface="Calibri"/>
                        <a:sym typeface="Calibri"/>
                      </a:endParaRPr>
                    </a:p>
                  </a:txBody>
                  <a:tcPr marL="0" marR="0" marT="0" marB="0" anchor="ctr"/>
                </a:tc>
                <a:tc>
                  <a:txBody>
                    <a:bodyPr/>
                    <a:lstStyle/>
                    <a:p>
                      <a:pPr marL="0" marR="0" lvl="0" indent="0" algn="l" rtl="0">
                        <a:lnSpc>
                          <a:spcPct val="100000"/>
                        </a:lnSpc>
                        <a:spcBef>
                          <a:spcPts val="0"/>
                        </a:spcBef>
                        <a:spcAft>
                          <a:spcPts val="0"/>
                        </a:spcAft>
                        <a:buClr>
                          <a:srgbClr val="538CD5"/>
                        </a:buClr>
                        <a:buSzPts val="1300"/>
                        <a:buFont typeface="Calibri"/>
                        <a:buNone/>
                      </a:pPr>
                      <a:r>
                        <a:rPr lang="en-US" sz="1300" b="1">
                          <a:solidFill>
                            <a:srgbClr val="538CD5"/>
                          </a:solidFill>
                          <a:latin typeface="Calibri"/>
                          <a:ea typeface="Calibri"/>
                          <a:cs typeface="Calibri"/>
                          <a:sym typeface="Calibri"/>
                        </a:rPr>
                        <a:t>SELECT CURRENT_DATE- </a:t>
                      </a:r>
                      <a:r>
                        <a:rPr lang="en-US" sz="1300" b="1">
                          <a:solidFill>
                            <a:srgbClr val="BC8F00"/>
                          </a:solidFill>
                          <a:latin typeface="Calibri"/>
                          <a:ea typeface="Calibri"/>
                          <a:cs typeface="Calibri"/>
                          <a:sym typeface="Calibri"/>
                        </a:rPr>
                        <a:t>orderdate</a:t>
                      </a:r>
                      <a:r>
                        <a:rPr lang="en-US" sz="1300" b="1">
                          <a:solidFill>
                            <a:srgbClr val="538CD5"/>
                          </a:solidFill>
                          <a:latin typeface="Calibri"/>
                          <a:ea typeface="Calibri"/>
                          <a:cs typeface="Calibri"/>
                          <a:sym typeface="Calibri"/>
                        </a:rPr>
                        <a:t> FROM </a:t>
                      </a:r>
                      <a:r>
                        <a:rPr lang="en-US" sz="1300" b="1">
                          <a:solidFill>
                            <a:srgbClr val="BC8F00"/>
                          </a:solidFill>
                          <a:latin typeface="Calibri"/>
                          <a:ea typeface="Calibri"/>
                          <a:cs typeface="Calibri"/>
                          <a:sym typeface="Calibri"/>
                        </a:rPr>
                        <a:t>orders</a:t>
                      </a:r>
                      <a:r>
                        <a:rPr lang="en-US" sz="1300" b="1">
                          <a:solidFill>
                            <a:srgbClr val="538CD5"/>
                          </a:solidFill>
                          <a:latin typeface="Calibri"/>
                          <a:ea typeface="Calibri"/>
                          <a:cs typeface="Calibri"/>
                          <a:sym typeface="Calibri"/>
                        </a:rPr>
                        <a:t>; (Current date is </a:t>
                      </a:r>
                      <a:r>
                        <a:rPr lang="en-US" sz="1300" b="1">
                          <a:solidFill>
                            <a:srgbClr val="BC8F00"/>
                          </a:solidFill>
                          <a:latin typeface="Calibri"/>
                          <a:ea typeface="Calibri"/>
                          <a:cs typeface="Calibri"/>
                          <a:sym typeface="Calibri"/>
                        </a:rPr>
                        <a:t>2013-02-15</a:t>
                      </a:r>
                      <a:r>
                        <a:rPr lang="en-US" sz="1300" b="1">
                          <a:solidFill>
                            <a:srgbClr val="538CD5"/>
                          </a:solidFill>
                          <a:latin typeface="Calibri"/>
                          <a:ea typeface="Calibri"/>
                          <a:cs typeface="Calibri"/>
                          <a:sym typeface="Calibri"/>
                        </a:rPr>
                        <a:t> and orderdate is </a:t>
                      </a:r>
                      <a:r>
                        <a:rPr lang="en-US" sz="1300" b="1">
                          <a:solidFill>
                            <a:srgbClr val="BC8F00"/>
                          </a:solidFill>
                          <a:latin typeface="Calibri"/>
                          <a:ea typeface="Calibri"/>
                          <a:cs typeface="Calibri"/>
                          <a:sym typeface="Calibri"/>
                        </a:rPr>
                        <a:t>2013-02-05</a:t>
                      </a:r>
                      <a:r>
                        <a:rPr lang="en-US" sz="1300" b="1">
                          <a:solidFill>
                            <a:srgbClr val="538CD5"/>
                          </a:solidFill>
                          <a:latin typeface="Calibri"/>
                          <a:ea typeface="Calibri"/>
                          <a:cs typeface="Calibri"/>
                          <a:sym typeface="Calibri"/>
                        </a:rPr>
                        <a:t>);</a:t>
                      </a:r>
                      <a:endParaRPr sz="1300" b="1">
                        <a:solidFill>
                          <a:srgbClr val="538CD5"/>
                        </a:solidFill>
                        <a:latin typeface="Calibri"/>
                        <a:ea typeface="Calibri"/>
                        <a:cs typeface="Calibri"/>
                        <a:sym typeface="Calibri"/>
                      </a:endParaRPr>
                    </a:p>
                  </a:txBody>
                  <a:tcPr marL="0" marR="0" marT="0" marB="0" anchor="ctr"/>
                </a:tc>
                <a:tc>
                  <a:txBody>
                    <a:bodyPr/>
                    <a:lstStyle/>
                    <a:p>
                      <a:pPr marL="0" marR="0" lvl="0" indent="0" algn="l" rtl="0">
                        <a:spcBef>
                          <a:spcPts val="0"/>
                        </a:spcBef>
                        <a:spcAft>
                          <a:spcPts val="0"/>
                        </a:spcAft>
                        <a:buNone/>
                      </a:pPr>
                      <a:r>
                        <a:rPr lang="en-US" sz="1300"/>
                        <a:t>10</a:t>
                      </a:r>
                      <a:endParaRPr sz="1300">
                        <a:solidFill>
                          <a:schemeClr val="dk1"/>
                        </a:solidFill>
                        <a:latin typeface="Calibri"/>
                        <a:ea typeface="Calibri"/>
                        <a:cs typeface="Calibri"/>
                        <a:sym typeface="Calibri"/>
                      </a:endParaRPr>
                    </a:p>
                  </a:txBody>
                  <a:tcPr marL="0" marR="0" marT="0" marB="0" anchor="ctr"/>
                </a:tc>
              </a:tr>
            </a:tbl>
          </a:graphicData>
        </a:graphic>
      </p:graphicFrame>
      <p:sp>
        <p:nvSpPr>
          <p:cNvPr id="291" name="Google Shape;291;p25"/>
          <p:cNvSpPr txBox="1"/>
          <p:nvPr/>
        </p:nvSpPr>
        <p:spPr>
          <a:xfrm>
            <a:off x="381000" y="1214735"/>
            <a:ext cx="8305800"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chemeClr val="dk1"/>
                </a:solidFill>
                <a:latin typeface="Calibri"/>
                <a:ea typeface="Calibri"/>
                <a:cs typeface="Calibri"/>
                <a:sym typeface="Calibri"/>
              </a:rPr>
              <a:t>Few more examples</a:t>
            </a:r>
            <a:endParaRPr sz="2400">
              <a:solidFill>
                <a:schemeClr val="dk1"/>
              </a:solidFill>
              <a:latin typeface="Calibri"/>
              <a:ea typeface="Calibri"/>
              <a:cs typeface="Calibri"/>
              <a:sym typeface="Calibri"/>
            </a:endParaRPr>
          </a:p>
        </p:txBody>
      </p:sp>
      <p:sp>
        <p:nvSpPr>
          <p:cNvPr id="292" name="Google Shape;292;p25"/>
          <p:cNvSpPr txBox="1">
            <a:spLocks noGrp="1"/>
          </p:cNvSpPr>
          <p:nvPr>
            <p:ph type="sldNum" idx="12"/>
          </p:nvPr>
        </p:nvSpPr>
        <p:spPr>
          <a:xfrm>
            <a:off x="138752" y="6414139"/>
            <a:ext cx="457200" cy="277813"/>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fld id="{00000000-1234-1234-1234-123412341234}" type="slidenum">
              <a:rPr lang="en-US"/>
              <a:t>25</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90"/>
                                        </p:tgtEl>
                                        <p:attrNameLst>
                                          <p:attrName>style.visibility</p:attrName>
                                        </p:attrNameLst>
                                      </p:cBhvr>
                                      <p:to>
                                        <p:strVal val="visible"/>
                                      </p:to>
                                    </p:set>
                                    <p:animEffect transition="in" filter="fade">
                                      <p:cBhvr>
                                        <p:cTn id="7" dur="500"/>
                                        <p:tgtEl>
                                          <p:spTgt spid="2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97"/>
        <p:cNvGrpSpPr/>
        <p:nvPr/>
      </p:nvGrpSpPr>
      <p:grpSpPr>
        <a:xfrm>
          <a:off x="0" y="0"/>
          <a:ext cx="0" cy="0"/>
          <a:chOff x="0" y="0"/>
          <a:chExt cx="0" cy="0"/>
        </a:xfrm>
      </p:grpSpPr>
      <p:sp>
        <p:nvSpPr>
          <p:cNvPr id="298" name="Google Shape;298;p26"/>
          <p:cNvSpPr txBox="1">
            <a:spLocks noGrp="1"/>
          </p:cNvSpPr>
          <p:nvPr>
            <p:ph type="title"/>
          </p:nvPr>
        </p:nvSpPr>
        <p:spPr>
          <a:xfrm>
            <a:off x="1303020" y="-152400"/>
            <a:ext cx="829818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Miscellaneous Functions</a:t>
            </a:r>
            <a:endParaRPr/>
          </a:p>
        </p:txBody>
      </p:sp>
      <p:sp>
        <p:nvSpPr>
          <p:cNvPr id="299" name="Google Shape;299;p26"/>
          <p:cNvSpPr txBox="1"/>
          <p:nvPr/>
        </p:nvSpPr>
        <p:spPr>
          <a:xfrm>
            <a:off x="394648" y="1179826"/>
            <a:ext cx="8749352" cy="6149376"/>
          </a:xfrm>
          <a:prstGeom prst="rect">
            <a:avLst/>
          </a:prstGeom>
          <a:noFill/>
          <a:ln>
            <a:noFill/>
          </a:ln>
        </p:spPr>
        <p:txBody>
          <a:bodyPr spcFirstLastPara="1" wrap="square" lIns="91425" tIns="45700" rIns="91425" bIns="45700" anchor="t" anchorCtr="0">
            <a:spAutoFit/>
          </a:bodyPr>
          <a:lstStyle/>
          <a:p>
            <a:pPr marL="0" marR="0" lvl="0" indent="0" algn="l" rtl="0">
              <a:lnSpc>
                <a:spcPct val="120000"/>
              </a:lnSpc>
              <a:spcBef>
                <a:spcPts val="0"/>
              </a:spcBef>
              <a:spcAft>
                <a:spcPts val="0"/>
              </a:spcAft>
              <a:buNone/>
            </a:pPr>
            <a:r>
              <a:rPr lang="en-US" sz="2400" b="1">
                <a:solidFill>
                  <a:schemeClr val="dk1"/>
                </a:solidFill>
                <a:latin typeface="Calibri"/>
                <a:ea typeface="Calibri"/>
                <a:cs typeface="Calibri"/>
                <a:sym typeface="Calibri"/>
              </a:rPr>
              <a:t>Miscellaneous Functions</a:t>
            </a:r>
            <a:endParaRPr/>
          </a:p>
          <a:p>
            <a:pPr marL="0" marR="0" lvl="0" indent="0" algn="l" rtl="0">
              <a:lnSpc>
                <a:spcPct val="120000"/>
              </a:lnSpc>
              <a:spcBef>
                <a:spcPts val="0"/>
              </a:spcBef>
              <a:spcAft>
                <a:spcPts val="0"/>
              </a:spcAft>
              <a:buNone/>
            </a:pPr>
            <a:endParaRPr sz="2800" b="1">
              <a:solidFill>
                <a:schemeClr val="dk1"/>
              </a:solidFill>
              <a:latin typeface="Calibri"/>
              <a:ea typeface="Calibri"/>
              <a:cs typeface="Calibri"/>
              <a:sym typeface="Calibri"/>
            </a:endParaRPr>
          </a:p>
          <a:p>
            <a:pPr marL="0" marR="0" lvl="0" indent="0" algn="l" rtl="0">
              <a:lnSpc>
                <a:spcPct val="120000"/>
              </a:lnSpc>
              <a:spcBef>
                <a:spcPts val="0"/>
              </a:spcBef>
              <a:spcAft>
                <a:spcPts val="0"/>
              </a:spcAft>
              <a:buNone/>
            </a:pPr>
            <a:endParaRPr sz="2800" b="1">
              <a:solidFill>
                <a:schemeClr val="dk1"/>
              </a:solidFill>
              <a:latin typeface="Calibri"/>
              <a:ea typeface="Calibri"/>
              <a:cs typeface="Calibri"/>
              <a:sym typeface="Calibri"/>
            </a:endParaRPr>
          </a:p>
          <a:p>
            <a:pPr marL="0" marR="0" lvl="0" indent="0" algn="l" rtl="0">
              <a:lnSpc>
                <a:spcPct val="120000"/>
              </a:lnSpc>
              <a:spcBef>
                <a:spcPts val="0"/>
              </a:spcBef>
              <a:spcAft>
                <a:spcPts val="0"/>
              </a:spcAft>
              <a:buNone/>
            </a:pPr>
            <a:r>
              <a:rPr lang="en-US" sz="2400">
                <a:solidFill>
                  <a:schemeClr val="dk1"/>
                </a:solidFill>
                <a:latin typeface="Calibri"/>
                <a:ea typeface="Calibri"/>
                <a:cs typeface="Calibri"/>
                <a:sym typeface="Calibri"/>
              </a:rPr>
              <a:t>COALESCE():</a:t>
            </a:r>
            <a:endParaRPr/>
          </a:p>
          <a:p>
            <a:pPr marL="0" marR="0" lvl="0" indent="0" algn="l" rtl="0">
              <a:lnSpc>
                <a:spcPct val="120000"/>
              </a:lnSpc>
              <a:spcBef>
                <a:spcPts val="0"/>
              </a:spcBef>
              <a:spcAft>
                <a:spcPts val="0"/>
              </a:spcAft>
              <a:buNone/>
            </a:pPr>
            <a:r>
              <a:rPr lang="en-US" sz="2400" b="1">
                <a:solidFill>
                  <a:schemeClr val="dk1"/>
                </a:solidFill>
                <a:latin typeface="Calibri"/>
                <a:ea typeface="Calibri"/>
                <a:cs typeface="Calibri"/>
                <a:sym typeface="Calibri"/>
              </a:rPr>
              <a:t>Syntax</a:t>
            </a:r>
            <a:r>
              <a:rPr lang="en-US" sz="2400">
                <a:solidFill>
                  <a:schemeClr val="dk1"/>
                </a:solidFill>
                <a:latin typeface="Calibri"/>
                <a:ea typeface="Calibri"/>
                <a:cs typeface="Calibri"/>
                <a:sym typeface="Calibri"/>
              </a:rPr>
              <a:t> :</a:t>
            </a:r>
            <a:endParaRPr/>
          </a:p>
          <a:p>
            <a:pPr marL="0" marR="0" lvl="0" indent="0" algn="l" rtl="0">
              <a:lnSpc>
                <a:spcPct val="120000"/>
              </a:lnSpc>
              <a:spcBef>
                <a:spcPts val="0"/>
              </a:spcBef>
              <a:spcAft>
                <a:spcPts val="0"/>
              </a:spcAft>
              <a:buNone/>
            </a:pPr>
            <a:endParaRPr sz="2200">
              <a:solidFill>
                <a:schemeClr val="dk1"/>
              </a:solidFill>
              <a:latin typeface="Calibri"/>
              <a:ea typeface="Calibri"/>
              <a:cs typeface="Calibri"/>
              <a:sym typeface="Calibri"/>
            </a:endParaRPr>
          </a:p>
          <a:p>
            <a:pPr marL="731520" marR="0" lvl="0" indent="-365760" algn="l" rtl="0">
              <a:lnSpc>
                <a:spcPct val="120000"/>
              </a:lnSpc>
              <a:spcBef>
                <a:spcPts val="0"/>
              </a:spcBef>
              <a:spcAft>
                <a:spcPts val="0"/>
              </a:spcAft>
              <a:buClr>
                <a:schemeClr val="dk1"/>
              </a:buClr>
              <a:buSzPts val="2200"/>
              <a:buFont typeface="Arial"/>
              <a:buChar char="•"/>
            </a:pPr>
            <a:r>
              <a:rPr lang="en-US" sz="2200">
                <a:solidFill>
                  <a:schemeClr val="dk1"/>
                </a:solidFill>
                <a:latin typeface="Calibri"/>
                <a:ea typeface="Calibri"/>
                <a:cs typeface="Calibri"/>
                <a:sym typeface="Calibri"/>
              </a:rPr>
              <a:t>The COALESCE() function returns the first non-null expression in the expression list. At least one expression must not be the literal NULL. If all expressions evaluate to NULL, then the function returns NULL.</a:t>
            </a:r>
            <a:endParaRPr/>
          </a:p>
          <a:p>
            <a:pPr marL="731520" marR="0" lvl="0" indent="-365760" algn="l" rtl="0">
              <a:lnSpc>
                <a:spcPct val="120000"/>
              </a:lnSpc>
              <a:spcBef>
                <a:spcPts val="0"/>
              </a:spcBef>
              <a:spcAft>
                <a:spcPts val="0"/>
              </a:spcAft>
              <a:buClr>
                <a:schemeClr val="dk1"/>
              </a:buClr>
              <a:buSzPts val="2200"/>
              <a:buFont typeface="Arial"/>
              <a:buChar char="•"/>
            </a:pPr>
            <a:r>
              <a:rPr lang="en-US" sz="2200">
                <a:solidFill>
                  <a:schemeClr val="dk1"/>
                </a:solidFill>
                <a:latin typeface="Calibri"/>
                <a:ea typeface="Calibri"/>
                <a:cs typeface="Calibri"/>
                <a:sym typeface="Calibri"/>
              </a:rPr>
              <a:t>Consider the following example:</a:t>
            </a:r>
            <a:endParaRPr/>
          </a:p>
          <a:p>
            <a:pPr marL="731520" marR="0" lvl="0" indent="-365760" algn="l" rtl="0">
              <a:lnSpc>
                <a:spcPct val="120000"/>
              </a:lnSpc>
              <a:spcBef>
                <a:spcPts val="0"/>
              </a:spcBef>
              <a:spcAft>
                <a:spcPts val="0"/>
              </a:spcAft>
              <a:buNone/>
            </a:pPr>
            <a:r>
              <a:rPr lang="en-US" sz="2200" b="1">
                <a:solidFill>
                  <a:schemeClr val="dk1"/>
                </a:solidFill>
                <a:latin typeface="Calibri"/>
                <a:ea typeface="Calibri"/>
                <a:cs typeface="Calibri"/>
                <a:sym typeface="Calibri"/>
              </a:rPr>
              <a:t>	</a:t>
            </a:r>
            <a:r>
              <a:rPr lang="en-US" sz="2000" b="1">
                <a:solidFill>
                  <a:srgbClr val="0070C0"/>
                </a:solidFill>
                <a:latin typeface="Calibri"/>
                <a:ea typeface="Calibri"/>
                <a:cs typeface="Calibri"/>
                <a:sym typeface="Calibri"/>
              </a:rPr>
              <a:t>SELECT </a:t>
            </a:r>
            <a:r>
              <a:rPr lang="en-US" sz="2000" b="1">
                <a:solidFill>
                  <a:srgbClr val="BC8F00"/>
                </a:solidFill>
                <a:latin typeface="Calibri"/>
                <a:ea typeface="Calibri"/>
                <a:cs typeface="Calibri"/>
                <a:sym typeface="Calibri"/>
              </a:rPr>
              <a:t>coalesce(State</a:t>
            </a:r>
            <a:r>
              <a:rPr lang="en-US" sz="2000" b="1">
                <a:solidFill>
                  <a:srgbClr val="00B050"/>
                </a:solidFill>
                <a:latin typeface="Calibri"/>
                <a:ea typeface="Calibri"/>
                <a:cs typeface="Calibri"/>
                <a:sym typeface="Calibri"/>
              </a:rPr>
              <a:t>, </a:t>
            </a:r>
            <a:r>
              <a:rPr lang="en-US" sz="2000" b="1">
                <a:solidFill>
                  <a:srgbClr val="BC8F00"/>
                </a:solidFill>
                <a:latin typeface="Calibri"/>
                <a:ea typeface="Calibri"/>
                <a:cs typeface="Calibri"/>
                <a:sym typeface="Calibri"/>
              </a:rPr>
              <a:t>'Not assigned</a:t>
            </a:r>
            <a:r>
              <a:rPr lang="en-US" sz="2000" b="1">
                <a:solidFill>
                  <a:srgbClr val="00B050"/>
                </a:solidFill>
                <a:latin typeface="Calibri"/>
                <a:ea typeface="Calibri"/>
                <a:cs typeface="Calibri"/>
                <a:sym typeface="Calibri"/>
              </a:rPr>
              <a:t>'</a:t>
            </a:r>
            <a:r>
              <a:rPr lang="en-US" sz="2000" b="1">
                <a:solidFill>
                  <a:srgbClr val="0070C0"/>
                </a:solidFill>
                <a:latin typeface="Calibri"/>
                <a:ea typeface="Calibri"/>
                <a:cs typeface="Calibri"/>
                <a:sym typeface="Calibri"/>
              </a:rPr>
              <a:t>) </a:t>
            </a:r>
            <a:endParaRPr sz="2000" b="1">
              <a:solidFill>
                <a:srgbClr val="0070C0"/>
              </a:solidFill>
              <a:latin typeface="Calibri"/>
              <a:ea typeface="Calibri"/>
              <a:cs typeface="Calibri"/>
              <a:sym typeface="Calibri"/>
            </a:endParaRPr>
          </a:p>
          <a:p>
            <a:pPr marL="731520" marR="0" lvl="0" indent="-365760" algn="l" rtl="0">
              <a:lnSpc>
                <a:spcPct val="120000"/>
              </a:lnSpc>
              <a:spcBef>
                <a:spcPts val="0"/>
              </a:spcBef>
              <a:spcAft>
                <a:spcPts val="0"/>
              </a:spcAft>
              <a:buNone/>
            </a:pPr>
            <a:r>
              <a:rPr lang="en-US" sz="2000" b="1">
                <a:solidFill>
                  <a:srgbClr val="0070C0"/>
                </a:solidFill>
                <a:latin typeface="Calibri"/>
                <a:ea typeface="Calibri"/>
                <a:cs typeface="Calibri"/>
                <a:sym typeface="Calibri"/>
              </a:rPr>
              <a:t>	FROM </a:t>
            </a:r>
            <a:r>
              <a:rPr lang="en-US" sz="2000" b="1">
                <a:solidFill>
                  <a:srgbClr val="BC8F00"/>
                </a:solidFill>
                <a:latin typeface="Calibri"/>
                <a:ea typeface="Calibri"/>
                <a:cs typeface="Calibri"/>
                <a:sym typeface="Calibri"/>
              </a:rPr>
              <a:t>Customers</a:t>
            </a:r>
            <a:r>
              <a:rPr lang="en-US" sz="2000" b="1">
                <a:solidFill>
                  <a:srgbClr val="00B050"/>
                </a:solidFill>
                <a:latin typeface="Calibri"/>
                <a:ea typeface="Calibri"/>
                <a:cs typeface="Calibri"/>
                <a:sym typeface="Calibri"/>
              </a:rPr>
              <a:t> ;</a:t>
            </a:r>
            <a:endParaRPr sz="2000" b="1">
              <a:solidFill>
                <a:srgbClr val="00B050"/>
              </a:solidFill>
              <a:latin typeface="Calibri"/>
              <a:ea typeface="Calibri"/>
              <a:cs typeface="Calibri"/>
              <a:sym typeface="Calibri"/>
            </a:endParaRPr>
          </a:p>
          <a:p>
            <a:pPr marL="0" marR="0" lvl="0" indent="0" algn="l" rtl="0">
              <a:lnSpc>
                <a:spcPct val="120000"/>
              </a:lnSpc>
              <a:spcBef>
                <a:spcPts val="0"/>
              </a:spcBef>
              <a:spcAft>
                <a:spcPts val="0"/>
              </a:spcAft>
              <a:buNone/>
            </a:pPr>
            <a:endParaRPr sz="2400" b="1">
              <a:solidFill>
                <a:schemeClr val="dk1"/>
              </a:solidFill>
              <a:latin typeface="Calibri"/>
              <a:ea typeface="Calibri"/>
              <a:cs typeface="Calibri"/>
              <a:sym typeface="Calibri"/>
            </a:endParaRPr>
          </a:p>
          <a:p>
            <a:pPr marL="0" marR="0" lvl="0" indent="0" algn="l" rtl="0">
              <a:lnSpc>
                <a:spcPct val="120000"/>
              </a:lnSpc>
              <a:spcBef>
                <a:spcPts val="0"/>
              </a:spcBef>
              <a:spcAft>
                <a:spcPts val="0"/>
              </a:spcAft>
              <a:buNone/>
            </a:pPr>
            <a:endParaRPr sz="2400" b="1">
              <a:solidFill>
                <a:schemeClr val="dk1"/>
              </a:solidFill>
              <a:latin typeface="Calibri"/>
              <a:ea typeface="Calibri"/>
              <a:cs typeface="Calibri"/>
              <a:sym typeface="Calibri"/>
            </a:endParaRPr>
          </a:p>
        </p:txBody>
      </p:sp>
      <p:sp>
        <p:nvSpPr>
          <p:cNvPr id="300" name="Google Shape;300;p26"/>
          <p:cNvSpPr/>
          <p:nvPr/>
        </p:nvSpPr>
        <p:spPr>
          <a:xfrm>
            <a:off x="1676400" y="3200400"/>
            <a:ext cx="3886200" cy="7620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1800">
                <a:solidFill>
                  <a:srgbClr val="0070C0"/>
                </a:solidFill>
                <a:latin typeface="Calibri"/>
                <a:ea typeface="Calibri"/>
                <a:cs typeface="Calibri"/>
                <a:sym typeface="Calibri"/>
              </a:rPr>
              <a:t>SELECT COALESCE( </a:t>
            </a:r>
            <a:r>
              <a:rPr lang="en-US" sz="1600" b="1">
                <a:solidFill>
                  <a:srgbClr val="BC8F00"/>
                </a:solidFill>
                <a:latin typeface="Calibri"/>
                <a:ea typeface="Calibri"/>
                <a:cs typeface="Calibri"/>
                <a:sym typeface="Calibri"/>
              </a:rPr>
              <a:t>column1,column2</a:t>
            </a:r>
            <a:r>
              <a:rPr lang="en-US" sz="1800">
                <a:solidFill>
                  <a:srgbClr val="0070C0"/>
                </a:solidFill>
                <a:latin typeface="Calibri"/>
                <a:ea typeface="Calibri"/>
                <a:cs typeface="Calibri"/>
                <a:sym typeface="Calibri"/>
              </a:rPr>
              <a:t>) </a:t>
            </a:r>
            <a:endParaRPr sz="1800">
              <a:solidFill>
                <a:srgbClr val="0070C0"/>
              </a:solidFill>
              <a:latin typeface="Calibri"/>
              <a:ea typeface="Calibri"/>
              <a:cs typeface="Calibri"/>
              <a:sym typeface="Calibri"/>
            </a:endParaRPr>
          </a:p>
          <a:p>
            <a:pPr marL="0" marR="0" lvl="0" indent="0" algn="l" rtl="0">
              <a:spcBef>
                <a:spcPts val="1200"/>
              </a:spcBef>
              <a:spcAft>
                <a:spcPts val="0"/>
              </a:spcAft>
              <a:buNone/>
            </a:pPr>
            <a:r>
              <a:rPr lang="en-US" sz="1800">
                <a:solidFill>
                  <a:srgbClr val="0070C0"/>
                </a:solidFill>
                <a:latin typeface="Calibri"/>
                <a:ea typeface="Calibri"/>
                <a:cs typeface="Calibri"/>
                <a:sym typeface="Calibri"/>
              </a:rPr>
              <a:t>FROM &lt;TABLE-NAME&gt;;</a:t>
            </a:r>
            <a:endParaRPr sz="1800">
              <a:solidFill>
                <a:srgbClr val="0070C0"/>
              </a:solidFill>
              <a:latin typeface="Calibri"/>
              <a:ea typeface="Calibri"/>
              <a:cs typeface="Calibri"/>
              <a:sym typeface="Calibri"/>
            </a:endParaRPr>
          </a:p>
        </p:txBody>
      </p:sp>
      <p:graphicFrame>
        <p:nvGraphicFramePr>
          <p:cNvPr id="301" name="Google Shape;301;p26"/>
          <p:cNvGraphicFramePr/>
          <p:nvPr/>
        </p:nvGraphicFramePr>
        <p:xfrm>
          <a:off x="1613848" y="1577448"/>
          <a:ext cx="6096000" cy="1177945"/>
        </p:xfrm>
        <a:graphic>
          <a:graphicData uri="http://schemas.openxmlformats.org/drawingml/2006/table">
            <a:tbl>
              <a:tblPr firstRow="1" bandRow="1">
                <a:noFill/>
                <a:tableStyleId>{7FFFBDA3-1227-47A5-887F-83766C0D3143}</a:tableStyleId>
              </a:tblPr>
              <a:tblGrid>
                <a:gridCol w="1371600"/>
                <a:gridCol w="4724400"/>
              </a:tblGrid>
              <a:tr h="370850">
                <a:tc>
                  <a:txBody>
                    <a:bodyPr/>
                    <a:lstStyle/>
                    <a:p>
                      <a:pPr marL="0" marR="0" lvl="0" indent="0" algn="ctr" rtl="0">
                        <a:spcBef>
                          <a:spcPts val="0"/>
                        </a:spcBef>
                        <a:spcAft>
                          <a:spcPts val="0"/>
                        </a:spcAft>
                        <a:buNone/>
                      </a:pPr>
                      <a:r>
                        <a:rPr lang="en-US" sz="1400" u="none" strike="noStrike"/>
                        <a:t>Function </a:t>
                      </a:r>
                      <a:endParaRPr sz="1400" b="1" i="0" u="none" strike="noStrike">
                        <a:solidFill>
                          <a:srgbClr val="FFFFFF"/>
                        </a:solidFill>
                        <a:latin typeface="Calibri"/>
                        <a:ea typeface="Calibri"/>
                        <a:cs typeface="Calibri"/>
                        <a:sym typeface="Calibri"/>
                      </a:endParaRPr>
                    </a:p>
                  </a:txBody>
                  <a:tcPr marL="9525" marR="9525" marT="9525" marB="0" anchor="ctr"/>
                </a:tc>
                <a:tc>
                  <a:txBody>
                    <a:bodyPr/>
                    <a:lstStyle/>
                    <a:p>
                      <a:pPr marL="0" marR="0" lvl="0" indent="0" algn="ctr" rtl="0">
                        <a:spcBef>
                          <a:spcPts val="0"/>
                        </a:spcBef>
                        <a:spcAft>
                          <a:spcPts val="0"/>
                        </a:spcAft>
                        <a:buNone/>
                      </a:pPr>
                      <a:r>
                        <a:rPr lang="en-US" sz="1400" u="none" strike="noStrike"/>
                        <a:t>Usage</a:t>
                      </a:r>
                      <a:endParaRPr sz="1400" b="1" i="0" u="none" strike="noStrike">
                        <a:solidFill>
                          <a:srgbClr val="FFFFFF"/>
                        </a:solidFill>
                        <a:latin typeface="Calibri"/>
                        <a:ea typeface="Calibri"/>
                        <a:cs typeface="Calibri"/>
                        <a:sym typeface="Calibri"/>
                      </a:endParaRPr>
                    </a:p>
                  </a:txBody>
                  <a:tcPr marL="9525" marR="9525" marT="9525" marB="0" anchor="ctr"/>
                </a:tc>
              </a:tr>
              <a:tr h="370850">
                <a:tc>
                  <a:txBody>
                    <a:bodyPr/>
                    <a:lstStyle/>
                    <a:p>
                      <a:pPr marL="0" marR="0" lvl="0" indent="0" algn="ctr" rtl="0">
                        <a:spcBef>
                          <a:spcPts val="0"/>
                        </a:spcBef>
                        <a:spcAft>
                          <a:spcPts val="0"/>
                        </a:spcAft>
                        <a:buNone/>
                      </a:pPr>
                      <a:r>
                        <a:rPr lang="en-US" sz="1400" u="none" strike="noStrike"/>
                        <a:t>COALESCE</a:t>
                      </a:r>
                      <a:endParaRPr sz="1400" b="1" i="0" u="none" strike="noStrike">
                        <a:solidFill>
                          <a:srgbClr val="000000"/>
                        </a:solidFill>
                        <a:latin typeface="Calibri"/>
                        <a:ea typeface="Calibri"/>
                        <a:cs typeface="Calibri"/>
                        <a:sym typeface="Calibri"/>
                      </a:endParaRPr>
                    </a:p>
                  </a:txBody>
                  <a:tcPr marL="9525" marR="9525" marT="9525" marB="0" anchor="ctr"/>
                </a:tc>
                <a:tc>
                  <a:txBody>
                    <a:bodyPr/>
                    <a:lstStyle/>
                    <a:p>
                      <a:pPr marL="0" marR="0" lvl="0" indent="0" algn="l" rtl="0">
                        <a:spcBef>
                          <a:spcPts val="0"/>
                        </a:spcBef>
                        <a:spcAft>
                          <a:spcPts val="0"/>
                        </a:spcAft>
                        <a:buNone/>
                      </a:pPr>
                      <a:r>
                        <a:rPr lang="en-US" sz="1400" u="none" strike="noStrike"/>
                        <a:t>Returns first non- NULL expression in the list.</a:t>
                      </a:r>
                      <a:endParaRPr sz="1400" b="0" i="0" u="none" strike="noStrike">
                        <a:solidFill>
                          <a:srgbClr val="000000"/>
                        </a:solidFill>
                        <a:latin typeface="Calibri"/>
                        <a:ea typeface="Calibri"/>
                        <a:cs typeface="Calibri"/>
                        <a:sym typeface="Calibri"/>
                      </a:endParaRPr>
                    </a:p>
                  </a:txBody>
                  <a:tcPr marL="9525" marR="9525" marT="9525" marB="0" anchor="ctr"/>
                </a:tc>
              </a:tr>
              <a:tr h="370850">
                <a:tc>
                  <a:txBody>
                    <a:bodyPr/>
                    <a:lstStyle/>
                    <a:p>
                      <a:pPr marL="0" marR="0" lvl="0" indent="0" algn="ctr" rtl="0">
                        <a:spcBef>
                          <a:spcPts val="0"/>
                        </a:spcBef>
                        <a:spcAft>
                          <a:spcPts val="0"/>
                        </a:spcAft>
                        <a:buNone/>
                      </a:pPr>
                      <a:r>
                        <a:rPr lang="en-US" sz="1400" u="none" strike="noStrike"/>
                        <a:t>NULLIF</a:t>
                      </a:r>
                      <a:endParaRPr sz="1400" b="1" i="0" u="none" strike="noStrike">
                        <a:solidFill>
                          <a:srgbClr val="000000"/>
                        </a:solidFill>
                        <a:latin typeface="Calibri"/>
                        <a:ea typeface="Calibri"/>
                        <a:cs typeface="Calibri"/>
                        <a:sym typeface="Calibri"/>
                      </a:endParaRPr>
                    </a:p>
                  </a:txBody>
                  <a:tcPr marL="9525" marR="9525" marT="9525" marB="0" anchor="ctr"/>
                </a:tc>
                <a:tc>
                  <a:txBody>
                    <a:bodyPr/>
                    <a:lstStyle/>
                    <a:p>
                      <a:pPr marL="0" marR="0" lvl="0" indent="0" algn="l" rtl="0">
                        <a:spcBef>
                          <a:spcPts val="0"/>
                        </a:spcBef>
                        <a:spcAft>
                          <a:spcPts val="0"/>
                        </a:spcAft>
                        <a:buNone/>
                      </a:pPr>
                      <a:r>
                        <a:rPr lang="en-US" sz="1400" u="none" strike="noStrike"/>
                        <a:t>Compares two expressions; if they are equal, returns NULL; otherwise returns the first expression.</a:t>
                      </a:r>
                      <a:endParaRPr sz="1400" b="0" i="0" u="none" strike="noStrike">
                        <a:solidFill>
                          <a:srgbClr val="000000"/>
                        </a:solidFill>
                        <a:latin typeface="Calibri"/>
                        <a:ea typeface="Calibri"/>
                        <a:cs typeface="Calibri"/>
                        <a:sym typeface="Calibri"/>
                      </a:endParaRPr>
                    </a:p>
                  </a:txBody>
                  <a:tcPr marL="9525" marR="9525" marT="9525" marB="0" anchor="ctr"/>
                </a:tc>
              </a:tr>
            </a:tbl>
          </a:graphicData>
        </a:graphic>
      </p:graphicFrame>
      <p:sp>
        <p:nvSpPr>
          <p:cNvPr id="302" name="Google Shape;302;p26"/>
          <p:cNvSpPr txBox="1">
            <a:spLocks noGrp="1"/>
          </p:cNvSpPr>
          <p:nvPr>
            <p:ph type="sldNum" idx="12"/>
          </p:nvPr>
        </p:nvSpPr>
        <p:spPr>
          <a:xfrm>
            <a:off x="138752" y="6414139"/>
            <a:ext cx="457200" cy="277813"/>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fld id="{00000000-1234-1234-1234-123412341234}" type="slidenum">
              <a:rPr lang="en-US"/>
              <a:t>26</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07"/>
        <p:cNvGrpSpPr/>
        <p:nvPr/>
      </p:nvGrpSpPr>
      <p:grpSpPr>
        <a:xfrm>
          <a:off x="0" y="0"/>
          <a:ext cx="0" cy="0"/>
          <a:chOff x="0" y="0"/>
          <a:chExt cx="0" cy="0"/>
        </a:xfrm>
      </p:grpSpPr>
      <p:sp>
        <p:nvSpPr>
          <p:cNvPr id="308" name="Google Shape;308;p27"/>
          <p:cNvSpPr txBox="1">
            <a:spLocks noGrp="1"/>
          </p:cNvSpPr>
          <p:nvPr>
            <p:ph type="title"/>
          </p:nvPr>
        </p:nvSpPr>
        <p:spPr>
          <a:xfrm>
            <a:off x="1303020" y="-152400"/>
            <a:ext cx="8298180" cy="1143000"/>
          </a:xfrm>
          <a:prstGeom prst="rect">
            <a:avLst/>
          </a:prstGeom>
          <a:noFill/>
          <a:ln>
            <a:noFill/>
          </a:ln>
        </p:spPr>
        <p:txBody>
          <a:bodyPr spcFirstLastPara="1" wrap="square" lIns="91425" tIns="45700" rIns="91425" bIns="45700" anchor="ctr" anchorCtr="0">
            <a:noAutofit/>
          </a:bodyPr>
          <a:lstStyle/>
          <a:p>
            <a:pPr marL="0" lvl="1" indent="0" algn="l" rtl="0">
              <a:spcBef>
                <a:spcPts val="0"/>
              </a:spcBef>
              <a:spcAft>
                <a:spcPts val="0"/>
              </a:spcAft>
              <a:buNone/>
            </a:pPr>
            <a:r>
              <a:rPr lang="en-US" sz="3200">
                <a:latin typeface="Verdana"/>
                <a:ea typeface="Verdana"/>
                <a:cs typeface="Verdana"/>
                <a:sym typeface="Verdana"/>
              </a:rPr>
              <a:t>NULLIF Function</a:t>
            </a:r>
            <a:endParaRPr/>
          </a:p>
        </p:txBody>
      </p:sp>
      <p:sp>
        <p:nvSpPr>
          <p:cNvPr id="309" name="Google Shape;309;p27"/>
          <p:cNvSpPr txBox="1"/>
          <p:nvPr/>
        </p:nvSpPr>
        <p:spPr>
          <a:xfrm>
            <a:off x="381000" y="1190923"/>
            <a:ext cx="8305800" cy="2721964"/>
          </a:xfrm>
          <a:prstGeom prst="rect">
            <a:avLst/>
          </a:prstGeom>
          <a:noFill/>
          <a:ln>
            <a:noFill/>
          </a:ln>
        </p:spPr>
        <p:txBody>
          <a:bodyPr spcFirstLastPara="1" wrap="square" lIns="91425" tIns="45700" rIns="91425" bIns="45700" anchor="t" anchorCtr="0">
            <a:spAutoFit/>
          </a:bodyPr>
          <a:lstStyle/>
          <a:p>
            <a:pPr marL="0" marR="0" lvl="0" indent="0" algn="l" rtl="0">
              <a:lnSpc>
                <a:spcPct val="120000"/>
              </a:lnSpc>
              <a:spcBef>
                <a:spcPts val="0"/>
              </a:spcBef>
              <a:spcAft>
                <a:spcPts val="0"/>
              </a:spcAft>
              <a:buNone/>
            </a:pPr>
            <a:r>
              <a:rPr lang="en-US" sz="2400" b="0">
                <a:solidFill>
                  <a:schemeClr val="dk1"/>
                </a:solidFill>
                <a:latin typeface="Calibri"/>
                <a:ea typeface="Calibri"/>
                <a:cs typeface="Calibri"/>
                <a:sym typeface="Calibri"/>
              </a:rPr>
              <a:t>The NULLIF function </a:t>
            </a:r>
            <a:r>
              <a:rPr lang="en-US" sz="2400">
                <a:solidFill>
                  <a:schemeClr val="dk1"/>
                </a:solidFill>
                <a:latin typeface="Calibri"/>
                <a:ea typeface="Calibri"/>
                <a:cs typeface="Calibri"/>
                <a:sym typeface="Calibri"/>
              </a:rPr>
              <a:t>compares</a:t>
            </a:r>
            <a:r>
              <a:rPr lang="en-US" sz="2400" b="0">
                <a:solidFill>
                  <a:schemeClr val="dk1"/>
                </a:solidFill>
                <a:latin typeface="Calibri"/>
                <a:ea typeface="Calibri"/>
                <a:cs typeface="Calibri"/>
                <a:sym typeface="Calibri"/>
              </a:rPr>
              <a:t>  </a:t>
            </a:r>
            <a:r>
              <a:rPr lang="en-US" sz="2400">
                <a:solidFill>
                  <a:schemeClr val="dk1"/>
                </a:solidFill>
                <a:latin typeface="Calibri"/>
                <a:ea typeface="Calibri"/>
                <a:cs typeface="Calibri"/>
                <a:sym typeface="Calibri"/>
              </a:rPr>
              <a:t>two</a:t>
            </a:r>
            <a:r>
              <a:rPr lang="en-US" sz="2400" b="0">
                <a:solidFill>
                  <a:schemeClr val="dk1"/>
                </a:solidFill>
                <a:latin typeface="Calibri"/>
                <a:ea typeface="Calibri"/>
                <a:cs typeface="Calibri"/>
                <a:sym typeface="Calibri"/>
              </a:rPr>
              <a:t> columns.</a:t>
            </a:r>
            <a:endParaRPr/>
          </a:p>
          <a:p>
            <a:pPr marL="0" marR="0" lvl="0" indent="0" algn="l" rtl="0">
              <a:lnSpc>
                <a:spcPct val="120000"/>
              </a:lnSpc>
              <a:spcBef>
                <a:spcPts val="0"/>
              </a:spcBef>
              <a:spcAft>
                <a:spcPts val="0"/>
              </a:spcAft>
              <a:buNone/>
            </a:pPr>
            <a:r>
              <a:rPr lang="en-US" sz="2400" b="0">
                <a:solidFill>
                  <a:schemeClr val="dk1"/>
                </a:solidFill>
                <a:latin typeface="Calibri"/>
                <a:ea typeface="Calibri"/>
                <a:cs typeface="Calibri"/>
                <a:sym typeface="Calibri"/>
              </a:rPr>
              <a:t> If both the columns are equal, the NULLIF function returns NULL. Otherwise, it returns the value of the first column.</a:t>
            </a:r>
            <a:endParaRPr/>
          </a:p>
          <a:p>
            <a:pPr marL="0" marR="0" lvl="0" indent="0" algn="l" rtl="0">
              <a:lnSpc>
                <a:spcPct val="120000"/>
              </a:lnSpc>
              <a:spcBef>
                <a:spcPts val="0"/>
              </a:spcBef>
              <a:spcAft>
                <a:spcPts val="0"/>
              </a:spcAft>
              <a:buNone/>
            </a:pPr>
            <a:r>
              <a:rPr lang="en-US" sz="2400">
                <a:solidFill>
                  <a:schemeClr val="dk1"/>
                </a:solidFill>
                <a:latin typeface="Calibri"/>
                <a:ea typeface="Calibri"/>
                <a:cs typeface="Calibri"/>
                <a:sym typeface="Calibri"/>
              </a:rPr>
              <a:t>Syntax:</a:t>
            </a:r>
            <a:r>
              <a:rPr lang="en-US" sz="2400">
                <a:solidFill>
                  <a:srgbClr val="0070C0"/>
                </a:solidFill>
                <a:latin typeface="Calibri"/>
                <a:ea typeface="Calibri"/>
                <a:cs typeface="Calibri"/>
                <a:sym typeface="Calibri"/>
              </a:rPr>
              <a:t>	</a:t>
            </a:r>
            <a:endParaRPr/>
          </a:p>
          <a:p>
            <a:pPr marL="0" marR="0" lvl="0" indent="0" algn="l" rtl="0">
              <a:lnSpc>
                <a:spcPct val="120000"/>
              </a:lnSpc>
              <a:spcBef>
                <a:spcPts val="0"/>
              </a:spcBef>
              <a:spcAft>
                <a:spcPts val="0"/>
              </a:spcAft>
              <a:buNone/>
            </a:pPr>
            <a:endParaRPr sz="2400" b="0">
              <a:solidFill>
                <a:srgbClr val="0070C0"/>
              </a:solidFill>
              <a:latin typeface="Calibri"/>
              <a:ea typeface="Calibri"/>
              <a:cs typeface="Calibri"/>
              <a:sym typeface="Calibri"/>
            </a:endParaRPr>
          </a:p>
          <a:p>
            <a:pPr marL="0" marR="0" lvl="0" indent="0" algn="l" rtl="0">
              <a:lnSpc>
                <a:spcPct val="120000"/>
              </a:lnSpc>
              <a:spcBef>
                <a:spcPts val="0"/>
              </a:spcBef>
              <a:spcAft>
                <a:spcPts val="0"/>
              </a:spcAft>
              <a:buNone/>
            </a:pPr>
            <a:r>
              <a:rPr lang="en-US" sz="2400" b="0">
                <a:solidFill>
                  <a:schemeClr val="dk1"/>
                </a:solidFill>
                <a:latin typeface="Calibri"/>
                <a:ea typeface="Calibri"/>
                <a:cs typeface="Calibri"/>
                <a:sym typeface="Calibri"/>
              </a:rPr>
              <a:t>Column1 and Column 2 must be of the same data type.</a:t>
            </a:r>
            <a:endParaRPr/>
          </a:p>
        </p:txBody>
      </p:sp>
      <p:sp>
        <p:nvSpPr>
          <p:cNvPr id="310" name="Google Shape;310;p27"/>
          <p:cNvSpPr txBox="1"/>
          <p:nvPr/>
        </p:nvSpPr>
        <p:spPr>
          <a:xfrm>
            <a:off x="2057400" y="3962400"/>
            <a:ext cx="4267200" cy="2646878"/>
          </a:xfrm>
          <a:prstGeom prst="rect">
            <a:avLst/>
          </a:prstGeom>
          <a:gradFill>
            <a:gsLst>
              <a:gs pos="0">
                <a:srgbClr val="9FC3FF"/>
              </a:gs>
              <a:gs pos="35000">
                <a:srgbClr val="BDD5FF"/>
              </a:gs>
              <a:gs pos="100000">
                <a:srgbClr val="E4EEFF"/>
              </a:gs>
            </a:gsLst>
            <a:lin ang="16200000" scaled="0"/>
          </a:gradFill>
          <a:ln w="9525" cap="flat" cmpd="sng">
            <a:solidFill>
              <a:srgbClr val="4A7DBA"/>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a:solidFill>
                  <a:schemeClr val="dk1"/>
                </a:solidFill>
                <a:latin typeface="Calibri"/>
                <a:ea typeface="Calibri"/>
                <a:cs typeface="Calibri"/>
                <a:sym typeface="Calibri"/>
              </a:rPr>
              <a:t>Examples:</a:t>
            </a:r>
            <a:endParaRPr/>
          </a:p>
          <a:p>
            <a:pPr marL="457200" marR="0" lvl="1" indent="0" algn="l" rtl="0">
              <a:spcBef>
                <a:spcPts val="600"/>
              </a:spcBef>
              <a:spcAft>
                <a:spcPts val="0"/>
              </a:spcAft>
              <a:buNone/>
            </a:pPr>
            <a:r>
              <a:rPr lang="en-US" sz="1400" b="1" i="0" u="none" strike="noStrike" cap="none">
                <a:solidFill>
                  <a:srgbClr val="0070C0"/>
                </a:solidFill>
                <a:latin typeface="Calibri"/>
                <a:ea typeface="Calibri"/>
                <a:cs typeface="Calibri"/>
                <a:sym typeface="Calibri"/>
              </a:rPr>
              <a:t>SELECT</a:t>
            </a:r>
            <a:r>
              <a:rPr lang="en-US" sz="1400" b="1" i="0" u="none" strike="noStrike" cap="none">
                <a:solidFill>
                  <a:schemeClr val="dk1"/>
                </a:solidFill>
                <a:latin typeface="Calibri"/>
                <a:ea typeface="Calibri"/>
                <a:cs typeface="Calibri"/>
                <a:sym typeface="Calibri"/>
              </a:rPr>
              <a:t>  </a:t>
            </a:r>
            <a:r>
              <a:rPr lang="en-US" sz="1400" b="1" i="0" u="none" strike="noStrike" cap="none">
                <a:solidFill>
                  <a:srgbClr val="0070C0"/>
                </a:solidFill>
                <a:latin typeface="Calibri"/>
                <a:ea typeface="Calibri"/>
                <a:cs typeface="Calibri"/>
                <a:sym typeface="Calibri"/>
              </a:rPr>
              <a:t>NULLIF(</a:t>
            </a:r>
            <a:r>
              <a:rPr lang="en-US" sz="1400" b="1" i="0" u="none" strike="noStrike" cap="none">
                <a:solidFill>
                  <a:srgbClr val="BC8F00"/>
                </a:solidFill>
                <a:latin typeface="Calibri"/>
                <a:ea typeface="Calibri"/>
                <a:cs typeface="Calibri"/>
                <a:sym typeface="Calibri"/>
              </a:rPr>
              <a:t>12, 12</a:t>
            </a:r>
            <a:r>
              <a:rPr lang="en-US" sz="1400" b="1" i="0" u="none" strike="noStrike" cap="none">
                <a:solidFill>
                  <a:schemeClr val="dk1"/>
                </a:solidFill>
                <a:latin typeface="Calibri"/>
                <a:ea typeface="Calibri"/>
                <a:cs typeface="Calibri"/>
                <a:sym typeface="Calibri"/>
              </a:rPr>
              <a:t>) </a:t>
            </a:r>
            <a:endParaRPr/>
          </a:p>
          <a:p>
            <a:pPr marL="457200" marR="0" lvl="1" indent="0" algn="l" rtl="0">
              <a:spcBef>
                <a:spcPts val="600"/>
              </a:spcBef>
              <a:spcAft>
                <a:spcPts val="0"/>
              </a:spcAft>
              <a:buNone/>
            </a:pPr>
            <a:r>
              <a:rPr lang="en-US" sz="1400" b="1" i="0" u="none" strike="noStrike" cap="none">
                <a:solidFill>
                  <a:srgbClr val="0070C0"/>
                </a:solidFill>
                <a:latin typeface="Calibri"/>
                <a:ea typeface="Calibri"/>
                <a:cs typeface="Calibri"/>
                <a:sym typeface="Calibri"/>
              </a:rPr>
              <a:t>FROM</a:t>
            </a:r>
            <a:r>
              <a:rPr lang="en-US" sz="1400" b="1" i="0" u="none" strike="noStrike" cap="none">
                <a:solidFill>
                  <a:schemeClr val="dk1"/>
                </a:solidFill>
                <a:latin typeface="Calibri"/>
                <a:ea typeface="Calibri"/>
                <a:cs typeface="Calibri"/>
                <a:sym typeface="Calibri"/>
              </a:rPr>
              <a:t> </a:t>
            </a:r>
            <a:r>
              <a:rPr lang="en-US" sz="1400" b="1" i="0" u="none" strike="noStrike" cap="none">
                <a:solidFill>
                  <a:srgbClr val="BC8F00"/>
                </a:solidFill>
                <a:latin typeface="Calibri"/>
                <a:ea typeface="Calibri"/>
                <a:cs typeface="Calibri"/>
                <a:sym typeface="Calibri"/>
              </a:rPr>
              <a:t>Customers</a:t>
            </a:r>
            <a:r>
              <a:rPr lang="en-US" sz="1400" b="1" i="0" u="none" strike="noStrike" cap="none">
                <a:solidFill>
                  <a:schemeClr val="dk1"/>
                </a:solidFill>
                <a:latin typeface="Calibri"/>
                <a:ea typeface="Calibri"/>
                <a:cs typeface="Calibri"/>
                <a:sym typeface="Calibri"/>
              </a:rPr>
              <a:t>;    would return NULL </a:t>
            </a:r>
            <a:endParaRPr/>
          </a:p>
          <a:p>
            <a:pPr marL="457200" marR="0" lvl="1" indent="0" algn="l" rtl="0">
              <a:spcBef>
                <a:spcPts val="600"/>
              </a:spcBef>
              <a:spcAft>
                <a:spcPts val="0"/>
              </a:spcAft>
              <a:buNone/>
            </a:pPr>
            <a:r>
              <a:rPr lang="en-US" sz="1400" b="1" i="0" u="none" strike="noStrike" cap="none">
                <a:solidFill>
                  <a:srgbClr val="0070C0"/>
                </a:solidFill>
                <a:latin typeface="Calibri"/>
                <a:ea typeface="Calibri"/>
                <a:cs typeface="Calibri"/>
                <a:sym typeface="Calibri"/>
              </a:rPr>
              <a:t>SELECT</a:t>
            </a:r>
            <a:r>
              <a:rPr lang="en-US" sz="1400" b="1" i="0" u="none" strike="noStrike" cap="none">
                <a:solidFill>
                  <a:schemeClr val="dk1"/>
                </a:solidFill>
                <a:latin typeface="Calibri"/>
                <a:ea typeface="Calibri"/>
                <a:cs typeface="Calibri"/>
                <a:sym typeface="Calibri"/>
              </a:rPr>
              <a:t> </a:t>
            </a:r>
            <a:r>
              <a:rPr lang="en-US" sz="1400" b="1" i="0" u="none" strike="noStrike" cap="none">
                <a:solidFill>
                  <a:srgbClr val="0070C0"/>
                </a:solidFill>
                <a:latin typeface="Calibri"/>
                <a:ea typeface="Calibri"/>
                <a:cs typeface="Calibri"/>
                <a:sym typeface="Calibri"/>
              </a:rPr>
              <a:t>NULLIF(</a:t>
            </a:r>
            <a:r>
              <a:rPr lang="en-US" sz="1400" b="1" i="0" u="none" strike="noStrike" cap="none">
                <a:solidFill>
                  <a:srgbClr val="BC8F00"/>
                </a:solidFill>
                <a:latin typeface="Calibri"/>
                <a:ea typeface="Calibri"/>
                <a:cs typeface="Calibri"/>
                <a:sym typeface="Calibri"/>
              </a:rPr>
              <a:t>12, 13</a:t>
            </a:r>
            <a:r>
              <a:rPr lang="en-US" sz="1400" b="1" i="0" u="none" strike="noStrike" cap="none">
                <a:solidFill>
                  <a:schemeClr val="dk1"/>
                </a:solidFill>
                <a:latin typeface="Calibri"/>
                <a:ea typeface="Calibri"/>
                <a:cs typeface="Calibri"/>
                <a:sym typeface="Calibri"/>
              </a:rPr>
              <a:t>) </a:t>
            </a:r>
            <a:endParaRPr/>
          </a:p>
          <a:p>
            <a:pPr marL="457200" marR="0" lvl="1" indent="0" algn="l" rtl="0">
              <a:spcBef>
                <a:spcPts val="600"/>
              </a:spcBef>
              <a:spcAft>
                <a:spcPts val="0"/>
              </a:spcAft>
              <a:buNone/>
            </a:pPr>
            <a:r>
              <a:rPr lang="en-US" sz="1400" b="1" i="0" u="none" strike="noStrike" cap="none">
                <a:solidFill>
                  <a:srgbClr val="0070C0"/>
                </a:solidFill>
                <a:latin typeface="Calibri"/>
                <a:ea typeface="Calibri"/>
                <a:cs typeface="Calibri"/>
                <a:sym typeface="Calibri"/>
              </a:rPr>
              <a:t>FROM</a:t>
            </a:r>
            <a:r>
              <a:rPr lang="en-US" sz="1400" b="1" i="0" u="none" strike="noStrike" cap="none">
                <a:solidFill>
                  <a:schemeClr val="dk1"/>
                </a:solidFill>
                <a:latin typeface="Calibri"/>
                <a:ea typeface="Calibri"/>
                <a:cs typeface="Calibri"/>
                <a:sym typeface="Calibri"/>
              </a:rPr>
              <a:t> </a:t>
            </a:r>
            <a:r>
              <a:rPr lang="en-US" sz="1400" b="1" i="0" u="none" strike="noStrike" cap="none">
                <a:solidFill>
                  <a:srgbClr val="BC8F00"/>
                </a:solidFill>
                <a:latin typeface="Calibri"/>
                <a:ea typeface="Calibri"/>
                <a:cs typeface="Calibri"/>
                <a:sym typeface="Calibri"/>
              </a:rPr>
              <a:t>Customers</a:t>
            </a:r>
            <a:r>
              <a:rPr lang="en-US" sz="1400" b="1" i="0" u="none" strike="noStrike" cap="none">
                <a:solidFill>
                  <a:schemeClr val="dk1"/>
                </a:solidFill>
                <a:latin typeface="Calibri"/>
                <a:ea typeface="Calibri"/>
                <a:cs typeface="Calibri"/>
                <a:sym typeface="Calibri"/>
              </a:rPr>
              <a:t>;  would return 12</a:t>
            </a:r>
            <a:endParaRPr/>
          </a:p>
          <a:p>
            <a:pPr marL="457200" marR="0" lvl="1" indent="0" algn="l" rtl="0">
              <a:spcBef>
                <a:spcPts val="600"/>
              </a:spcBef>
              <a:spcAft>
                <a:spcPts val="0"/>
              </a:spcAft>
              <a:buNone/>
            </a:pPr>
            <a:r>
              <a:rPr lang="en-US" sz="1400" b="1" i="0" u="none" strike="noStrike" cap="none">
                <a:solidFill>
                  <a:srgbClr val="0070C0"/>
                </a:solidFill>
                <a:latin typeface="Calibri"/>
                <a:ea typeface="Calibri"/>
                <a:cs typeface="Calibri"/>
                <a:sym typeface="Calibri"/>
              </a:rPr>
              <a:t>SELECT</a:t>
            </a:r>
            <a:r>
              <a:rPr lang="en-US" sz="1400" b="1" i="0" u="none" strike="noStrike" cap="none">
                <a:solidFill>
                  <a:schemeClr val="dk1"/>
                </a:solidFill>
                <a:latin typeface="Calibri"/>
                <a:ea typeface="Calibri"/>
                <a:cs typeface="Calibri"/>
                <a:sym typeface="Calibri"/>
              </a:rPr>
              <a:t> </a:t>
            </a:r>
            <a:r>
              <a:rPr lang="en-US" sz="1400" b="1" i="0" u="none" strike="noStrike" cap="none">
                <a:solidFill>
                  <a:srgbClr val="0070C0"/>
                </a:solidFill>
                <a:latin typeface="Calibri"/>
                <a:ea typeface="Calibri"/>
                <a:cs typeface="Calibri"/>
                <a:sym typeface="Calibri"/>
              </a:rPr>
              <a:t>NULLIF</a:t>
            </a:r>
            <a:r>
              <a:rPr lang="en-US" sz="1400" b="1" i="0" u="none" strike="noStrike" cap="none">
                <a:solidFill>
                  <a:schemeClr val="dk1"/>
                </a:solidFill>
                <a:latin typeface="Calibri"/>
                <a:ea typeface="Calibri"/>
                <a:cs typeface="Calibri"/>
                <a:sym typeface="Calibri"/>
              </a:rPr>
              <a:t>(</a:t>
            </a:r>
            <a:r>
              <a:rPr lang="en-US" sz="1400" b="1" i="0" u="none" strike="noStrike" cap="none">
                <a:solidFill>
                  <a:srgbClr val="BC8F00"/>
                </a:solidFill>
                <a:latin typeface="Calibri"/>
                <a:ea typeface="Calibri"/>
                <a:cs typeface="Calibri"/>
                <a:sym typeface="Calibri"/>
              </a:rPr>
              <a:t>'apples', 'apples') </a:t>
            </a:r>
            <a:endParaRPr sz="1400" b="1" i="0" u="none" strike="noStrike" cap="none">
              <a:solidFill>
                <a:srgbClr val="BC8F00"/>
              </a:solidFill>
              <a:latin typeface="Calibri"/>
              <a:ea typeface="Calibri"/>
              <a:cs typeface="Calibri"/>
              <a:sym typeface="Calibri"/>
            </a:endParaRPr>
          </a:p>
          <a:p>
            <a:pPr marL="457200" marR="0" lvl="1" indent="0" algn="l" rtl="0">
              <a:spcBef>
                <a:spcPts val="600"/>
              </a:spcBef>
              <a:spcAft>
                <a:spcPts val="0"/>
              </a:spcAft>
              <a:buNone/>
            </a:pPr>
            <a:r>
              <a:rPr lang="en-US" sz="1400" b="1" i="0" u="none" strike="noStrike" cap="none">
                <a:solidFill>
                  <a:srgbClr val="0070C0"/>
                </a:solidFill>
                <a:latin typeface="Calibri"/>
                <a:ea typeface="Calibri"/>
                <a:cs typeface="Calibri"/>
                <a:sym typeface="Calibri"/>
              </a:rPr>
              <a:t>FROM</a:t>
            </a:r>
            <a:r>
              <a:rPr lang="en-US" sz="1400" b="1" i="0" u="none" strike="noStrike" cap="none">
                <a:solidFill>
                  <a:schemeClr val="dk1"/>
                </a:solidFill>
                <a:latin typeface="Calibri"/>
                <a:ea typeface="Calibri"/>
                <a:cs typeface="Calibri"/>
                <a:sym typeface="Calibri"/>
              </a:rPr>
              <a:t> </a:t>
            </a:r>
            <a:r>
              <a:rPr lang="en-US" sz="1400" b="1" i="0" u="none" strike="noStrike" cap="none">
                <a:solidFill>
                  <a:srgbClr val="BC8F00"/>
                </a:solidFill>
                <a:latin typeface="Calibri"/>
                <a:ea typeface="Calibri"/>
                <a:cs typeface="Calibri"/>
                <a:sym typeface="Calibri"/>
              </a:rPr>
              <a:t>Customers</a:t>
            </a:r>
            <a:r>
              <a:rPr lang="en-US" sz="1400" b="1" i="0" u="none" strike="noStrike" cap="none">
                <a:solidFill>
                  <a:schemeClr val="dk1"/>
                </a:solidFill>
                <a:latin typeface="Calibri"/>
                <a:ea typeface="Calibri"/>
                <a:cs typeface="Calibri"/>
                <a:sym typeface="Calibri"/>
              </a:rPr>
              <a:t>;    would return NULL </a:t>
            </a:r>
            <a:endParaRPr/>
          </a:p>
          <a:p>
            <a:pPr marL="457200" marR="0" lvl="1" indent="0" algn="l" rtl="0">
              <a:spcBef>
                <a:spcPts val="600"/>
              </a:spcBef>
              <a:spcAft>
                <a:spcPts val="0"/>
              </a:spcAft>
              <a:buNone/>
            </a:pPr>
            <a:r>
              <a:rPr lang="en-US" sz="1400" b="1" i="0" u="none" strike="noStrike" cap="none">
                <a:solidFill>
                  <a:srgbClr val="0070C0"/>
                </a:solidFill>
                <a:latin typeface="Calibri"/>
                <a:ea typeface="Calibri"/>
                <a:cs typeface="Calibri"/>
                <a:sym typeface="Calibri"/>
              </a:rPr>
              <a:t>SELECT</a:t>
            </a:r>
            <a:r>
              <a:rPr lang="en-US" sz="1400" b="1" i="0" u="none" strike="noStrike" cap="none">
                <a:solidFill>
                  <a:schemeClr val="dk1"/>
                </a:solidFill>
                <a:latin typeface="Calibri"/>
                <a:ea typeface="Calibri"/>
                <a:cs typeface="Calibri"/>
                <a:sym typeface="Calibri"/>
              </a:rPr>
              <a:t> </a:t>
            </a:r>
            <a:r>
              <a:rPr lang="en-US" sz="1400" b="1" i="0" u="none" strike="noStrike" cap="none">
                <a:solidFill>
                  <a:srgbClr val="0070C0"/>
                </a:solidFill>
                <a:latin typeface="Calibri"/>
                <a:ea typeface="Calibri"/>
                <a:cs typeface="Calibri"/>
                <a:sym typeface="Calibri"/>
              </a:rPr>
              <a:t>NULLIF</a:t>
            </a:r>
            <a:r>
              <a:rPr lang="en-US" sz="1400" b="1" i="0" u="none" strike="noStrike" cap="none">
                <a:solidFill>
                  <a:schemeClr val="dk1"/>
                </a:solidFill>
                <a:latin typeface="Calibri"/>
                <a:ea typeface="Calibri"/>
                <a:cs typeface="Calibri"/>
                <a:sym typeface="Calibri"/>
              </a:rPr>
              <a:t>(</a:t>
            </a:r>
            <a:r>
              <a:rPr lang="en-US" sz="1400" b="1" i="0" u="none" strike="noStrike" cap="none">
                <a:solidFill>
                  <a:srgbClr val="BC8F00"/>
                </a:solidFill>
                <a:latin typeface="Calibri"/>
                <a:ea typeface="Calibri"/>
                <a:cs typeface="Calibri"/>
                <a:sym typeface="Calibri"/>
              </a:rPr>
              <a:t>'apples', 'oranges') </a:t>
            </a:r>
            <a:endParaRPr sz="1400" b="1" i="0" u="none" strike="noStrike" cap="none">
              <a:solidFill>
                <a:srgbClr val="BC8F00"/>
              </a:solidFill>
              <a:latin typeface="Calibri"/>
              <a:ea typeface="Calibri"/>
              <a:cs typeface="Calibri"/>
              <a:sym typeface="Calibri"/>
            </a:endParaRPr>
          </a:p>
          <a:p>
            <a:pPr marL="457200" marR="0" lvl="1" indent="0" algn="l" rtl="0">
              <a:spcBef>
                <a:spcPts val="600"/>
              </a:spcBef>
              <a:spcAft>
                <a:spcPts val="0"/>
              </a:spcAft>
              <a:buNone/>
            </a:pPr>
            <a:r>
              <a:rPr lang="en-US" sz="1400" b="1" i="0" u="none" strike="noStrike" cap="none">
                <a:solidFill>
                  <a:srgbClr val="0070C0"/>
                </a:solidFill>
                <a:latin typeface="Calibri"/>
                <a:ea typeface="Calibri"/>
                <a:cs typeface="Calibri"/>
                <a:sym typeface="Calibri"/>
              </a:rPr>
              <a:t>FROM</a:t>
            </a:r>
            <a:r>
              <a:rPr lang="en-US" sz="1400" b="1" i="0" u="none" strike="noStrike" cap="none">
                <a:solidFill>
                  <a:schemeClr val="dk1"/>
                </a:solidFill>
                <a:latin typeface="Calibri"/>
                <a:ea typeface="Calibri"/>
                <a:cs typeface="Calibri"/>
                <a:sym typeface="Calibri"/>
              </a:rPr>
              <a:t> </a:t>
            </a:r>
            <a:r>
              <a:rPr lang="en-US" sz="1400" b="1" i="0" u="none" strike="noStrike" cap="none">
                <a:solidFill>
                  <a:srgbClr val="BC8F00"/>
                </a:solidFill>
                <a:latin typeface="Calibri"/>
                <a:ea typeface="Calibri"/>
                <a:cs typeface="Calibri"/>
                <a:sym typeface="Calibri"/>
              </a:rPr>
              <a:t>Customers</a:t>
            </a:r>
            <a:r>
              <a:rPr lang="en-US" sz="1400" b="1" i="0" u="none" strike="noStrike" cap="none">
                <a:solidFill>
                  <a:schemeClr val="dk1"/>
                </a:solidFill>
                <a:latin typeface="Calibri"/>
                <a:ea typeface="Calibri"/>
                <a:cs typeface="Calibri"/>
                <a:sym typeface="Calibri"/>
              </a:rPr>
              <a:t>; would return 'apples‘</a:t>
            </a:r>
            <a:endParaRPr/>
          </a:p>
        </p:txBody>
      </p:sp>
      <p:sp>
        <p:nvSpPr>
          <p:cNvPr id="311" name="Google Shape;311;p27"/>
          <p:cNvSpPr/>
          <p:nvPr/>
        </p:nvSpPr>
        <p:spPr>
          <a:xfrm>
            <a:off x="1524000" y="2628781"/>
            <a:ext cx="4572000" cy="800219"/>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rgbClr val="0070C0"/>
                </a:solidFill>
                <a:latin typeface="Calibri"/>
                <a:ea typeface="Calibri"/>
                <a:cs typeface="Calibri"/>
                <a:sym typeface="Calibri"/>
              </a:rPr>
              <a:t>SELECT NULLIF( </a:t>
            </a:r>
            <a:r>
              <a:rPr lang="en-US" sz="1800">
                <a:solidFill>
                  <a:srgbClr val="BC8F00"/>
                </a:solidFill>
                <a:latin typeface="Calibri"/>
                <a:ea typeface="Calibri"/>
                <a:cs typeface="Calibri"/>
                <a:sym typeface="Calibri"/>
              </a:rPr>
              <a:t>column1,column2) </a:t>
            </a:r>
            <a:endParaRPr/>
          </a:p>
          <a:p>
            <a:pPr marL="0" marR="0" lvl="0" indent="0" algn="l" rtl="0">
              <a:spcBef>
                <a:spcPts val="1200"/>
              </a:spcBef>
              <a:spcAft>
                <a:spcPts val="0"/>
              </a:spcAft>
              <a:buNone/>
            </a:pPr>
            <a:r>
              <a:rPr lang="en-US" sz="1800">
                <a:solidFill>
                  <a:srgbClr val="0070C0"/>
                </a:solidFill>
                <a:latin typeface="Calibri"/>
                <a:ea typeface="Calibri"/>
                <a:cs typeface="Calibri"/>
                <a:sym typeface="Calibri"/>
              </a:rPr>
              <a:t>FROM </a:t>
            </a:r>
            <a:r>
              <a:rPr lang="en-US" sz="1800">
                <a:solidFill>
                  <a:srgbClr val="BC8F00"/>
                </a:solidFill>
                <a:latin typeface="Calibri"/>
                <a:ea typeface="Calibri"/>
                <a:cs typeface="Calibri"/>
                <a:sym typeface="Calibri"/>
              </a:rPr>
              <a:t>&lt;TABLE-NAME&gt;; </a:t>
            </a:r>
            <a:endParaRPr sz="1800">
              <a:solidFill>
                <a:srgbClr val="0070C0"/>
              </a:solidFill>
              <a:latin typeface="Calibri"/>
              <a:ea typeface="Calibri"/>
              <a:cs typeface="Calibri"/>
              <a:sym typeface="Calibri"/>
            </a:endParaRPr>
          </a:p>
        </p:txBody>
      </p:sp>
      <p:sp>
        <p:nvSpPr>
          <p:cNvPr id="312" name="Google Shape;312;p27"/>
          <p:cNvSpPr txBox="1">
            <a:spLocks noGrp="1"/>
          </p:cNvSpPr>
          <p:nvPr>
            <p:ph type="sldNum" idx="12"/>
          </p:nvPr>
        </p:nvSpPr>
        <p:spPr>
          <a:xfrm>
            <a:off x="138752" y="6414139"/>
            <a:ext cx="457200" cy="277813"/>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fld id="{00000000-1234-1234-1234-123412341234}" type="slidenum">
              <a:rPr lang="en-US"/>
              <a:t>27</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17"/>
        <p:cNvGrpSpPr/>
        <p:nvPr/>
      </p:nvGrpSpPr>
      <p:grpSpPr>
        <a:xfrm>
          <a:off x="0" y="0"/>
          <a:ext cx="0" cy="0"/>
          <a:chOff x="0" y="0"/>
          <a:chExt cx="0" cy="0"/>
        </a:xfrm>
      </p:grpSpPr>
      <p:sp>
        <p:nvSpPr>
          <p:cNvPr id="318" name="Google Shape;318;p28"/>
          <p:cNvSpPr txBox="1">
            <a:spLocks noGrp="1"/>
          </p:cNvSpPr>
          <p:nvPr>
            <p:ph type="body" idx="1"/>
          </p:nvPr>
        </p:nvSpPr>
        <p:spPr>
          <a:xfrm>
            <a:off x="381000" y="1225550"/>
            <a:ext cx="8686800" cy="4946650"/>
          </a:xfrm>
          <a:prstGeom prst="rect">
            <a:avLst/>
          </a:prstGeom>
          <a:noFill/>
          <a:ln>
            <a:noFill/>
          </a:ln>
        </p:spPr>
        <p:txBody>
          <a:bodyPr spcFirstLastPara="1" wrap="square" lIns="91425" tIns="45700" rIns="91425" bIns="45700" anchor="t" anchorCtr="0">
            <a:noAutofit/>
          </a:bodyPr>
          <a:lstStyle/>
          <a:p>
            <a:pPr marL="0" lvl="1" indent="0" algn="l" rtl="0">
              <a:lnSpc>
                <a:spcPct val="120000"/>
              </a:lnSpc>
              <a:spcBef>
                <a:spcPts val="0"/>
              </a:spcBef>
              <a:spcAft>
                <a:spcPts val="0"/>
              </a:spcAft>
              <a:buClr>
                <a:schemeClr val="dk1"/>
              </a:buClr>
              <a:buSzPts val="2400"/>
              <a:buNone/>
            </a:pPr>
            <a:r>
              <a:rPr lang="en-US" b="1"/>
              <a:t>Control Flow Functions</a:t>
            </a:r>
            <a:endParaRPr/>
          </a:p>
          <a:p>
            <a:pPr marL="0" lvl="1" indent="0" algn="l" rtl="0">
              <a:lnSpc>
                <a:spcPct val="120000"/>
              </a:lnSpc>
              <a:spcBef>
                <a:spcPts val="480"/>
              </a:spcBef>
              <a:spcAft>
                <a:spcPts val="0"/>
              </a:spcAft>
              <a:buClr>
                <a:schemeClr val="dk1"/>
              </a:buClr>
              <a:buSzPts val="2400"/>
              <a:buNone/>
            </a:pPr>
            <a:r>
              <a:rPr lang="en-US">
                <a:latin typeface="Arial"/>
                <a:ea typeface="Arial"/>
                <a:cs typeface="Arial"/>
                <a:sym typeface="Arial"/>
              </a:rPr>
              <a:t>It is similar to the IF-THEN-ELSE logic where a value is substituted based on the return value of the column</a:t>
            </a:r>
            <a:endParaRPr b="1"/>
          </a:p>
          <a:p>
            <a:pPr marL="0" lvl="0" indent="0" algn="l" rtl="0">
              <a:lnSpc>
                <a:spcPct val="120000"/>
              </a:lnSpc>
              <a:spcBef>
                <a:spcPts val="1200"/>
              </a:spcBef>
              <a:spcAft>
                <a:spcPts val="0"/>
              </a:spcAft>
              <a:buClr>
                <a:schemeClr val="dk1"/>
              </a:buClr>
              <a:buSzPts val="2400"/>
              <a:buNone/>
            </a:pPr>
            <a:r>
              <a:rPr lang="en-US" sz="2400" b="1"/>
              <a:t>Syntax:</a:t>
            </a:r>
            <a:endParaRPr/>
          </a:p>
          <a:p>
            <a:pPr marL="0" lvl="0" indent="0" algn="l" rtl="0">
              <a:lnSpc>
                <a:spcPct val="120000"/>
              </a:lnSpc>
              <a:spcBef>
                <a:spcPts val="1200"/>
              </a:spcBef>
              <a:spcAft>
                <a:spcPts val="0"/>
              </a:spcAft>
              <a:buClr>
                <a:schemeClr val="dk1"/>
              </a:buClr>
              <a:buSzPts val="2600"/>
              <a:buNone/>
            </a:pPr>
            <a:r>
              <a:rPr lang="en-US" b="1"/>
              <a:t>Example:</a:t>
            </a:r>
            <a:endParaRPr/>
          </a:p>
          <a:p>
            <a:pPr marL="857250" lvl="3" indent="-365760" algn="l" rtl="0">
              <a:lnSpc>
                <a:spcPct val="120000"/>
              </a:lnSpc>
              <a:spcBef>
                <a:spcPts val="400"/>
              </a:spcBef>
              <a:spcAft>
                <a:spcPts val="0"/>
              </a:spcAft>
              <a:buClr>
                <a:srgbClr val="0070C0"/>
              </a:buClr>
              <a:buSzPts val="2000"/>
              <a:buNone/>
            </a:pPr>
            <a:r>
              <a:rPr lang="en-US" sz="2000" b="1">
                <a:solidFill>
                  <a:srgbClr val="0070C0"/>
                </a:solidFill>
              </a:rPr>
              <a:t>Select </a:t>
            </a:r>
            <a:r>
              <a:rPr lang="en-US" sz="2000" b="1">
                <a:solidFill>
                  <a:srgbClr val="BC8F00"/>
                </a:solidFill>
              </a:rPr>
              <a:t>CustomerName</a:t>
            </a:r>
            <a:r>
              <a:rPr lang="en-US" sz="2000" b="1">
                <a:solidFill>
                  <a:srgbClr val="0070C0"/>
                </a:solidFill>
              </a:rPr>
              <a:t>, </a:t>
            </a:r>
            <a:r>
              <a:rPr lang="en-US" sz="2000" b="1">
                <a:solidFill>
                  <a:srgbClr val="BC8F00"/>
                </a:solidFill>
              </a:rPr>
              <a:t>Country</a:t>
            </a:r>
            <a:r>
              <a:rPr lang="en-US" sz="2000" b="1">
                <a:solidFill>
                  <a:srgbClr val="0070C0"/>
                </a:solidFill>
              </a:rPr>
              <a:t>, </a:t>
            </a:r>
            <a:endParaRPr/>
          </a:p>
          <a:p>
            <a:pPr marL="857250" lvl="3" indent="-365760" algn="l" rtl="0">
              <a:lnSpc>
                <a:spcPct val="120000"/>
              </a:lnSpc>
              <a:spcBef>
                <a:spcPts val="400"/>
              </a:spcBef>
              <a:spcAft>
                <a:spcPts val="0"/>
              </a:spcAft>
              <a:buClr>
                <a:srgbClr val="0070C0"/>
              </a:buClr>
              <a:buSzPts val="2000"/>
              <a:buNone/>
            </a:pPr>
            <a:r>
              <a:rPr lang="en-US" sz="2000" b="1">
                <a:solidFill>
                  <a:srgbClr val="0070C0"/>
                </a:solidFill>
              </a:rPr>
              <a:t>CASE </a:t>
            </a:r>
            <a:r>
              <a:rPr lang="en-US" sz="2000" b="1">
                <a:solidFill>
                  <a:srgbClr val="BC8F00"/>
                </a:solidFill>
              </a:rPr>
              <a:t>Country</a:t>
            </a:r>
            <a:endParaRPr sz="2000" b="1">
              <a:solidFill>
                <a:srgbClr val="BC8F00"/>
              </a:solidFill>
            </a:endParaRPr>
          </a:p>
          <a:p>
            <a:pPr marL="857250" lvl="3" indent="-365760" algn="l" rtl="0">
              <a:lnSpc>
                <a:spcPct val="120000"/>
              </a:lnSpc>
              <a:spcBef>
                <a:spcPts val="400"/>
              </a:spcBef>
              <a:spcAft>
                <a:spcPts val="0"/>
              </a:spcAft>
              <a:buClr>
                <a:srgbClr val="0070C0"/>
              </a:buClr>
              <a:buSzPts val="2000"/>
              <a:buNone/>
            </a:pPr>
            <a:r>
              <a:rPr lang="en-US" sz="2000" b="1">
                <a:solidFill>
                  <a:srgbClr val="0070C0"/>
                </a:solidFill>
              </a:rPr>
              <a:t>WHEN </a:t>
            </a:r>
            <a:r>
              <a:rPr lang="en-US" sz="2000" b="1">
                <a:solidFill>
                  <a:srgbClr val="BC8F00"/>
                </a:solidFill>
              </a:rPr>
              <a:t>‘USA</a:t>
            </a:r>
            <a:r>
              <a:rPr lang="en-US" sz="2000" b="1">
                <a:solidFill>
                  <a:srgbClr val="0070C0"/>
                </a:solidFill>
              </a:rPr>
              <a:t>' THEN </a:t>
            </a:r>
            <a:r>
              <a:rPr lang="en-US" sz="2000" b="1">
                <a:solidFill>
                  <a:srgbClr val="BC8F00"/>
                </a:solidFill>
              </a:rPr>
              <a:t>‘United State of America’</a:t>
            </a:r>
            <a:endParaRPr sz="2000" b="1">
              <a:solidFill>
                <a:srgbClr val="BC8F00"/>
              </a:solidFill>
            </a:endParaRPr>
          </a:p>
          <a:p>
            <a:pPr marL="857250" lvl="3" indent="-365760" algn="l" rtl="0">
              <a:lnSpc>
                <a:spcPct val="120000"/>
              </a:lnSpc>
              <a:spcBef>
                <a:spcPts val="400"/>
              </a:spcBef>
              <a:spcAft>
                <a:spcPts val="0"/>
              </a:spcAft>
              <a:buClr>
                <a:srgbClr val="0070C0"/>
              </a:buClr>
              <a:buSzPts val="2000"/>
              <a:buNone/>
            </a:pPr>
            <a:r>
              <a:rPr lang="en-US" sz="2000" b="1">
                <a:solidFill>
                  <a:srgbClr val="0070C0"/>
                </a:solidFill>
              </a:rPr>
              <a:t>WHEN </a:t>
            </a:r>
            <a:r>
              <a:rPr lang="en-US" sz="2000" b="1">
                <a:solidFill>
                  <a:srgbClr val="BC8F00"/>
                </a:solidFill>
              </a:rPr>
              <a:t>‘UK</a:t>
            </a:r>
            <a:r>
              <a:rPr lang="en-US" sz="2000" b="1">
                <a:solidFill>
                  <a:srgbClr val="0070C0"/>
                </a:solidFill>
              </a:rPr>
              <a:t>' THEN </a:t>
            </a:r>
            <a:r>
              <a:rPr lang="en-US" sz="2000" b="1">
                <a:solidFill>
                  <a:srgbClr val="BC8F00"/>
                </a:solidFill>
              </a:rPr>
              <a:t>‘United Kingdom’</a:t>
            </a:r>
            <a:endParaRPr sz="2000" b="1">
              <a:solidFill>
                <a:srgbClr val="BC8F00"/>
              </a:solidFill>
            </a:endParaRPr>
          </a:p>
          <a:p>
            <a:pPr marL="857250" lvl="3" indent="-365760" algn="l" rtl="0">
              <a:lnSpc>
                <a:spcPct val="120000"/>
              </a:lnSpc>
              <a:spcBef>
                <a:spcPts val="400"/>
              </a:spcBef>
              <a:spcAft>
                <a:spcPts val="0"/>
              </a:spcAft>
              <a:buClr>
                <a:srgbClr val="0070C0"/>
              </a:buClr>
              <a:buSzPts val="2000"/>
              <a:buNone/>
            </a:pPr>
            <a:r>
              <a:rPr lang="en-US" sz="2000" b="1">
                <a:solidFill>
                  <a:srgbClr val="0070C0"/>
                </a:solidFill>
              </a:rPr>
              <a:t>ELSE </a:t>
            </a:r>
            <a:r>
              <a:rPr lang="en-US" sz="2000" b="1">
                <a:solidFill>
                  <a:srgbClr val="BC8F00"/>
                </a:solidFill>
              </a:rPr>
              <a:t>‘N/A’ </a:t>
            </a:r>
            <a:r>
              <a:rPr lang="en-US" sz="2000" b="1">
                <a:solidFill>
                  <a:srgbClr val="0070C0"/>
                </a:solidFill>
              </a:rPr>
              <a:t>END</a:t>
            </a:r>
            <a:endParaRPr/>
          </a:p>
          <a:p>
            <a:pPr marL="857250" lvl="3" indent="-365760" algn="l" rtl="0">
              <a:lnSpc>
                <a:spcPct val="120000"/>
              </a:lnSpc>
              <a:spcBef>
                <a:spcPts val="400"/>
              </a:spcBef>
              <a:spcAft>
                <a:spcPts val="0"/>
              </a:spcAft>
              <a:buClr>
                <a:srgbClr val="0070C0"/>
              </a:buClr>
              <a:buSzPts val="2000"/>
              <a:buNone/>
            </a:pPr>
            <a:r>
              <a:rPr lang="en-US" sz="2000" b="1">
                <a:solidFill>
                  <a:srgbClr val="0070C0"/>
                </a:solidFill>
              </a:rPr>
              <a:t>FROM </a:t>
            </a:r>
            <a:r>
              <a:rPr lang="en-US" sz="2000" b="1">
                <a:solidFill>
                  <a:srgbClr val="BC8F00"/>
                </a:solidFill>
              </a:rPr>
              <a:t>Customers</a:t>
            </a:r>
            <a:endParaRPr sz="2000" b="1">
              <a:solidFill>
                <a:srgbClr val="BC8F00"/>
              </a:solidFill>
            </a:endParaRPr>
          </a:p>
          <a:p>
            <a:pPr marL="0" lvl="1" indent="0" algn="l" rtl="0">
              <a:lnSpc>
                <a:spcPct val="120000"/>
              </a:lnSpc>
              <a:spcBef>
                <a:spcPts val="480"/>
              </a:spcBef>
              <a:spcAft>
                <a:spcPts val="0"/>
              </a:spcAft>
              <a:buClr>
                <a:schemeClr val="dk1"/>
              </a:buClr>
              <a:buSzPts val="2400"/>
              <a:buNone/>
            </a:pPr>
            <a:endParaRPr b="1"/>
          </a:p>
        </p:txBody>
      </p:sp>
      <p:sp>
        <p:nvSpPr>
          <p:cNvPr id="319" name="Google Shape;319;p28"/>
          <p:cNvSpPr txBox="1">
            <a:spLocks noGrp="1"/>
          </p:cNvSpPr>
          <p:nvPr>
            <p:ph type="title"/>
          </p:nvPr>
        </p:nvSpPr>
        <p:spPr>
          <a:xfrm>
            <a:off x="1303020" y="-152400"/>
            <a:ext cx="829818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Control Flow Functions</a:t>
            </a:r>
            <a:endParaRPr/>
          </a:p>
        </p:txBody>
      </p:sp>
      <p:sp>
        <p:nvSpPr>
          <p:cNvPr id="320" name="Google Shape;320;p28"/>
          <p:cNvSpPr/>
          <p:nvPr/>
        </p:nvSpPr>
        <p:spPr>
          <a:xfrm>
            <a:off x="1600200" y="2743200"/>
            <a:ext cx="7239000" cy="646331"/>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rgbClr val="0070C0"/>
                </a:solidFill>
                <a:latin typeface="Calibri"/>
                <a:ea typeface="Calibri"/>
                <a:cs typeface="Calibri"/>
                <a:sym typeface="Calibri"/>
              </a:rPr>
              <a:t>CASE value WHEN [</a:t>
            </a:r>
            <a:r>
              <a:rPr lang="en-US" sz="1600" b="1">
                <a:solidFill>
                  <a:srgbClr val="BC8F00"/>
                </a:solidFill>
                <a:latin typeface="Calibri"/>
                <a:ea typeface="Calibri"/>
                <a:cs typeface="Calibri"/>
                <a:sym typeface="Calibri"/>
              </a:rPr>
              <a:t>compare_value</a:t>
            </a:r>
            <a:r>
              <a:rPr lang="en-US" sz="1800">
                <a:solidFill>
                  <a:srgbClr val="0070C0"/>
                </a:solidFill>
                <a:latin typeface="Calibri"/>
                <a:ea typeface="Calibri"/>
                <a:cs typeface="Calibri"/>
                <a:sym typeface="Calibri"/>
              </a:rPr>
              <a:t>] THEN result [WHEN [</a:t>
            </a:r>
            <a:r>
              <a:rPr lang="en-US" sz="1600" b="1">
                <a:solidFill>
                  <a:srgbClr val="BC8F00"/>
                </a:solidFill>
                <a:latin typeface="Calibri"/>
                <a:ea typeface="Calibri"/>
                <a:cs typeface="Calibri"/>
                <a:sym typeface="Calibri"/>
              </a:rPr>
              <a:t>compare_value</a:t>
            </a:r>
            <a:r>
              <a:rPr lang="en-US" sz="1800">
                <a:solidFill>
                  <a:srgbClr val="0070C0"/>
                </a:solidFill>
                <a:latin typeface="Calibri"/>
                <a:ea typeface="Calibri"/>
                <a:cs typeface="Calibri"/>
                <a:sym typeface="Calibri"/>
              </a:rPr>
              <a:t>] THEN 	result ...] [ELSE </a:t>
            </a:r>
            <a:r>
              <a:rPr lang="en-US" sz="1600" b="1">
                <a:solidFill>
                  <a:srgbClr val="BC8F00"/>
                </a:solidFill>
                <a:latin typeface="Calibri"/>
                <a:ea typeface="Calibri"/>
                <a:cs typeface="Calibri"/>
                <a:sym typeface="Calibri"/>
              </a:rPr>
              <a:t>result</a:t>
            </a:r>
            <a:r>
              <a:rPr lang="en-US" sz="1800">
                <a:solidFill>
                  <a:srgbClr val="0070C0"/>
                </a:solidFill>
                <a:latin typeface="Calibri"/>
                <a:ea typeface="Calibri"/>
                <a:cs typeface="Calibri"/>
                <a:sym typeface="Calibri"/>
              </a:rPr>
              <a:t>] END </a:t>
            </a:r>
            <a:endParaRPr sz="1800">
              <a:solidFill>
                <a:schemeClr val="dk1"/>
              </a:solidFill>
              <a:latin typeface="Calibri"/>
              <a:ea typeface="Calibri"/>
              <a:cs typeface="Calibri"/>
              <a:sym typeface="Calibri"/>
            </a:endParaRPr>
          </a:p>
        </p:txBody>
      </p:sp>
      <p:sp>
        <p:nvSpPr>
          <p:cNvPr id="321" name="Google Shape;321;p28"/>
          <p:cNvSpPr txBox="1">
            <a:spLocks noGrp="1"/>
          </p:cNvSpPr>
          <p:nvPr>
            <p:ph type="sldNum" idx="12"/>
          </p:nvPr>
        </p:nvSpPr>
        <p:spPr>
          <a:xfrm>
            <a:off x="138752" y="6414139"/>
            <a:ext cx="457200" cy="277813"/>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fld id="{00000000-1234-1234-1234-123412341234}" type="slidenum">
              <a:rPr lang="en-US"/>
              <a:t>28</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26"/>
        <p:cNvGrpSpPr/>
        <p:nvPr/>
      </p:nvGrpSpPr>
      <p:grpSpPr>
        <a:xfrm>
          <a:off x="0" y="0"/>
          <a:ext cx="0" cy="0"/>
          <a:chOff x="0" y="0"/>
          <a:chExt cx="0" cy="0"/>
        </a:xfrm>
      </p:grpSpPr>
      <p:sp>
        <p:nvSpPr>
          <p:cNvPr id="327" name="Google Shape;327;p29"/>
          <p:cNvSpPr txBox="1">
            <a:spLocks noGrp="1"/>
          </p:cNvSpPr>
          <p:nvPr>
            <p:ph type="title"/>
          </p:nvPr>
        </p:nvSpPr>
        <p:spPr>
          <a:xfrm>
            <a:off x="1303020" y="-152400"/>
            <a:ext cx="8298180" cy="1143000"/>
          </a:xfrm>
          <a:prstGeom prst="rect">
            <a:avLst/>
          </a:prstGeom>
          <a:noFill/>
          <a:ln>
            <a:noFill/>
          </a:ln>
        </p:spPr>
        <p:txBody>
          <a:bodyPr spcFirstLastPara="1" wrap="square" lIns="91425" tIns="45700" rIns="91425" bIns="45700" anchor="ctr" anchorCtr="0">
            <a:noAutofit/>
          </a:bodyPr>
          <a:lstStyle/>
          <a:p>
            <a:pPr marL="0" lvl="1" indent="0" algn="l" rtl="0">
              <a:spcBef>
                <a:spcPts val="0"/>
              </a:spcBef>
              <a:spcAft>
                <a:spcPts val="0"/>
              </a:spcAft>
              <a:buNone/>
            </a:pPr>
            <a:r>
              <a:rPr lang="en-US" sz="3200">
                <a:latin typeface="Verdana"/>
                <a:ea typeface="Verdana"/>
                <a:cs typeface="Verdana"/>
                <a:sym typeface="Verdana"/>
              </a:rPr>
              <a:t>CASE Operator examples</a:t>
            </a:r>
            <a:endParaRPr/>
          </a:p>
        </p:txBody>
      </p:sp>
      <p:sp>
        <p:nvSpPr>
          <p:cNvPr id="328" name="Google Shape;328;p29"/>
          <p:cNvSpPr txBox="1"/>
          <p:nvPr/>
        </p:nvSpPr>
        <p:spPr>
          <a:xfrm>
            <a:off x="381000" y="1143000"/>
            <a:ext cx="8305800" cy="5125121"/>
          </a:xfrm>
          <a:prstGeom prst="rect">
            <a:avLst/>
          </a:prstGeom>
          <a:noFill/>
          <a:ln>
            <a:noFill/>
          </a:ln>
        </p:spPr>
        <p:txBody>
          <a:bodyPr spcFirstLastPara="1" wrap="square" lIns="91425" tIns="45700" rIns="91425" bIns="45700" anchor="t" anchorCtr="0">
            <a:spAutoFit/>
          </a:bodyPr>
          <a:lstStyle/>
          <a:p>
            <a:pPr marL="0" marR="0" lvl="0" indent="0" algn="l" rtl="0">
              <a:lnSpc>
                <a:spcPct val="120000"/>
              </a:lnSpc>
              <a:spcBef>
                <a:spcPts val="0"/>
              </a:spcBef>
              <a:spcAft>
                <a:spcPts val="0"/>
              </a:spcAft>
              <a:buNone/>
            </a:pPr>
            <a:r>
              <a:rPr lang="en-US" sz="2400" b="1">
                <a:solidFill>
                  <a:schemeClr val="dk1"/>
                </a:solidFill>
                <a:latin typeface="Calibri"/>
                <a:ea typeface="Calibri"/>
                <a:cs typeface="Calibri"/>
                <a:sym typeface="Calibri"/>
              </a:rPr>
              <a:t>Example 1:</a:t>
            </a:r>
            <a:endParaRPr/>
          </a:p>
          <a:p>
            <a:pPr marL="731520" marR="0" lvl="1" indent="-365760" algn="l" rtl="0">
              <a:lnSpc>
                <a:spcPct val="120000"/>
              </a:lnSpc>
              <a:spcBef>
                <a:spcPts val="0"/>
              </a:spcBef>
              <a:spcAft>
                <a:spcPts val="0"/>
              </a:spcAft>
              <a:buNone/>
            </a:pPr>
            <a:r>
              <a:rPr lang="en-US" sz="2200" b="1" i="0" u="none" strike="noStrike" cap="none">
                <a:solidFill>
                  <a:srgbClr val="0070C0"/>
                </a:solidFill>
                <a:latin typeface="Calibri"/>
                <a:ea typeface="Calibri"/>
                <a:cs typeface="Calibri"/>
                <a:sym typeface="Calibri"/>
              </a:rPr>
              <a:t>	SELECT CASE 1 WHEN 1 THEN </a:t>
            </a:r>
            <a:r>
              <a:rPr lang="en-US" sz="2200" b="1" i="0" u="none" strike="noStrike" cap="none">
                <a:solidFill>
                  <a:srgbClr val="BC8F00"/>
                </a:solidFill>
                <a:latin typeface="Calibri"/>
                <a:ea typeface="Calibri"/>
                <a:cs typeface="Calibri"/>
                <a:sym typeface="Calibri"/>
              </a:rPr>
              <a:t>'this is case one'</a:t>
            </a:r>
            <a:r>
              <a:rPr lang="en-US" sz="2200" b="1" i="0" u="none" strike="noStrike" cap="none">
                <a:solidFill>
                  <a:srgbClr val="0070C0"/>
                </a:solidFill>
                <a:latin typeface="Calibri"/>
                <a:ea typeface="Calibri"/>
                <a:cs typeface="Calibri"/>
                <a:sym typeface="Calibri"/>
              </a:rPr>
              <a:t/>
            </a:r>
            <a:br>
              <a:rPr lang="en-US" sz="2200" b="1" i="0" u="none" strike="noStrike" cap="none">
                <a:solidFill>
                  <a:srgbClr val="0070C0"/>
                </a:solidFill>
                <a:latin typeface="Calibri"/>
                <a:ea typeface="Calibri"/>
                <a:cs typeface="Calibri"/>
                <a:sym typeface="Calibri"/>
              </a:rPr>
            </a:br>
            <a:r>
              <a:rPr lang="en-US" sz="2200" b="1" i="0" u="none" strike="noStrike" cap="none">
                <a:solidFill>
                  <a:srgbClr val="0070C0"/>
                </a:solidFill>
                <a:latin typeface="Calibri"/>
                <a:ea typeface="Calibri"/>
                <a:cs typeface="Calibri"/>
                <a:sym typeface="Calibri"/>
              </a:rPr>
              <a:t>WHEN 2 THEN </a:t>
            </a:r>
            <a:r>
              <a:rPr lang="en-US" sz="2200" b="1" i="0" u="none" strike="noStrike" cap="none">
                <a:solidFill>
                  <a:srgbClr val="BC8F00"/>
                </a:solidFill>
                <a:latin typeface="Calibri"/>
                <a:ea typeface="Calibri"/>
                <a:cs typeface="Calibri"/>
                <a:sym typeface="Calibri"/>
              </a:rPr>
              <a:t>'this is case two' </a:t>
            </a:r>
            <a:r>
              <a:rPr lang="en-US" sz="2200" b="1" i="0" u="none" strike="noStrike" cap="none">
                <a:solidFill>
                  <a:srgbClr val="0070C0"/>
                </a:solidFill>
                <a:latin typeface="Calibri"/>
                <a:ea typeface="Calibri"/>
                <a:cs typeface="Calibri"/>
                <a:sym typeface="Calibri"/>
              </a:rPr>
              <a:t/>
            </a:r>
            <a:br>
              <a:rPr lang="en-US" sz="2200" b="1" i="0" u="none" strike="noStrike" cap="none">
                <a:solidFill>
                  <a:srgbClr val="0070C0"/>
                </a:solidFill>
                <a:latin typeface="Calibri"/>
                <a:ea typeface="Calibri"/>
                <a:cs typeface="Calibri"/>
                <a:sym typeface="Calibri"/>
              </a:rPr>
            </a:br>
            <a:r>
              <a:rPr lang="en-US" sz="2200" b="1" i="0" u="none" strike="noStrike" cap="none">
                <a:solidFill>
                  <a:srgbClr val="0070C0"/>
                </a:solidFill>
                <a:latin typeface="Calibri"/>
                <a:ea typeface="Calibri"/>
                <a:cs typeface="Calibri"/>
                <a:sym typeface="Calibri"/>
              </a:rPr>
              <a:t>ELSE </a:t>
            </a:r>
            <a:r>
              <a:rPr lang="en-US" sz="2200" b="1" i="0" u="none" strike="noStrike" cap="none">
                <a:solidFill>
                  <a:srgbClr val="BC8F00"/>
                </a:solidFill>
                <a:latin typeface="Calibri"/>
                <a:ea typeface="Calibri"/>
                <a:cs typeface="Calibri"/>
                <a:sym typeface="Calibri"/>
              </a:rPr>
              <a:t>'this is not in the case'</a:t>
            </a:r>
            <a:r>
              <a:rPr lang="en-US" sz="2200" b="1" i="0" u="none" strike="noStrike" cap="none">
                <a:solidFill>
                  <a:srgbClr val="0070C0"/>
                </a:solidFill>
                <a:latin typeface="Calibri"/>
                <a:ea typeface="Calibri"/>
                <a:cs typeface="Calibri"/>
                <a:sym typeface="Calibri"/>
              </a:rPr>
              <a:t/>
            </a:r>
            <a:br>
              <a:rPr lang="en-US" sz="2200" b="1" i="0" u="none" strike="noStrike" cap="none">
                <a:solidFill>
                  <a:srgbClr val="0070C0"/>
                </a:solidFill>
                <a:latin typeface="Calibri"/>
                <a:ea typeface="Calibri"/>
                <a:cs typeface="Calibri"/>
                <a:sym typeface="Calibri"/>
              </a:rPr>
            </a:br>
            <a:r>
              <a:rPr lang="en-US" sz="2200" b="1" i="0" u="none" strike="noStrike" cap="none">
                <a:solidFill>
                  <a:srgbClr val="0070C0"/>
                </a:solidFill>
                <a:latin typeface="Calibri"/>
                <a:ea typeface="Calibri"/>
                <a:cs typeface="Calibri"/>
                <a:sym typeface="Calibri"/>
              </a:rPr>
              <a:t>END as </a:t>
            </a:r>
            <a:r>
              <a:rPr lang="en-US" sz="2200" b="1" i="0" u="none" strike="noStrike" cap="none">
                <a:solidFill>
                  <a:srgbClr val="BC8F00"/>
                </a:solidFill>
                <a:latin typeface="Calibri"/>
                <a:ea typeface="Calibri"/>
                <a:cs typeface="Calibri"/>
                <a:sym typeface="Calibri"/>
              </a:rPr>
              <a:t>'how to execute case statement'</a:t>
            </a:r>
            <a:endParaRPr/>
          </a:p>
          <a:p>
            <a:pPr marL="0" marR="0" lvl="0" indent="0" algn="l" rtl="0">
              <a:lnSpc>
                <a:spcPct val="120000"/>
              </a:lnSpc>
              <a:spcBef>
                <a:spcPts val="0"/>
              </a:spcBef>
              <a:spcAft>
                <a:spcPts val="0"/>
              </a:spcAft>
              <a:buNone/>
            </a:pPr>
            <a:r>
              <a:rPr lang="en-US" sz="2400" b="1">
                <a:solidFill>
                  <a:schemeClr val="dk1"/>
                </a:solidFill>
                <a:latin typeface="Calibri"/>
                <a:ea typeface="Calibri"/>
                <a:cs typeface="Calibri"/>
                <a:sym typeface="Calibri"/>
              </a:rPr>
              <a:t>Explanation</a:t>
            </a:r>
            <a:endParaRPr/>
          </a:p>
          <a:p>
            <a:pPr marL="0" marR="0" lvl="0" indent="0" algn="l" rtl="0">
              <a:lnSpc>
                <a:spcPct val="120000"/>
              </a:lnSpc>
              <a:spcBef>
                <a:spcPts val="0"/>
              </a:spcBef>
              <a:spcAft>
                <a:spcPts val="0"/>
              </a:spcAft>
              <a:buNone/>
            </a:pPr>
            <a:r>
              <a:rPr lang="en-US" sz="2200">
                <a:solidFill>
                  <a:schemeClr val="dk1"/>
                </a:solidFill>
                <a:latin typeface="Calibri"/>
                <a:ea typeface="Calibri"/>
                <a:cs typeface="Calibri"/>
                <a:sym typeface="Calibri"/>
              </a:rPr>
              <a:t>Since CASE is 1, so "this is case one" is returned. </a:t>
            </a:r>
            <a:endParaRPr/>
          </a:p>
          <a:p>
            <a:pPr marL="0" marR="0" lvl="0" indent="0" algn="l" rtl="0">
              <a:lnSpc>
                <a:spcPct val="120000"/>
              </a:lnSpc>
              <a:spcBef>
                <a:spcPts val="0"/>
              </a:spcBef>
              <a:spcAft>
                <a:spcPts val="0"/>
              </a:spcAft>
              <a:buNone/>
            </a:pPr>
            <a:r>
              <a:rPr lang="en-US" sz="2400" b="1">
                <a:solidFill>
                  <a:schemeClr val="dk1"/>
                </a:solidFill>
                <a:latin typeface="Calibri"/>
                <a:ea typeface="Calibri"/>
                <a:cs typeface="Calibri"/>
                <a:sym typeface="Calibri"/>
              </a:rPr>
              <a:t>Example 2:</a:t>
            </a:r>
            <a:endParaRPr/>
          </a:p>
          <a:p>
            <a:pPr marL="731520" marR="0" lvl="2" indent="-365760" algn="l" rtl="0">
              <a:lnSpc>
                <a:spcPct val="120000"/>
              </a:lnSpc>
              <a:spcBef>
                <a:spcPts val="0"/>
              </a:spcBef>
              <a:spcAft>
                <a:spcPts val="0"/>
              </a:spcAft>
              <a:buNone/>
            </a:pPr>
            <a:r>
              <a:rPr lang="en-US" sz="2200" b="1" i="0" u="none" strike="noStrike" cap="none">
                <a:solidFill>
                  <a:srgbClr val="0070C0"/>
                </a:solidFill>
                <a:latin typeface="Calibri"/>
                <a:ea typeface="Calibri"/>
                <a:cs typeface="Calibri"/>
                <a:sym typeface="Calibri"/>
              </a:rPr>
              <a:t>SELECT CASE </a:t>
            </a:r>
            <a:r>
              <a:rPr lang="en-US" sz="2200" b="1" i="0" u="none" strike="noStrike" cap="none">
                <a:solidFill>
                  <a:srgbClr val="BC8F00"/>
                </a:solidFill>
                <a:latin typeface="Calibri"/>
                <a:ea typeface="Calibri"/>
                <a:cs typeface="Calibri"/>
                <a:sym typeface="Calibri"/>
              </a:rPr>
              <a:t>'A</a:t>
            </a:r>
            <a:r>
              <a:rPr lang="en-US" sz="2200" b="1" i="0" u="none" strike="noStrike" cap="none">
                <a:solidFill>
                  <a:srgbClr val="0070C0"/>
                </a:solidFill>
                <a:latin typeface="Calibri"/>
                <a:ea typeface="Calibri"/>
                <a:cs typeface="Calibri"/>
                <a:sym typeface="Calibri"/>
              </a:rPr>
              <a:t>' WHEN </a:t>
            </a:r>
            <a:r>
              <a:rPr lang="en-US" sz="2200" b="1" i="0" u="none" strike="noStrike" cap="none">
                <a:solidFill>
                  <a:srgbClr val="BC8F00"/>
                </a:solidFill>
                <a:latin typeface="Calibri"/>
                <a:ea typeface="Calibri"/>
                <a:cs typeface="Calibri"/>
                <a:sym typeface="Calibri"/>
              </a:rPr>
              <a:t>'a' </a:t>
            </a:r>
            <a:r>
              <a:rPr lang="en-US" sz="2200" b="1" i="0" u="none" strike="noStrike" cap="none">
                <a:solidFill>
                  <a:srgbClr val="0070C0"/>
                </a:solidFill>
                <a:latin typeface="Calibri"/>
                <a:ea typeface="Calibri"/>
                <a:cs typeface="Calibri"/>
                <a:sym typeface="Calibri"/>
              </a:rPr>
              <a:t>THEN </a:t>
            </a:r>
            <a:r>
              <a:rPr lang="en-US" sz="2200" b="1" i="0" u="none" strike="noStrike" cap="none">
                <a:solidFill>
                  <a:srgbClr val="BC8F00"/>
                </a:solidFill>
                <a:latin typeface="Calibri"/>
                <a:ea typeface="Calibri"/>
                <a:cs typeface="Calibri"/>
                <a:sym typeface="Calibri"/>
              </a:rPr>
              <a:t>1 </a:t>
            </a:r>
            <a:endParaRPr sz="2200" b="1" i="0" u="none" strike="noStrike" cap="none">
              <a:solidFill>
                <a:srgbClr val="0070C0"/>
              </a:solidFill>
              <a:latin typeface="Calibri"/>
              <a:ea typeface="Calibri"/>
              <a:cs typeface="Calibri"/>
              <a:sym typeface="Calibri"/>
            </a:endParaRPr>
          </a:p>
          <a:p>
            <a:pPr marL="731520" marR="0" lvl="2" indent="-365760" algn="l" rtl="0">
              <a:lnSpc>
                <a:spcPct val="120000"/>
              </a:lnSpc>
              <a:spcBef>
                <a:spcPts val="0"/>
              </a:spcBef>
              <a:spcAft>
                <a:spcPts val="0"/>
              </a:spcAft>
              <a:buNone/>
            </a:pPr>
            <a:r>
              <a:rPr lang="en-US" sz="2200" b="1" i="0" u="none" strike="noStrike" cap="none">
                <a:solidFill>
                  <a:srgbClr val="0070C0"/>
                </a:solidFill>
                <a:latin typeface="Calibri"/>
                <a:ea typeface="Calibri"/>
                <a:cs typeface="Calibri"/>
                <a:sym typeface="Calibri"/>
              </a:rPr>
              <a:t>WHEN '</a:t>
            </a:r>
            <a:r>
              <a:rPr lang="en-US" sz="2200" b="1" i="0" u="none" strike="noStrike" cap="none">
                <a:solidFill>
                  <a:srgbClr val="BC8F00"/>
                </a:solidFill>
                <a:latin typeface="Calibri"/>
                <a:ea typeface="Calibri"/>
                <a:cs typeface="Calibri"/>
                <a:sym typeface="Calibri"/>
              </a:rPr>
              <a:t>b' </a:t>
            </a:r>
            <a:r>
              <a:rPr lang="en-US" sz="2200" b="1" i="0" u="none" strike="noStrike" cap="none">
                <a:solidFill>
                  <a:srgbClr val="0070C0"/>
                </a:solidFill>
                <a:latin typeface="Calibri"/>
                <a:ea typeface="Calibri"/>
                <a:cs typeface="Calibri"/>
                <a:sym typeface="Calibri"/>
              </a:rPr>
              <a:t>THEN </a:t>
            </a:r>
            <a:r>
              <a:rPr lang="en-US" sz="2200" b="1" i="0" u="none" strike="noStrike" cap="none">
                <a:solidFill>
                  <a:srgbClr val="BC8F00"/>
                </a:solidFill>
                <a:latin typeface="Calibri"/>
                <a:ea typeface="Calibri"/>
                <a:cs typeface="Calibri"/>
                <a:sym typeface="Calibri"/>
              </a:rPr>
              <a:t>2</a:t>
            </a:r>
            <a:r>
              <a:rPr lang="en-US" sz="2200" b="1" i="0" u="none" strike="noStrike" cap="none">
                <a:solidFill>
                  <a:srgbClr val="0070C0"/>
                </a:solidFill>
                <a:latin typeface="Calibri"/>
                <a:ea typeface="Calibri"/>
                <a:cs typeface="Calibri"/>
                <a:sym typeface="Calibri"/>
              </a:rPr>
              <a:t> END; </a:t>
            </a:r>
            <a:endParaRPr/>
          </a:p>
          <a:p>
            <a:pPr marL="0" marR="0" lvl="0" indent="0" algn="l" rtl="0">
              <a:lnSpc>
                <a:spcPct val="120000"/>
              </a:lnSpc>
              <a:spcBef>
                <a:spcPts val="0"/>
              </a:spcBef>
              <a:spcAft>
                <a:spcPts val="0"/>
              </a:spcAft>
              <a:buNone/>
            </a:pPr>
            <a:r>
              <a:rPr lang="en-US" sz="2400" b="1">
                <a:solidFill>
                  <a:schemeClr val="dk1"/>
                </a:solidFill>
                <a:latin typeface="Calibri"/>
                <a:ea typeface="Calibri"/>
                <a:cs typeface="Calibri"/>
                <a:sym typeface="Calibri"/>
              </a:rPr>
              <a:t>Explanation</a:t>
            </a:r>
            <a:endParaRPr/>
          </a:p>
          <a:p>
            <a:pPr marL="0" marR="0" lvl="0" indent="0" algn="l" rtl="0">
              <a:lnSpc>
                <a:spcPct val="120000"/>
              </a:lnSpc>
              <a:spcBef>
                <a:spcPts val="0"/>
              </a:spcBef>
              <a:spcAft>
                <a:spcPts val="0"/>
              </a:spcAft>
              <a:buNone/>
            </a:pPr>
            <a:r>
              <a:rPr lang="en-US" sz="2200">
                <a:solidFill>
                  <a:schemeClr val="dk1"/>
                </a:solidFill>
                <a:latin typeface="Calibri"/>
                <a:ea typeface="Calibri"/>
                <a:cs typeface="Calibri"/>
                <a:sym typeface="Calibri"/>
              </a:rPr>
              <a:t>Since CASE is not satisfied by neither of the WHEN, it returns NULL. </a:t>
            </a:r>
            <a:endParaRPr sz="2200">
              <a:solidFill>
                <a:schemeClr val="dk1"/>
              </a:solidFill>
              <a:latin typeface="Calibri"/>
              <a:ea typeface="Calibri"/>
              <a:cs typeface="Calibri"/>
              <a:sym typeface="Calibri"/>
            </a:endParaRPr>
          </a:p>
        </p:txBody>
      </p:sp>
      <p:sp>
        <p:nvSpPr>
          <p:cNvPr id="329" name="Google Shape;329;p29"/>
          <p:cNvSpPr txBox="1">
            <a:spLocks noGrp="1"/>
          </p:cNvSpPr>
          <p:nvPr>
            <p:ph type="sldNum" idx="12"/>
          </p:nvPr>
        </p:nvSpPr>
        <p:spPr>
          <a:xfrm>
            <a:off x="138752" y="6414139"/>
            <a:ext cx="457200" cy="277813"/>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fld id="{00000000-1234-1234-1234-123412341234}" type="slidenum">
              <a:rPr lang="en-US"/>
              <a:t>29</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34"/>
        <p:cNvGrpSpPr/>
        <p:nvPr/>
      </p:nvGrpSpPr>
      <p:grpSpPr>
        <a:xfrm>
          <a:off x="0" y="0"/>
          <a:ext cx="0" cy="0"/>
          <a:chOff x="0" y="0"/>
          <a:chExt cx="0" cy="0"/>
        </a:xfrm>
      </p:grpSpPr>
      <p:sp>
        <p:nvSpPr>
          <p:cNvPr id="335" name="Google Shape;335;p30"/>
          <p:cNvSpPr txBox="1">
            <a:spLocks noGrp="1"/>
          </p:cNvSpPr>
          <p:nvPr>
            <p:ph type="body" idx="1"/>
          </p:nvPr>
        </p:nvSpPr>
        <p:spPr>
          <a:xfrm>
            <a:off x="381000" y="1143000"/>
            <a:ext cx="8686800" cy="4946650"/>
          </a:xfrm>
          <a:prstGeom prst="rect">
            <a:avLst/>
          </a:prstGeom>
          <a:noFill/>
          <a:ln>
            <a:noFill/>
          </a:ln>
        </p:spPr>
        <p:txBody>
          <a:bodyPr spcFirstLastPara="1" wrap="square" lIns="91425" tIns="45700" rIns="91425" bIns="45700" anchor="t" anchorCtr="0">
            <a:noAutofit/>
          </a:bodyPr>
          <a:lstStyle/>
          <a:p>
            <a:pPr marL="731520" lvl="1" indent="-365760" algn="l" rtl="0">
              <a:lnSpc>
                <a:spcPct val="120000"/>
              </a:lnSpc>
              <a:spcBef>
                <a:spcPts val="0"/>
              </a:spcBef>
              <a:spcAft>
                <a:spcPts val="0"/>
              </a:spcAft>
              <a:buClr>
                <a:schemeClr val="dk1"/>
              </a:buClr>
              <a:buSzPts val="2200"/>
              <a:buFont typeface="Arial"/>
              <a:buChar char="•"/>
            </a:pPr>
            <a:r>
              <a:rPr lang="en-US" sz="2200"/>
              <a:t>If expr1 is TRUE (expr1 &lt;&gt; 0 and expr1 &lt;&gt; NULL) then IF() returns expr2; otherwise it returns expr3.</a:t>
            </a:r>
            <a:endParaRPr/>
          </a:p>
          <a:p>
            <a:pPr marL="731520" lvl="1" indent="-365760" algn="l" rtl="0">
              <a:lnSpc>
                <a:spcPct val="120000"/>
              </a:lnSpc>
              <a:spcBef>
                <a:spcPts val="0"/>
              </a:spcBef>
              <a:spcAft>
                <a:spcPts val="0"/>
              </a:spcAft>
              <a:buClr>
                <a:schemeClr val="dk1"/>
              </a:buClr>
              <a:buSzPts val="2200"/>
              <a:buFont typeface="Arial"/>
              <a:buChar char="•"/>
            </a:pPr>
            <a:r>
              <a:rPr lang="en-US" sz="2200"/>
              <a:t>IF() returns a numeric or string value, depending on the context in which it is used..</a:t>
            </a:r>
            <a:endParaRPr sz="2200" b="1"/>
          </a:p>
          <a:p>
            <a:pPr marL="731520" lvl="1" indent="-226059" algn="l" rtl="0">
              <a:lnSpc>
                <a:spcPct val="120000"/>
              </a:lnSpc>
              <a:spcBef>
                <a:spcPts val="0"/>
              </a:spcBef>
              <a:spcAft>
                <a:spcPts val="0"/>
              </a:spcAft>
              <a:buClr>
                <a:schemeClr val="dk1"/>
              </a:buClr>
              <a:buSzPts val="2200"/>
              <a:buFont typeface="Arial"/>
              <a:buNone/>
            </a:pPr>
            <a:endParaRPr sz="2200"/>
          </a:p>
          <a:p>
            <a:pPr marL="731520" lvl="1" indent="-365760" algn="l" rtl="0">
              <a:lnSpc>
                <a:spcPct val="120000"/>
              </a:lnSpc>
              <a:spcBef>
                <a:spcPts val="0"/>
              </a:spcBef>
              <a:spcAft>
                <a:spcPts val="0"/>
              </a:spcAft>
              <a:buClr>
                <a:schemeClr val="dk1"/>
              </a:buClr>
              <a:buSzPts val="2200"/>
              <a:buFont typeface="Arial"/>
              <a:buChar char="•"/>
            </a:pPr>
            <a:r>
              <a:rPr lang="en-US" sz="2200"/>
              <a:t>If expr1 is not NULL, IFNULL() returns expr1; otherwise it returns expr2. </a:t>
            </a:r>
            <a:endParaRPr sz="2200"/>
          </a:p>
          <a:p>
            <a:pPr marL="731520" lvl="1" indent="-365760" algn="l" rtl="0">
              <a:lnSpc>
                <a:spcPct val="120000"/>
              </a:lnSpc>
              <a:spcBef>
                <a:spcPts val="0"/>
              </a:spcBef>
              <a:spcAft>
                <a:spcPts val="0"/>
              </a:spcAft>
              <a:buClr>
                <a:schemeClr val="dk1"/>
              </a:buClr>
              <a:buSzPts val="2200"/>
              <a:buFont typeface="Arial"/>
              <a:buChar char="•"/>
            </a:pPr>
            <a:r>
              <a:rPr lang="en-US" sz="2200"/>
              <a:t>IFNULL() returns a numeric or string value, depending on the context in which it is used.</a:t>
            </a:r>
            <a:endParaRPr/>
          </a:p>
          <a:p>
            <a:pPr marL="731520" lvl="1" indent="-226059" algn="l" rtl="0">
              <a:lnSpc>
                <a:spcPct val="120000"/>
              </a:lnSpc>
              <a:spcBef>
                <a:spcPts val="0"/>
              </a:spcBef>
              <a:spcAft>
                <a:spcPts val="0"/>
              </a:spcAft>
              <a:buClr>
                <a:schemeClr val="dk1"/>
              </a:buClr>
              <a:buSzPts val="2200"/>
              <a:buFont typeface="Arial"/>
              <a:buNone/>
            </a:pPr>
            <a:endParaRPr sz="2200"/>
          </a:p>
          <a:p>
            <a:pPr marL="731520" lvl="1" indent="-365760" algn="l" rtl="0">
              <a:lnSpc>
                <a:spcPct val="120000"/>
              </a:lnSpc>
              <a:spcBef>
                <a:spcPts val="0"/>
              </a:spcBef>
              <a:spcAft>
                <a:spcPts val="0"/>
              </a:spcAft>
              <a:buClr>
                <a:schemeClr val="dk1"/>
              </a:buClr>
              <a:buSzPts val="2200"/>
              <a:buNone/>
            </a:pPr>
            <a:endParaRPr sz="2200" b="1"/>
          </a:p>
        </p:txBody>
      </p:sp>
      <p:sp>
        <p:nvSpPr>
          <p:cNvPr id="336" name="Google Shape;336;p30"/>
          <p:cNvSpPr txBox="1">
            <a:spLocks noGrp="1"/>
          </p:cNvSpPr>
          <p:nvPr>
            <p:ph type="title"/>
          </p:nvPr>
        </p:nvSpPr>
        <p:spPr>
          <a:xfrm>
            <a:off x="1303020" y="-152400"/>
            <a:ext cx="829818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Control Flow Functions</a:t>
            </a:r>
            <a:endParaRPr/>
          </a:p>
        </p:txBody>
      </p:sp>
      <p:sp>
        <p:nvSpPr>
          <p:cNvPr id="337" name="Google Shape;337;p30"/>
          <p:cNvSpPr/>
          <p:nvPr/>
        </p:nvSpPr>
        <p:spPr>
          <a:xfrm>
            <a:off x="3213100" y="2432050"/>
            <a:ext cx="2387600" cy="4572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86000"/>
              </a:lnSpc>
              <a:spcBef>
                <a:spcPts val="0"/>
              </a:spcBef>
              <a:spcAft>
                <a:spcPts val="0"/>
              </a:spcAft>
              <a:buNone/>
            </a:pPr>
            <a:endParaRPr sz="1600">
              <a:solidFill>
                <a:srgbClr val="3F3F3F"/>
              </a:solidFill>
              <a:latin typeface="Calibri"/>
              <a:ea typeface="Calibri"/>
              <a:cs typeface="Calibri"/>
              <a:sym typeface="Calibri"/>
            </a:endParaRPr>
          </a:p>
          <a:p>
            <a:pPr marL="0" marR="0" lvl="0" indent="0" algn="ctr" rtl="0">
              <a:spcBef>
                <a:spcPts val="1200"/>
              </a:spcBef>
              <a:spcAft>
                <a:spcPts val="0"/>
              </a:spcAft>
              <a:buNone/>
            </a:pPr>
            <a:r>
              <a:rPr lang="en-US" sz="1600">
                <a:solidFill>
                  <a:schemeClr val="dk1"/>
                </a:solidFill>
                <a:latin typeface="Calibri"/>
                <a:ea typeface="Calibri"/>
                <a:cs typeface="Calibri"/>
                <a:sym typeface="Calibri"/>
              </a:rPr>
              <a:t> </a:t>
            </a:r>
            <a:r>
              <a:rPr lang="en-US" sz="1800">
                <a:solidFill>
                  <a:srgbClr val="0070C0"/>
                </a:solidFill>
                <a:latin typeface="Calibri"/>
                <a:ea typeface="Calibri"/>
                <a:cs typeface="Calibri"/>
                <a:sym typeface="Calibri"/>
              </a:rPr>
              <a:t>IF(</a:t>
            </a:r>
            <a:r>
              <a:rPr lang="en-US" sz="1800">
                <a:solidFill>
                  <a:srgbClr val="00B050"/>
                </a:solidFill>
                <a:latin typeface="Calibri"/>
                <a:ea typeface="Calibri"/>
                <a:cs typeface="Calibri"/>
                <a:sym typeface="Calibri"/>
              </a:rPr>
              <a:t>expr1, expr2, expr3</a:t>
            </a:r>
            <a:r>
              <a:rPr lang="en-US" sz="1800">
                <a:solidFill>
                  <a:srgbClr val="0070C0"/>
                </a:solidFill>
                <a:latin typeface="Calibri"/>
                <a:ea typeface="Calibri"/>
                <a:cs typeface="Calibri"/>
                <a:sym typeface="Calibri"/>
              </a:rPr>
              <a:t>)</a:t>
            </a:r>
            <a:endParaRPr sz="1800">
              <a:solidFill>
                <a:srgbClr val="0070C0"/>
              </a:solidFill>
              <a:latin typeface="Calibri"/>
              <a:ea typeface="Calibri"/>
              <a:cs typeface="Calibri"/>
              <a:sym typeface="Calibri"/>
            </a:endParaRPr>
          </a:p>
          <a:p>
            <a:pPr marL="0" marR="0" lvl="0" indent="0" algn="ctr" rtl="0">
              <a:lnSpc>
                <a:spcPct val="86000"/>
              </a:lnSpc>
              <a:spcBef>
                <a:spcPts val="0"/>
              </a:spcBef>
              <a:spcAft>
                <a:spcPts val="0"/>
              </a:spcAft>
              <a:buNone/>
            </a:pPr>
            <a:endParaRPr sz="1600">
              <a:solidFill>
                <a:srgbClr val="3F3F3F"/>
              </a:solidFill>
              <a:latin typeface="Calibri"/>
              <a:ea typeface="Calibri"/>
              <a:cs typeface="Calibri"/>
              <a:sym typeface="Calibri"/>
            </a:endParaRPr>
          </a:p>
          <a:p>
            <a:pPr marL="0" marR="0" lvl="0" indent="0" algn="ctr" rtl="0">
              <a:lnSpc>
                <a:spcPct val="86000"/>
              </a:lnSpc>
              <a:spcBef>
                <a:spcPts val="0"/>
              </a:spcBef>
              <a:spcAft>
                <a:spcPts val="0"/>
              </a:spcAft>
              <a:buNone/>
            </a:pPr>
            <a:endParaRPr sz="1600">
              <a:solidFill>
                <a:srgbClr val="3F3F3F"/>
              </a:solidFill>
              <a:latin typeface="Calibri"/>
              <a:ea typeface="Calibri"/>
              <a:cs typeface="Calibri"/>
              <a:sym typeface="Calibri"/>
            </a:endParaRPr>
          </a:p>
        </p:txBody>
      </p:sp>
      <p:sp>
        <p:nvSpPr>
          <p:cNvPr id="338" name="Google Shape;338;p30"/>
          <p:cNvSpPr/>
          <p:nvPr/>
        </p:nvSpPr>
        <p:spPr>
          <a:xfrm>
            <a:off x="2921000" y="3575050"/>
            <a:ext cx="2971800" cy="512135"/>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86000"/>
              </a:lnSpc>
              <a:spcBef>
                <a:spcPts val="0"/>
              </a:spcBef>
              <a:spcAft>
                <a:spcPts val="0"/>
              </a:spcAft>
              <a:buNone/>
            </a:pPr>
            <a:endParaRPr sz="1600">
              <a:solidFill>
                <a:srgbClr val="3F3F3F"/>
              </a:solidFill>
              <a:latin typeface="Calibri"/>
              <a:ea typeface="Calibri"/>
              <a:cs typeface="Calibri"/>
              <a:sym typeface="Calibri"/>
            </a:endParaRPr>
          </a:p>
          <a:p>
            <a:pPr marL="0" marR="0" lvl="0" indent="0" algn="ctr" rtl="0">
              <a:spcBef>
                <a:spcPts val="1200"/>
              </a:spcBef>
              <a:spcAft>
                <a:spcPts val="0"/>
              </a:spcAft>
              <a:buNone/>
            </a:pPr>
            <a:r>
              <a:rPr lang="en-US" sz="1600">
                <a:solidFill>
                  <a:schemeClr val="dk1"/>
                </a:solidFill>
                <a:latin typeface="Calibri"/>
                <a:ea typeface="Calibri"/>
                <a:cs typeface="Calibri"/>
                <a:sym typeface="Calibri"/>
              </a:rPr>
              <a:t> </a:t>
            </a:r>
            <a:r>
              <a:rPr lang="en-US" sz="1800">
                <a:solidFill>
                  <a:srgbClr val="0070C0"/>
                </a:solidFill>
                <a:latin typeface="Calibri"/>
                <a:ea typeface="Calibri"/>
                <a:cs typeface="Calibri"/>
                <a:sym typeface="Calibri"/>
              </a:rPr>
              <a:t>IFNULL(</a:t>
            </a:r>
            <a:r>
              <a:rPr lang="en-US" sz="1800">
                <a:solidFill>
                  <a:srgbClr val="00B050"/>
                </a:solidFill>
                <a:latin typeface="Calibri"/>
                <a:ea typeface="Calibri"/>
                <a:cs typeface="Calibri"/>
                <a:sym typeface="Calibri"/>
              </a:rPr>
              <a:t>expr1, expr2, expr3</a:t>
            </a:r>
            <a:r>
              <a:rPr lang="en-US" sz="1800">
                <a:solidFill>
                  <a:srgbClr val="0070C0"/>
                </a:solidFill>
                <a:latin typeface="Calibri"/>
                <a:ea typeface="Calibri"/>
                <a:cs typeface="Calibri"/>
                <a:sym typeface="Calibri"/>
              </a:rPr>
              <a:t>)</a:t>
            </a:r>
            <a:endParaRPr/>
          </a:p>
          <a:p>
            <a:pPr marL="0" marR="0" lvl="0" indent="0" algn="l" rtl="0">
              <a:lnSpc>
                <a:spcPct val="86000"/>
              </a:lnSpc>
              <a:spcBef>
                <a:spcPts val="0"/>
              </a:spcBef>
              <a:spcAft>
                <a:spcPts val="0"/>
              </a:spcAft>
              <a:buNone/>
            </a:pPr>
            <a:endParaRPr sz="1600">
              <a:solidFill>
                <a:srgbClr val="3F3F3F"/>
              </a:solidFill>
              <a:latin typeface="Calibri"/>
              <a:ea typeface="Calibri"/>
              <a:cs typeface="Calibri"/>
              <a:sym typeface="Calibri"/>
            </a:endParaRPr>
          </a:p>
          <a:p>
            <a:pPr marL="0" marR="0" lvl="0" indent="0" algn="l" rtl="0">
              <a:lnSpc>
                <a:spcPct val="86000"/>
              </a:lnSpc>
              <a:spcBef>
                <a:spcPts val="0"/>
              </a:spcBef>
              <a:spcAft>
                <a:spcPts val="0"/>
              </a:spcAft>
              <a:buNone/>
            </a:pPr>
            <a:endParaRPr sz="1600">
              <a:solidFill>
                <a:srgbClr val="3F3F3F"/>
              </a:solidFill>
              <a:latin typeface="Calibri"/>
              <a:ea typeface="Calibri"/>
              <a:cs typeface="Calibri"/>
              <a:sym typeface="Calibri"/>
            </a:endParaRPr>
          </a:p>
        </p:txBody>
      </p:sp>
      <p:sp>
        <p:nvSpPr>
          <p:cNvPr id="339" name="Google Shape;339;p30"/>
          <p:cNvSpPr txBox="1"/>
          <p:nvPr/>
        </p:nvSpPr>
        <p:spPr>
          <a:xfrm>
            <a:off x="2688988" y="4800600"/>
            <a:ext cx="3429000" cy="2062103"/>
          </a:xfrm>
          <a:prstGeom prst="rect">
            <a:avLst/>
          </a:prstGeom>
          <a:gradFill>
            <a:gsLst>
              <a:gs pos="0">
                <a:srgbClr val="9FC3FF"/>
              </a:gs>
              <a:gs pos="35000">
                <a:srgbClr val="BDD5FF"/>
              </a:gs>
              <a:gs pos="100000">
                <a:srgbClr val="E4EEFF"/>
              </a:gs>
            </a:gsLst>
            <a:lin ang="16200000" scaled="0"/>
          </a:gradFill>
          <a:ln w="9525" cap="flat" cmpd="sng">
            <a:solidFill>
              <a:srgbClr val="4A7DBA"/>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a:solidFill>
                  <a:schemeClr val="dk1"/>
                </a:solidFill>
                <a:latin typeface="Calibri"/>
                <a:ea typeface="Calibri"/>
                <a:cs typeface="Calibri"/>
                <a:sym typeface="Calibri"/>
              </a:rPr>
              <a:t>Examples:</a:t>
            </a:r>
            <a:endParaRPr/>
          </a:p>
          <a:p>
            <a:pPr marL="457200" marR="0" lvl="1" indent="0" algn="l" rtl="0">
              <a:spcBef>
                <a:spcPts val="600"/>
              </a:spcBef>
              <a:spcAft>
                <a:spcPts val="0"/>
              </a:spcAft>
              <a:buNone/>
            </a:pPr>
            <a:r>
              <a:rPr lang="en-US" sz="1400" b="1" i="0" u="none" strike="noStrike" cap="none">
                <a:solidFill>
                  <a:srgbClr val="0070C0"/>
                </a:solidFill>
                <a:latin typeface="Calibri"/>
                <a:ea typeface="Calibri"/>
                <a:cs typeface="Calibri"/>
                <a:sym typeface="Calibri"/>
              </a:rPr>
              <a:t>Select IF</a:t>
            </a:r>
            <a:r>
              <a:rPr lang="en-US" sz="1400" b="1" i="0" u="none" strike="noStrike" cap="none">
                <a:solidFill>
                  <a:srgbClr val="BC8F00"/>
                </a:solidFill>
                <a:latin typeface="Calibri"/>
                <a:ea typeface="Calibri"/>
                <a:cs typeface="Calibri"/>
                <a:sym typeface="Calibri"/>
              </a:rPr>
              <a:t>(1&gt;2,2,3); // 3</a:t>
            </a:r>
            <a:endParaRPr sz="1400" b="1" i="0" u="none" strike="noStrike" cap="none">
              <a:solidFill>
                <a:schemeClr val="dk1"/>
              </a:solidFill>
              <a:latin typeface="Calibri"/>
              <a:ea typeface="Calibri"/>
              <a:cs typeface="Calibri"/>
              <a:sym typeface="Calibri"/>
            </a:endParaRPr>
          </a:p>
          <a:p>
            <a:pPr marL="457200" marR="0" lvl="1" indent="0" algn="l" rtl="0">
              <a:spcBef>
                <a:spcPts val="600"/>
              </a:spcBef>
              <a:spcAft>
                <a:spcPts val="0"/>
              </a:spcAft>
              <a:buNone/>
            </a:pPr>
            <a:r>
              <a:rPr lang="en-US" sz="1400" b="1" i="0" u="none" strike="noStrike" cap="none">
                <a:solidFill>
                  <a:srgbClr val="0070C0"/>
                </a:solidFill>
                <a:latin typeface="Calibri"/>
                <a:ea typeface="Calibri"/>
                <a:cs typeface="Calibri"/>
                <a:sym typeface="Calibri"/>
              </a:rPr>
              <a:t>Select IF</a:t>
            </a:r>
            <a:r>
              <a:rPr lang="en-US" sz="1400" b="1" i="0" u="none" strike="noStrike" cap="none">
                <a:solidFill>
                  <a:srgbClr val="BC8F00"/>
                </a:solidFill>
                <a:latin typeface="Calibri"/>
                <a:ea typeface="Calibri"/>
                <a:cs typeface="Calibri"/>
                <a:sym typeface="Calibri"/>
              </a:rPr>
              <a:t>(1&lt;2,’Yes’,’no’); // Yes</a:t>
            </a:r>
            <a:endParaRPr sz="1400" b="1" i="0" u="none" strike="noStrike" cap="none">
              <a:solidFill>
                <a:schemeClr val="dk1"/>
              </a:solidFill>
              <a:latin typeface="Calibri"/>
              <a:ea typeface="Calibri"/>
              <a:cs typeface="Calibri"/>
              <a:sym typeface="Calibri"/>
            </a:endParaRPr>
          </a:p>
          <a:p>
            <a:pPr marL="457200" marR="0" lvl="1" indent="0" algn="l" rtl="0">
              <a:spcBef>
                <a:spcPts val="600"/>
              </a:spcBef>
              <a:spcAft>
                <a:spcPts val="0"/>
              </a:spcAft>
              <a:buNone/>
            </a:pPr>
            <a:r>
              <a:rPr lang="en-US" sz="1400" b="1" i="0" u="none" strike="noStrike" cap="none">
                <a:solidFill>
                  <a:srgbClr val="0070C0"/>
                </a:solidFill>
                <a:latin typeface="Calibri"/>
                <a:ea typeface="Calibri"/>
                <a:cs typeface="Calibri"/>
                <a:sym typeface="Calibri"/>
              </a:rPr>
              <a:t>Select</a:t>
            </a:r>
            <a:r>
              <a:rPr lang="en-US" sz="1400" b="1" i="0" u="none" strike="noStrike" cap="none">
                <a:solidFill>
                  <a:srgbClr val="BC8F00"/>
                </a:solidFill>
                <a:latin typeface="Calibri"/>
                <a:ea typeface="Calibri"/>
                <a:cs typeface="Calibri"/>
                <a:sym typeface="Calibri"/>
              </a:rPr>
              <a:t> </a:t>
            </a:r>
            <a:r>
              <a:rPr lang="en-US" sz="1400" b="1" i="0" u="none" strike="noStrike" cap="none">
                <a:solidFill>
                  <a:srgbClr val="0070C0"/>
                </a:solidFill>
                <a:latin typeface="Calibri"/>
                <a:ea typeface="Calibri"/>
                <a:cs typeface="Calibri"/>
                <a:sym typeface="Calibri"/>
              </a:rPr>
              <a:t>IF(STRCMP</a:t>
            </a:r>
            <a:r>
              <a:rPr lang="en-US" sz="1400" b="1" i="0" u="none" strike="noStrike" cap="none">
                <a:solidFill>
                  <a:srgbClr val="BC8F00"/>
                </a:solidFill>
                <a:latin typeface="Calibri"/>
                <a:ea typeface="Calibri"/>
                <a:cs typeface="Calibri"/>
                <a:sym typeface="Calibri"/>
              </a:rPr>
              <a:t>(‘hi’,’h1’),’no’,’yes’); </a:t>
            </a:r>
            <a:endParaRPr/>
          </a:p>
          <a:p>
            <a:pPr marL="457200" marR="0" lvl="1" indent="0" algn="l" rtl="0">
              <a:spcBef>
                <a:spcPts val="600"/>
              </a:spcBef>
              <a:spcAft>
                <a:spcPts val="0"/>
              </a:spcAft>
              <a:buNone/>
            </a:pPr>
            <a:r>
              <a:rPr lang="en-US" sz="1400" b="1" i="0" u="none" strike="noStrike" cap="none">
                <a:solidFill>
                  <a:srgbClr val="BC8F00"/>
                </a:solidFill>
                <a:latin typeface="Calibri"/>
                <a:ea typeface="Calibri"/>
                <a:cs typeface="Calibri"/>
                <a:sym typeface="Calibri"/>
              </a:rPr>
              <a:t>-&gt; no</a:t>
            </a:r>
            <a:endParaRPr/>
          </a:p>
          <a:p>
            <a:pPr marL="457200" marR="0" lvl="1" indent="0" algn="l" rtl="0">
              <a:spcBef>
                <a:spcPts val="600"/>
              </a:spcBef>
              <a:spcAft>
                <a:spcPts val="0"/>
              </a:spcAft>
              <a:buNone/>
            </a:pPr>
            <a:r>
              <a:rPr lang="en-US" sz="1400" b="1" i="0" u="none" strike="noStrike" cap="none">
                <a:solidFill>
                  <a:srgbClr val="0070C0"/>
                </a:solidFill>
                <a:latin typeface="Calibri"/>
                <a:ea typeface="Calibri"/>
                <a:cs typeface="Calibri"/>
                <a:sym typeface="Calibri"/>
              </a:rPr>
              <a:t>Select</a:t>
            </a:r>
            <a:r>
              <a:rPr lang="en-US" sz="1400" b="1" i="0" u="none" strike="noStrike" cap="none">
                <a:solidFill>
                  <a:srgbClr val="BC8F00"/>
                </a:solidFill>
                <a:latin typeface="Calibri"/>
                <a:ea typeface="Calibri"/>
                <a:cs typeface="Calibri"/>
                <a:sym typeface="Calibri"/>
              </a:rPr>
              <a:t> </a:t>
            </a:r>
            <a:r>
              <a:rPr lang="en-US" sz="1400" b="1" i="0" u="none" strike="noStrike" cap="none">
                <a:solidFill>
                  <a:srgbClr val="0070C0"/>
                </a:solidFill>
                <a:latin typeface="Calibri"/>
                <a:ea typeface="Calibri"/>
                <a:cs typeface="Calibri"/>
                <a:sym typeface="Calibri"/>
              </a:rPr>
              <a:t>IFNULL</a:t>
            </a:r>
            <a:r>
              <a:rPr lang="en-US" sz="1400" b="1" i="0" u="none" strike="noStrike" cap="none">
                <a:solidFill>
                  <a:srgbClr val="BC8F00"/>
                </a:solidFill>
                <a:latin typeface="Calibri"/>
                <a:ea typeface="Calibri"/>
                <a:cs typeface="Calibri"/>
                <a:sym typeface="Calibri"/>
              </a:rPr>
              <a:t>(1,0); </a:t>
            </a:r>
            <a:r>
              <a:rPr lang="en-US" sz="1400" b="1" i="0" u="none" strike="noStrike" cap="none">
                <a:solidFill>
                  <a:srgbClr val="0070C0"/>
                </a:solidFill>
                <a:latin typeface="Calibri"/>
                <a:ea typeface="Calibri"/>
                <a:cs typeface="Calibri"/>
                <a:sym typeface="Calibri"/>
              </a:rPr>
              <a:t>// 1</a:t>
            </a:r>
            <a:r>
              <a:rPr lang="en-US" sz="1400" b="1" i="0" u="none" strike="noStrike" cap="none">
                <a:solidFill>
                  <a:schemeClr val="dk1"/>
                </a:solidFill>
                <a:latin typeface="Calibri"/>
                <a:ea typeface="Calibri"/>
                <a:cs typeface="Calibri"/>
                <a:sym typeface="Calibri"/>
              </a:rPr>
              <a:t> </a:t>
            </a:r>
            <a:endParaRPr/>
          </a:p>
          <a:p>
            <a:pPr marL="457200" marR="0" lvl="1" indent="0" algn="l" rtl="0">
              <a:spcBef>
                <a:spcPts val="600"/>
              </a:spcBef>
              <a:spcAft>
                <a:spcPts val="0"/>
              </a:spcAft>
              <a:buNone/>
            </a:pPr>
            <a:r>
              <a:rPr lang="en-US" sz="1400" b="1" i="0" u="none" strike="noStrike" cap="none">
                <a:solidFill>
                  <a:srgbClr val="0070C0"/>
                </a:solidFill>
                <a:latin typeface="Calibri"/>
                <a:ea typeface="Calibri"/>
                <a:cs typeface="Calibri"/>
                <a:sym typeface="Calibri"/>
              </a:rPr>
              <a:t>Select IFNULL(NULL</a:t>
            </a:r>
            <a:r>
              <a:rPr lang="en-US" sz="1400" b="1" i="0" u="none" strike="noStrike" cap="none">
                <a:solidFill>
                  <a:srgbClr val="BC8F00"/>
                </a:solidFill>
                <a:latin typeface="Calibri"/>
                <a:ea typeface="Calibri"/>
                <a:cs typeface="Calibri"/>
                <a:sym typeface="Calibri"/>
              </a:rPr>
              <a:t>,10); // 10</a:t>
            </a:r>
            <a:endParaRPr sz="1400" b="1" i="0" u="none" strike="noStrike" cap="none">
              <a:solidFill>
                <a:srgbClr val="BC8F00"/>
              </a:solidFill>
              <a:latin typeface="Calibri"/>
              <a:ea typeface="Calibri"/>
              <a:cs typeface="Calibri"/>
              <a:sym typeface="Calibri"/>
            </a:endParaRPr>
          </a:p>
        </p:txBody>
      </p:sp>
      <p:sp>
        <p:nvSpPr>
          <p:cNvPr id="340" name="Google Shape;340;p30"/>
          <p:cNvSpPr txBox="1">
            <a:spLocks noGrp="1"/>
          </p:cNvSpPr>
          <p:nvPr>
            <p:ph type="sldNum" idx="12"/>
          </p:nvPr>
        </p:nvSpPr>
        <p:spPr>
          <a:xfrm>
            <a:off x="138752" y="6414139"/>
            <a:ext cx="457200" cy="277813"/>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fld id="{00000000-1234-1234-1234-123412341234}" type="slidenum">
              <a:rPr lang="en-US"/>
              <a:t>30</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45"/>
        <p:cNvGrpSpPr/>
        <p:nvPr/>
      </p:nvGrpSpPr>
      <p:grpSpPr>
        <a:xfrm>
          <a:off x="0" y="0"/>
          <a:ext cx="0" cy="0"/>
          <a:chOff x="0" y="0"/>
          <a:chExt cx="0" cy="0"/>
        </a:xfrm>
      </p:grpSpPr>
      <p:sp>
        <p:nvSpPr>
          <p:cNvPr id="346" name="Google Shape;346;p31"/>
          <p:cNvSpPr txBox="1">
            <a:spLocks noGrp="1"/>
          </p:cNvSpPr>
          <p:nvPr>
            <p:ph type="body" idx="1"/>
          </p:nvPr>
        </p:nvSpPr>
        <p:spPr>
          <a:xfrm>
            <a:off x="381000" y="1225550"/>
            <a:ext cx="8686800" cy="4946650"/>
          </a:xfrm>
          <a:prstGeom prst="rect">
            <a:avLst/>
          </a:prstGeom>
          <a:noFill/>
          <a:ln>
            <a:noFill/>
          </a:ln>
        </p:spPr>
        <p:txBody>
          <a:bodyPr spcFirstLastPara="1" wrap="square" lIns="91425" tIns="45700" rIns="91425" bIns="45700" anchor="t" anchorCtr="0">
            <a:noAutofit/>
          </a:bodyPr>
          <a:lstStyle/>
          <a:p>
            <a:pPr marL="0" lvl="0" indent="0" algn="l" rtl="0">
              <a:lnSpc>
                <a:spcPct val="120000"/>
              </a:lnSpc>
              <a:spcBef>
                <a:spcPts val="0"/>
              </a:spcBef>
              <a:spcAft>
                <a:spcPts val="0"/>
              </a:spcAft>
              <a:buClr>
                <a:schemeClr val="dk1"/>
              </a:buClr>
              <a:buSzPts val="2400"/>
              <a:buNone/>
            </a:pPr>
            <a:r>
              <a:rPr lang="en-US" sz="2400" b="1"/>
              <a:t>Nesting of Functions</a:t>
            </a:r>
            <a:endParaRPr/>
          </a:p>
          <a:p>
            <a:pPr marL="731520" lvl="0" indent="-365760" algn="l" rtl="0">
              <a:lnSpc>
                <a:spcPct val="120000"/>
              </a:lnSpc>
              <a:spcBef>
                <a:spcPts val="0"/>
              </a:spcBef>
              <a:spcAft>
                <a:spcPts val="0"/>
              </a:spcAft>
              <a:buClr>
                <a:schemeClr val="dk1"/>
              </a:buClr>
              <a:buSzPts val="2200"/>
              <a:buChar char="•"/>
            </a:pPr>
            <a:r>
              <a:rPr lang="en-US" sz="2200"/>
              <a:t>In case of nesting of functions  the inner most functions is evaluated first &amp; the out put of that function serves as input to outer function. </a:t>
            </a:r>
            <a:endParaRPr sz="2200"/>
          </a:p>
          <a:p>
            <a:pPr marL="731520" lvl="0" indent="-365760" algn="l" rtl="0">
              <a:lnSpc>
                <a:spcPct val="120000"/>
              </a:lnSpc>
              <a:spcBef>
                <a:spcPts val="0"/>
              </a:spcBef>
              <a:spcAft>
                <a:spcPts val="0"/>
              </a:spcAft>
              <a:buClr>
                <a:schemeClr val="dk1"/>
              </a:buClr>
              <a:buSzPts val="2200"/>
              <a:buChar char="•"/>
            </a:pPr>
            <a:r>
              <a:rPr lang="en-US" sz="2200"/>
              <a:t>The process goes till outer most function return the value.</a:t>
            </a:r>
            <a:endParaRPr/>
          </a:p>
          <a:p>
            <a:pPr marL="731520" lvl="0" indent="-365760" algn="l" rtl="0">
              <a:lnSpc>
                <a:spcPct val="120000"/>
              </a:lnSpc>
              <a:spcBef>
                <a:spcPts val="0"/>
              </a:spcBef>
              <a:spcAft>
                <a:spcPts val="0"/>
              </a:spcAft>
              <a:buClr>
                <a:schemeClr val="dk1"/>
              </a:buClr>
              <a:buSzPts val="2200"/>
              <a:buChar char="•"/>
            </a:pPr>
            <a:r>
              <a:rPr lang="en-US" sz="2200"/>
              <a:t>Scalar functions can be nested to any level. Though Some database vendors have their own restrictions. </a:t>
            </a:r>
            <a:endParaRPr sz="2200"/>
          </a:p>
          <a:p>
            <a:pPr marL="0" lvl="0" indent="0" algn="l" rtl="0">
              <a:lnSpc>
                <a:spcPct val="120000"/>
              </a:lnSpc>
              <a:spcBef>
                <a:spcPts val="0"/>
              </a:spcBef>
              <a:spcAft>
                <a:spcPts val="0"/>
              </a:spcAft>
              <a:buClr>
                <a:schemeClr val="dk1"/>
              </a:buClr>
              <a:buSzPts val="2400"/>
              <a:buNone/>
            </a:pPr>
            <a:r>
              <a:rPr lang="en-US" sz="2400"/>
              <a:t>   </a:t>
            </a:r>
            <a:r>
              <a:rPr lang="en-US" sz="2400" b="1"/>
              <a:t>Example</a:t>
            </a:r>
            <a:r>
              <a:rPr lang="en-US" sz="2400"/>
              <a:t>: </a:t>
            </a:r>
            <a:endParaRPr/>
          </a:p>
          <a:p>
            <a:pPr marL="342900" lvl="0" indent="-190500" algn="l" rtl="0">
              <a:lnSpc>
                <a:spcPct val="120000"/>
              </a:lnSpc>
              <a:spcBef>
                <a:spcPts val="0"/>
              </a:spcBef>
              <a:spcAft>
                <a:spcPts val="0"/>
              </a:spcAft>
              <a:buClr>
                <a:schemeClr val="dk1"/>
              </a:buClr>
              <a:buSzPts val="2400"/>
              <a:buNone/>
            </a:pPr>
            <a:endParaRPr sz="2400"/>
          </a:p>
          <a:p>
            <a:pPr marL="342900" lvl="0" indent="-190500" algn="l" rtl="0">
              <a:lnSpc>
                <a:spcPct val="120000"/>
              </a:lnSpc>
              <a:spcBef>
                <a:spcPts val="0"/>
              </a:spcBef>
              <a:spcAft>
                <a:spcPts val="0"/>
              </a:spcAft>
              <a:buClr>
                <a:schemeClr val="dk1"/>
              </a:buClr>
              <a:buSzPts val="2400"/>
              <a:buNone/>
            </a:pPr>
            <a:endParaRPr sz="2400"/>
          </a:p>
          <a:p>
            <a:pPr marL="0" lvl="0" indent="0" algn="l" rtl="0">
              <a:lnSpc>
                <a:spcPct val="120000"/>
              </a:lnSpc>
              <a:spcBef>
                <a:spcPts val="0"/>
              </a:spcBef>
              <a:spcAft>
                <a:spcPts val="0"/>
              </a:spcAft>
              <a:buClr>
                <a:schemeClr val="dk1"/>
              </a:buClr>
              <a:buSzPts val="2400"/>
              <a:buNone/>
            </a:pPr>
            <a:endParaRPr sz="2400" b="1">
              <a:latin typeface="Verdana"/>
              <a:ea typeface="Verdana"/>
              <a:cs typeface="Verdana"/>
              <a:sym typeface="Verdana"/>
            </a:endParaRPr>
          </a:p>
          <a:p>
            <a:pPr marL="285750" lvl="1" indent="-133350" algn="l" rtl="0">
              <a:lnSpc>
                <a:spcPct val="120000"/>
              </a:lnSpc>
              <a:spcBef>
                <a:spcPts val="0"/>
              </a:spcBef>
              <a:spcAft>
                <a:spcPts val="0"/>
              </a:spcAft>
              <a:buClr>
                <a:schemeClr val="dk1"/>
              </a:buClr>
              <a:buSzPts val="2400"/>
              <a:buFont typeface="Arial"/>
              <a:buNone/>
            </a:pPr>
            <a:endParaRPr/>
          </a:p>
          <a:p>
            <a:pPr marL="285750" lvl="1" indent="-133350" algn="l" rtl="0">
              <a:lnSpc>
                <a:spcPct val="120000"/>
              </a:lnSpc>
              <a:spcBef>
                <a:spcPts val="0"/>
              </a:spcBef>
              <a:spcAft>
                <a:spcPts val="0"/>
              </a:spcAft>
              <a:buClr>
                <a:schemeClr val="dk1"/>
              </a:buClr>
              <a:buSzPts val="2400"/>
              <a:buFont typeface="Arial"/>
              <a:buNone/>
            </a:pPr>
            <a:endParaRPr/>
          </a:p>
          <a:p>
            <a:pPr marL="285750" lvl="1" indent="-133350" algn="l" rtl="0">
              <a:lnSpc>
                <a:spcPct val="120000"/>
              </a:lnSpc>
              <a:spcBef>
                <a:spcPts val="0"/>
              </a:spcBef>
              <a:spcAft>
                <a:spcPts val="0"/>
              </a:spcAft>
              <a:buClr>
                <a:schemeClr val="dk1"/>
              </a:buClr>
              <a:buSzPts val="2400"/>
              <a:buFont typeface="Arial"/>
              <a:buNone/>
            </a:pPr>
            <a:endParaRPr/>
          </a:p>
          <a:p>
            <a:pPr marL="285750" lvl="1" indent="-133350" algn="l" rtl="0">
              <a:lnSpc>
                <a:spcPct val="120000"/>
              </a:lnSpc>
              <a:spcBef>
                <a:spcPts val="0"/>
              </a:spcBef>
              <a:spcAft>
                <a:spcPts val="0"/>
              </a:spcAft>
              <a:buClr>
                <a:schemeClr val="dk1"/>
              </a:buClr>
              <a:buSzPts val="2400"/>
              <a:buFont typeface="Arial"/>
              <a:buNone/>
            </a:pPr>
            <a:endParaRPr/>
          </a:p>
          <a:p>
            <a:pPr marL="285750" lvl="1" indent="-133350" algn="l" rtl="0">
              <a:lnSpc>
                <a:spcPct val="120000"/>
              </a:lnSpc>
              <a:spcBef>
                <a:spcPts val="0"/>
              </a:spcBef>
              <a:spcAft>
                <a:spcPts val="0"/>
              </a:spcAft>
              <a:buClr>
                <a:schemeClr val="dk1"/>
              </a:buClr>
              <a:buSzPts val="2400"/>
              <a:buFont typeface="Arial"/>
              <a:buNone/>
            </a:pPr>
            <a:endParaRPr/>
          </a:p>
        </p:txBody>
      </p:sp>
      <p:sp>
        <p:nvSpPr>
          <p:cNvPr id="347" name="Google Shape;347;p31"/>
          <p:cNvSpPr txBox="1">
            <a:spLocks noGrp="1"/>
          </p:cNvSpPr>
          <p:nvPr>
            <p:ph type="title"/>
          </p:nvPr>
        </p:nvSpPr>
        <p:spPr>
          <a:xfrm>
            <a:off x="1303020" y="-152400"/>
            <a:ext cx="829818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Nesting Of Functions</a:t>
            </a:r>
            <a:endParaRPr/>
          </a:p>
        </p:txBody>
      </p:sp>
      <p:sp>
        <p:nvSpPr>
          <p:cNvPr id="348" name="Google Shape;348;p31"/>
          <p:cNvSpPr txBox="1"/>
          <p:nvPr/>
        </p:nvSpPr>
        <p:spPr>
          <a:xfrm>
            <a:off x="972343" y="4114800"/>
            <a:ext cx="6495257" cy="2185214"/>
          </a:xfrm>
          <a:prstGeom prst="rect">
            <a:avLst/>
          </a:prstGeom>
          <a:gradFill>
            <a:gsLst>
              <a:gs pos="0">
                <a:srgbClr val="9FC3FF"/>
              </a:gs>
              <a:gs pos="35000">
                <a:srgbClr val="BDD5FF"/>
              </a:gs>
              <a:gs pos="100000">
                <a:srgbClr val="E4EEFF"/>
              </a:gs>
            </a:gsLst>
            <a:lin ang="16200000" scaled="0"/>
          </a:gradFill>
          <a:ln w="9525" cap="flat" cmpd="sng">
            <a:solidFill>
              <a:srgbClr val="4A7DBA"/>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0070C0"/>
                </a:solidFill>
                <a:latin typeface="Arial"/>
                <a:ea typeface="Arial"/>
                <a:cs typeface="Arial"/>
                <a:sym typeface="Arial"/>
              </a:rPr>
              <a:t>SELECT  AVG(IFNULL(</a:t>
            </a:r>
            <a:r>
              <a:rPr lang="en-US" sz="1600" b="1">
                <a:solidFill>
                  <a:srgbClr val="BC8F00"/>
                </a:solidFill>
                <a:latin typeface="Calibri"/>
                <a:ea typeface="Calibri"/>
                <a:cs typeface="Calibri"/>
                <a:sym typeface="Calibri"/>
              </a:rPr>
              <a:t>CREDITLIMIT, 0</a:t>
            </a:r>
            <a:r>
              <a:rPr lang="en-US" sz="1600">
                <a:solidFill>
                  <a:srgbClr val="00B050"/>
                </a:solidFill>
                <a:latin typeface="Arial"/>
                <a:ea typeface="Arial"/>
                <a:cs typeface="Arial"/>
                <a:sym typeface="Arial"/>
              </a:rPr>
              <a:t>)</a:t>
            </a:r>
            <a:r>
              <a:rPr lang="en-US" sz="1600">
                <a:solidFill>
                  <a:srgbClr val="0070C0"/>
                </a:solidFill>
                <a:latin typeface="Arial"/>
                <a:ea typeface="Arial"/>
                <a:cs typeface="Arial"/>
                <a:sym typeface="Arial"/>
              </a:rPr>
              <a:t>)  </a:t>
            </a:r>
            <a:endParaRPr/>
          </a:p>
          <a:p>
            <a:pPr marL="0" marR="0" lvl="0" indent="0" algn="l" rtl="0">
              <a:spcBef>
                <a:spcPts val="0"/>
              </a:spcBef>
              <a:spcAft>
                <a:spcPts val="0"/>
              </a:spcAft>
              <a:buNone/>
            </a:pPr>
            <a:r>
              <a:rPr lang="en-US" sz="1600">
                <a:solidFill>
                  <a:srgbClr val="0070C0"/>
                </a:solidFill>
                <a:latin typeface="Arial"/>
                <a:ea typeface="Arial"/>
                <a:cs typeface="Arial"/>
                <a:sym typeface="Arial"/>
              </a:rPr>
              <a:t>FROM  </a:t>
            </a:r>
            <a:r>
              <a:rPr lang="en-US" sz="1600" b="1">
                <a:solidFill>
                  <a:srgbClr val="BC8F00"/>
                </a:solidFill>
                <a:latin typeface="Calibri"/>
                <a:ea typeface="Calibri"/>
                <a:cs typeface="Calibri"/>
                <a:sym typeface="Calibri"/>
              </a:rPr>
              <a:t>CUSTOMERS</a:t>
            </a:r>
            <a:r>
              <a:rPr lang="en-US" sz="1600">
                <a:solidFill>
                  <a:srgbClr val="0070C0"/>
                </a:solidFill>
                <a:latin typeface="Arial"/>
                <a:ea typeface="Arial"/>
                <a:cs typeface="Arial"/>
                <a:sym typeface="Arial"/>
              </a:rPr>
              <a:t>;</a:t>
            </a:r>
            <a:endParaRPr sz="1600">
              <a:solidFill>
                <a:schemeClr val="dk1"/>
              </a:solidFill>
              <a:latin typeface="Arial"/>
              <a:ea typeface="Arial"/>
              <a:cs typeface="Arial"/>
              <a:sym typeface="Arial"/>
            </a:endParaRPr>
          </a:p>
          <a:p>
            <a:pPr marL="0" marR="0" lvl="0" indent="0" algn="l" rtl="0">
              <a:spcBef>
                <a:spcPts val="1200"/>
              </a:spcBef>
              <a:spcAft>
                <a:spcPts val="0"/>
              </a:spcAft>
              <a:buNone/>
            </a:pPr>
            <a:r>
              <a:rPr lang="en-US" sz="1400" b="1">
                <a:solidFill>
                  <a:srgbClr val="0C0C0C"/>
                </a:solidFill>
                <a:latin typeface="Arial"/>
                <a:ea typeface="Arial"/>
                <a:cs typeface="Arial"/>
                <a:sym typeface="Arial"/>
              </a:rPr>
              <a:t>Step 1: </a:t>
            </a:r>
            <a:endParaRPr/>
          </a:p>
          <a:p>
            <a:pPr marL="742950" marR="0" lvl="1" indent="-285750" algn="l" rtl="0">
              <a:spcBef>
                <a:spcPts val="0"/>
              </a:spcBef>
              <a:spcAft>
                <a:spcPts val="0"/>
              </a:spcAft>
              <a:buClr>
                <a:srgbClr val="0C0C0C"/>
              </a:buClr>
              <a:buSzPts val="1400"/>
              <a:buFont typeface="Arial"/>
              <a:buChar char="•"/>
            </a:pPr>
            <a:r>
              <a:rPr lang="en-US" sz="1400" b="0" i="0" u="none" strike="noStrike" cap="none">
                <a:solidFill>
                  <a:srgbClr val="0C0C0C"/>
                </a:solidFill>
                <a:latin typeface="Arial"/>
                <a:ea typeface="Arial"/>
                <a:cs typeface="Arial"/>
                <a:sym typeface="Arial"/>
              </a:rPr>
              <a:t>IFNULL function is applied:</a:t>
            </a:r>
            <a:endParaRPr/>
          </a:p>
          <a:p>
            <a:pPr marL="742950" marR="0" lvl="1" indent="-285750" algn="l" rtl="0">
              <a:spcBef>
                <a:spcPts val="0"/>
              </a:spcBef>
              <a:spcAft>
                <a:spcPts val="0"/>
              </a:spcAft>
              <a:buClr>
                <a:srgbClr val="0C0C0C"/>
              </a:buClr>
              <a:buSzPts val="1400"/>
              <a:buFont typeface="Arial"/>
              <a:buChar char="•"/>
            </a:pPr>
            <a:r>
              <a:rPr lang="en-US" sz="1400" b="0" i="0" u="none" strike="noStrike" cap="none">
                <a:solidFill>
                  <a:srgbClr val="0C0C0C"/>
                </a:solidFill>
                <a:latin typeface="Arial"/>
                <a:ea typeface="Arial"/>
                <a:cs typeface="Arial"/>
                <a:sym typeface="Arial"/>
              </a:rPr>
              <a:t>If the SAL column in NULL, it is replaced as 0</a:t>
            </a:r>
            <a:endParaRPr/>
          </a:p>
          <a:p>
            <a:pPr marL="0" marR="0" lvl="0" indent="0" algn="l" rtl="0">
              <a:spcBef>
                <a:spcPts val="1200"/>
              </a:spcBef>
              <a:spcAft>
                <a:spcPts val="0"/>
              </a:spcAft>
              <a:buNone/>
            </a:pPr>
            <a:r>
              <a:rPr lang="en-US" sz="1400" b="1">
                <a:solidFill>
                  <a:srgbClr val="0C0C0C"/>
                </a:solidFill>
                <a:latin typeface="Arial"/>
                <a:ea typeface="Arial"/>
                <a:cs typeface="Arial"/>
                <a:sym typeface="Arial"/>
              </a:rPr>
              <a:t>Step 2: </a:t>
            </a:r>
            <a:endParaRPr/>
          </a:p>
          <a:p>
            <a:pPr marL="742950" marR="0" lvl="1" indent="-285750" algn="l" rtl="0">
              <a:spcBef>
                <a:spcPts val="0"/>
              </a:spcBef>
              <a:spcAft>
                <a:spcPts val="0"/>
              </a:spcAft>
              <a:buClr>
                <a:srgbClr val="0C0C0C"/>
              </a:buClr>
              <a:buSzPts val="1400"/>
              <a:buFont typeface="Arial"/>
              <a:buChar char="•"/>
            </a:pPr>
            <a:r>
              <a:rPr lang="en-US" sz="1400" b="0" i="0" u="none" strike="noStrike" cap="none">
                <a:solidFill>
                  <a:srgbClr val="0C0C0C"/>
                </a:solidFill>
                <a:latin typeface="Arial"/>
                <a:ea typeface="Arial"/>
                <a:cs typeface="Arial"/>
                <a:sym typeface="Arial"/>
              </a:rPr>
              <a:t>AVG function is applied:</a:t>
            </a:r>
            <a:endParaRPr/>
          </a:p>
          <a:p>
            <a:pPr marL="742950" marR="0" lvl="1" indent="-285750" algn="l" rtl="0">
              <a:spcBef>
                <a:spcPts val="0"/>
              </a:spcBef>
              <a:spcAft>
                <a:spcPts val="0"/>
              </a:spcAft>
              <a:buClr>
                <a:srgbClr val="0C0C0C"/>
              </a:buClr>
              <a:buSzPts val="1400"/>
              <a:buFont typeface="Arial"/>
              <a:buChar char="•"/>
            </a:pPr>
            <a:r>
              <a:rPr lang="en-US" sz="1400" b="0" i="0" u="none" strike="noStrike" cap="none">
                <a:solidFill>
                  <a:srgbClr val="0C0C0C"/>
                </a:solidFill>
                <a:latin typeface="Arial"/>
                <a:ea typeface="Arial"/>
                <a:cs typeface="Arial"/>
                <a:sym typeface="Arial"/>
              </a:rPr>
              <a:t>Average is taken after the IFNULL function is applied</a:t>
            </a:r>
            <a:endParaRPr/>
          </a:p>
        </p:txBody>
      </p:sp>
      <p:sp>
        <p:nvSpPr>
          <p:cNvPr id="349" name="Google Shape;349;p31"/>
          <p:cNvSpPr txBox="1">
            <a:spLocks noGrp="1"/>
          </p:cNvSpPr>
          <p:nvPr>
            <p:ph type="sldNum" idx="12"/>
          </p:nvPr>
        </p:nvSpPr>
        <p:spPr>
          <a:xfrm>
            <a:off x="138752" y="6414139"/>
            <a:ext cx="457200" cy="277813"/>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fld id="{00000000-1234-1234-1234-123412341234}" type="slidenum">
              <a:rPr lang="en-US"/>
              <a:t>31</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54"/>
        <p:cNvGrpSpPr/>
        <p:nvPr/>
      </p:nvGrpSpPr>
      <p:grpSpPr>
        <a:xfrm>
          <a:off x="0" y="0"/>
          <a:ext cx="0" cy="0"/>
          <a:chOff x="0" y="0"/>
          <a:chExt cx="0" cy="0"/>
        </a:xfrm>
      </p:grpSpPr>
      <p:sp>
        <p:nvSpPr>
          <p:cNvPr id="355" name="Google Shape;355;p32"/>
          <p:cNvSpPr txBox="1">
            <a:spLocks noGrp="1"/>
          </p:cNvSpPr>
          <p:nvPr>
            <p:ph type="body" idx="1"/>
          </p:nvPr>
        </p:nvSpPr>
        <p:spPr>
          <a:xfrm>
            <a:off x="381000" y="1225550"/>
            <a:ext cx="8686800" cy="4946650"/>
          </a:xfrm>
          <a:prstGeom prst="rect">
            <a:avLst/>
          </a:prstGeom>
          <a:noFill/>
          <a:ln>
            <a:noFill/>
          </a:ln>
        </p:spPr>
        <p:txBody>
          <a:bodyPr spcFirstLastPara="1" wrap="square" lIns="91425" tIns="45700" rIns="91425" bIns="45700" anchor="t" anchorCtr="0">
            <a:noAutofit/>
          </a:bodyPr>
          <a:lstStyle/>
          <a:p>
            <a:pPr marL="0" lvl="0" indent="0" algn="l" rtl="0">
              <a:lnSpc>
                <a:spcPct val="120000"/>
              </a:lnSpc>
              <a:spcBef>
                <a:spcPts val="0"/>
              </a:spcBef>
              <a:spcAft>
                <a:spcPts val="0"/>
              </a:spcAft>
              <a:buClr>
                <a:schemeClr val="dk1"/>
              </a:buClr>
              <a:buSzPts val="2400"/>
              <a:buNone/>
            </a:pPr>
            <a:r>
              <a:rPr lang="en-US" sz="2400" b="1">
                <a:latin typeface="Calibri"/>
                <a:ea typeface="Calibri"/>
                <a:cs typeface="Calibri"/>
                <a:sym typeface="Calibri"/>
              </a:rPr>
              <a:t>What is Expression?</a:t>
            </a:r>
            <a:endParaRPr/>
          </a:p>
          <a:p>
            <a:pPr marL="731520" lvl="0" indent="-365760" algn="l" rtl="0">
              <a:lnSpc>
                <a:spcPct val="120000"/>
              </a:lnSpc>
              <a:spcBef>
                <a:spcPts val="0"/>
              </a:spcBef>
              <a:spcAft>
                <a:spcPts val="0"/>
              </a:spcAft>
              <a:buClr>
                <a:schemeClr val="dk1"/>
              </a:buClr>
              <a:buSzPts val="2200"/>
              <a:buChar char="•"/>
            </a:pPr>
            <a:r>
              <a:rPr lang="en-US" sz="2200">
                <a:latin typeface="Calibri"/>
                <a:ea typeface="Calibri"/>
                <a:cs typeface="Calibri"/>
                <a:sym typeface="Calibri"/>
              </a:rPr>
              <a:t>An expression is a combination of one or more of conditions, values, operators, and SQL functions that evaluates to a value. </a:t>
            </a:r>
            <a:endParaRPr/>
          </a:p>
          <a:p>
            <a:pPr marL="0" lvl="0" indent="0" algn="l" rtl="0">
              <a:lnSpc>
                <a:spcPct val="120000"/>
              </a:lnSpc>
              <a:spcBef>
                <a:spcPts val="0"/>
              </a:spcBef>
              <a:spcAft>
                <a:spcPts val="0"/>
              </a:spcAft>
              <a:buClr>
                <a:schemeClr val="dk1"/>
              </a:buClr>
              <a:buSzPts val="2400"/>
              <a:buNone/>
            </a:pPr>
            <a:endParaRPr sz="2400" b="1">
              <a:latin typeface="Calibri"/>
              <a:ea typeface="Calibri"/>
              <a:cs typeface="Calibri"/>
              <a:sym typeface="Calibri"/>
            </a:endParaRPr>
          </a:p>
          <a:p>
            <a:pPr marL="0" lvl="0" indent="0" algn="l" rtl="0">
              <a:lnSpc>
                <a:spcPct val="120000"/>
              </a:lnSpc>
              <a:spcBef>
                <a:spcPts val="0"/>
              </a:spcBef>
              <a:spcAft>
                <a:spcPts val="0"/>
              </a:spcAft>
              <a:buClr>
                <a:schemeClr val="dk1"/>
              </a:buClr>
              <a:buSzPts val="2400"/>
              <a:buNone/>
            </a:pPr>
            <a:r>
              <a:rPr lang="en-US" sz="2400" b="1">
                <a:latin typeface="Calibri"/>
                <a:ea typeface="Calibri"/>
                <a:cs typeface="Calibri"/>
                <a:sym typeface="Calibri"/>
              </a:rPr>
              <a:t>Where they can be used?</a:t>
            </a:r>
            <a:endParaRPr/>
          </a:p>
          <a:p>
            <a:pPr marL="731520" lvl="0" indent="-365760" algn="l" rtl="0">
              <a:lnSpc>
                <a:spcPct val="120000"/>
              </a:lnSpc>
              <a:spcBef>
                <a:spcPts val="0"/>
              </a:spcBef>
              <a:spcAft>
                <a:spcPts val="0"/>
              </a:spcAft>
              <a:buClr>
                <a:schemeClr val="dk1"/>
              </a:buClr>
              <a:buSzPts val="2200"/>
              <a:buChar char="•"/>
            </a:pPr>
            <a:r>
              <a:rPr lang="en-US" sz="2200">
                <a:latin typeface="Calibri"/>
                <a:ea typeface="Calibri"/>
                <a:cs typeface="Calibri"/>
                <a:sym typeface="Calibri"/>
              </a:rPr>
              <a:t>Expressions can be used in,</a:t>
            </a:r>
            <a:endParaRPr/>
          </a:p>
          <a:p>
            <a:pPr marL="1188720" lvl="4" indent="-365759" algn="l" rtl="0">
              <a:lnSpc>
                <a:spcPct val="120000"/>
              </a:lnSpc>
              <a:spcBef>
                <a:spcPts val="0"/>
              </a:spcBef>
              <a:spcAft>
                <a:spcPts val="0"/>
              </a:spcAft>
              <a:buClr>
                <a:schemeClr val="dk1"/>
              </a:buClr>
              <a:buSzPts val="2000"/>
              <a:buFont typeface="Arial"/>
              <a:buChar char="•"/>
            </a:pPr>
            <a:r>
              <a:rPr lang="en-US" sz="2000">
                <a:latin typeface="Calibri"/>
                <a:ea typeface="Calibri"/>
                <a:cs typeface="Calibri"/>
                <a:sym typeface="Calibri"/>
              </a:rPr>
              <a:t>The SELECT statement. </a:t>
            </a:r>
            <a:endParaRPr/>
          </a:p>
          <a:p>
            <a:pPr marL="1188720" lvl="4" indent="-365759" algn="l" rtl="0">
              <a:lnSpc>
                <a:spcPct val="120000"/>
              </a:lnSpc>
              <a:spcBef>
                <a:spcPts val="0"/>
              </a:spcBef>
              <a:spcAft>
                <a:spcPts val="0"/>
              </a:spcAft>
              <a:buClr>
                <a:schemeClr val="dk1"/>
              </a:buClr>
              <a:buSzPts val="2000"/>
              <a:buFont typeface="Arial"/>
              <a:buChar char="•"/>
            </a:pPr>
            <a:r>
              <a:rPr lang="en-US" sz="2000">
                <a:latin typeface="Calibri"/>
                <a:ea typeface="Calibri"/>
                <a:cs typeface="Calibri"/>
                <a:sym typeface="Calibri"/>
              </a:rPr>
              <a:t>A condition of the WHERE,HAVING and ORDER BY clause.</a:t>
            </a:r>
            <a:endParaRPr/>
          </a:p>
          <a:p>
            <a:pPr marL="1188720" lvl="4" indent="-365759" algn="l" rtl="0">
              <a:lnSpc>
                <a:spcPct val="120000"/>
              </a:lnSpc>
              <a:spcBef>
                <a:spcPts val="0"/>
              </a:spcBef>
              <a:spcAft>
                <a:spcPts val="0"/>
              </a:spcAft>
              <a:buClr>
                <a:schemeClr val="dk1"/>
              </a:buClr>
              <a:buSzPts val="2000"/>
              <a:buFont typeface="Arial"/>
              <a:buChar char="•"/>
            </a:pPr>
            <a:r>
              <a:rPr lang="en-US" sz="2000">
                <a:latin typeface="Calibri"/>
                <a:ea typeface="Calibri"/>
                <a:cs typeface="Calibri"/>
                <a:sym typeface="Calibri"/>
              </a:rPr>
              <a:t>The VALUES clause of the INSERT statement. </a:t>
            </a:r>
            <a:endParaRPr/>
          </a:p>
          <a:p>
            <a:pPr marL="1188720" lvl="4" indent="-365759" algn="l" rtl="0">
              <a:lnSpc>
                <a:spcPct val="120000"/>
              </a:lnSpc>
              <a:spcBef>
                <a:spcPts val="0"/>
              </a:spcBef>
              <a:spcAft>
                <a:spcPts val="0"/>
              </a:spcAft>
              <a:buClr>
                <a:schemeClr val="dk1"/>
              </a:buClr>
              <a:buSzPts val="2000"/>
              <a:buFont typeface="Arial"/>
              <a:buChar char="•"/>
            </a:pPr>
            <a:r>
              <a:rPr lang="en-US" sz="2000">
                <a:latin typeface="Calibri"/>
                <a:ea typeface="Calibri"/>
                <a:cs typeface="Calibri"/>
                <a:sym typeface="Calibri"/>
              </a:rPr>
              <a:t>The SET clause of the UPDATE statement. </a:t>
            </a:r>
            <a:endParaRPr/>
          </a:p>
          <a:p>
            <a:pPr marL="742950" lvl="1" indent="-213359" algn="l" rtl="0">
              <a:lnSpc>
                <a:spcPct val="120000"/>
              </a:lnSpc>
              <a:spcBef>
                <a:spcPts val="0"/>
              </a:spcBef>
              <a:spcAft>
                <a:spcPts val="0"/>
              </a:spcAft>
              <a:buClr>
                <a:schemeClr val="dk1"/>
              </a:buClr>
              <a:buSzPts val="2400"/>
              <a:buFont typeface="Noto Sans Symbols"/>
              <a:buNone/>
            </a:pPr>
            <a:endParaRPr>
              <a:latin typeface="Calibri"/>
              <a:ea typeface="Calibri"/>
              <a:cs typeface="Calibri"/>
              <a:sym typeface="Calibri"/>
            </a:endParaRPr>
          </a:p>
          <a:p>
            <a:pPr marL="342900" lvl="0" indent="-190500" algn="l" rtl="0">
              <a:lnSpc>
                <a:spcPct val="120000"/>
              </a:lnSpc>
              <a:spcBef>
                <a:spcPts val="0"/>
              </a:spcBef>
              <a:spcAft>
                <a:spcPts val="0"/>
              </a:spcAft>
              <a:buClr>
                <a:schemeClr val="dk1"/>
              </a:buClr>
              <a:buSzPts val="2400"/>
              <a:buNone/>
            </a:pPr>
            <a:endParaRPr sz="2400">
              <a:latin typeface="Calibri"/>
              <a:ea typeface="Calibri"/>
              <a:cs typeface="Calibri"/>
              <a:sym typeface="Calibri"/>
            </a:endParaRPr>
          </a:p>
          <a:p>
            <a:pPr marL="342900" lvl="0" indent="-190500" algn="l" rtl="0">
              <a:lnSpc>
                <a:spcPct val="120000"/>
              </a:lnSpc>
              <a:spcBef>
                <a:spcPts val="0"/>
              </a:spcBef>
              <a:spcAft>
                <a:spcPts val="0"/>
              </a:spcAft>
              <a:buClr>
                <a:schemeClr val="dk1"/>
              </a:buClr>
              <a:buSzPts val="2400"/>
              <a:buNone/>
            </a:pPr>
            <a:endParaRPr sz="2400">
              <a:latin typeface="Calibri"/>
              <a:ea typeface="Calibri"/>
              <a:cs typeface="Calibri"/>
              <a:sym typeface="Calibri"/>
            </a:endParaRPr>
          </a:p>
          <a:p>
            <a:pPr marL="0" lvl="0" indent="0" algn="l" rtl="0">
              <a:lnSpc>
                <a:spcPct val="120000"/>
              </a:lnSpc>
              <a:spcBef>
                <a:spcPts val="0"/>
              </a:spcBef>
              <a:spcAft>
                <a:spcPts val="0"/>
              </a:spcAft>
              <a:buClr>
                <a:schemeClr val="dk1"/>
              </a:buClr>
              <a:buSzPts val="2400"/>
              <a:buNone/>
            </a:pPr>
            <a:endParaRPr sz="2400" b="1">
              <a:latin typeface="Calibri"/>
              <a:ea typeface="Calibri"/>
              <a:cs typeface="Calibri"/>
              <a:sym typeface="Calibri"/>
            </a:endParaRPr>
          </a:p>
          <a:p>
            <a:pPr marL="285750" lvl="1" indent="-133350" algn="l" rtl="0">
              <a:lnSpc>
                <a:spcPct val="120000"/>
              </a:lnSpc>
              <a:spcBef>
                <a:spcPts val="0"/>
              </a:spcBef>
              <a:spcAft>
                <a:spcPts val="0"/>
              </a:spcAft>
              <a:buClr>
                <a:schemeClr val="dk1"/>
              </a:buClr>
              <a:buSzPts val="2400"/>
              <a:buFont typeface="Arial"/>
              <a:buNone/>
            </a:pPr>
            <a:endParaRPr>
              <a:latin typeface="Calibri"/>
              <a:ea typeface="Calibri"/>
              <a:cs typeface="Calibri"/>
              <a:sym typeface="Calibri"/>
            </a:endParaRPr>
          </a:p>
          <a:p>
            <a:pPr marL="285750" lvl="1" indent="-133350" algn="l" rtl="0">
              <a:lnSpc>
                <a:spcPct val="120000"/>
              </a:lnSpc>
              <a:spcBef>
                <a:spcPts val="0"/>
              </a:spcBef>
              <a:spcAft>
                <a:spcPts val="0"/>
              </a:spcAft>
              <a:buClr>
                <a:schemeClr val="dk1"/>
              </a:buClr>
              <a:buSzPts val="2400"/>
              <a:buFont typeface="Arial"/>
              <a:buNone/>
            </a:pPr>
            <a:endParaRPr>
              <a:latin typeface="Calibri"/>
              <a:ea typeface="Calibri"/>
              <a:cs typeface="Calibri"/>
              <a:sym typeface="Calibri"/>
            </a:endParaRPr>
          </a:p>
          <a:p>
            <a:pPr marL="285750" lvl="1" indent="-133350" algn="l" rtl="0">
              <a:lnSpc>
                <a:spcPct val="120000"/>
              </a:lnSpc>
              <a:spcBef>
                <a:spcPts val="0"/>
              </a:spcBef>
              <a:spcAft>
                <a:spcPts val="0"/>
              </a:spcAft>
              <a:buClr>
                <a:schemeClr val="dk1"/>
              </a:buClr>
              <a:buSzPts val="2400"/>
              <a:buFont typeface="Arial"/>
              <a:buNone/>
            </a:pPr>
            <a:endParaRPr>
              <a:latin typeface="Calibri"/>
              <a:ea typeface="Calibri"/>
              <a:cs typeface="Calibri"/>
              <a:sym typeface="Calibri"/>
            </a:endParaRPr>
          </a:p>
          <a:p>
            <a:pPr marL="285750" lvl="1" indent="-133350" algn="l" rtl="0">
              <a:lnSpc>
                <a:spcPct val="120000"/>
              </a:lnSpc>
              <a:spcBef>
                <a:spcPts val="0"/>
              </a:spcBef>
              <a:spcAft>
                <a:spcPts val="0"/>
              </a:spcAft>
              <a:buClr>
                <a:schemeClr val="dk1"/>
              </a:buClr>
              <a:buSzPts val="2400"/>
              <a:buFont typeface="Arial"/>
              <a:buNone/>
            </a:pPr>
            <a:endParaRPr>
              <a:latin typeface="Calibri"/>
              <a:ea typeface="Calibri"/>
              <a:cs typeface="Calibri"/>
              <a:sym typeface="Calibri"/>
            </a:endParaRPr>
          </a:p>
          <a:p>
            <a:pPr marL="285750" lvl="1" indent="-133350" algn="l" rtl="0">
              <a:lnSpc>
                <a:spcPct val="120000"/>
              </a:lnSpc>
              <a:spcBef>
                <a:spcPts val="0"/>
              </a:spcBef>
              <a:spcAft>
                <a:spcPts val="0"/>
              </a:spcAft>
              <a:buClr>
                <a:schemeClr val="dk1"/>
              </a:buClr>
              <a:buSzPts val="2400"/>
              <a:buFont typeface="Arial"/>
              <a:buNone/>
            </a:pPr>
            <a:endParaRPr>
              <a:latin typeface="Calibri"/>
              <a:ea typeface="Calibri"/>
              <a:cs typeface="Calibri"/>
              <a:sym typeface="Calibri"/>
            </a:endParaRPr>
          </a:p>
        </p:txBody>
      </p:sp>
      <p:sp>
        <p:nvSpPr>
          <p:cNvPr id="356" name="Google Shape;356;p32"/>
          <p:cNvSpPr txBox="1">
            <a:spLocks noGrp="1"/>
          </p:cNvSpPr>
          <p:nvPr>
            <p:ph type="title"/>
          </p:nvPr>
        </p:nvSpPr>
        <p:spPr>
          <a:xfrm>
            <a:off x="1303020" y="-152400"/>
            <a:ext cx="829818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SQL Expression</a:t>
            </a:r>
            <a:endParaRPr/>
          </a:p>
        </p:txBody>
      </p:sp>
      <p:sp>
        <p:nvSpPr>
          <p:cNvPr id="357" name="Google Shape;357;p32"/>
          <p:cNvSpPr txBox="1">
            <a:spLocks noGrp="1"/>
          </p:cNvSpPr>
          <p:nvPr>
            <p:ph type="sldNum" idx="12"/>
          </p:nvPr>
        </p:nvSpPr>
        <p:spPr>
          <a:xfrm>
            <a:off x="138752" y="6414139"/>
            <a:ext cx="457200" cy="277813"/>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fld id="{00000000-1234-1234-1234-123412341234}" type="slidenum">
              <a:rPr lang="en-US"/>
              <a:t>32</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62"/>
        <p:cNvGrpSpPr/>
        <p:nvPr/>
      </p:nvGrpSpPr>
      <p:grpSpPr>
        <a:xfrm>
          <a:off x="0" y="0"/>
          <a:ext cx="0" cy="0"/>
          <a:chOff x="0" y="0"/>
          <a:chExt cx="0" cy="0"/>
        </a:xfrm>
      </p:grpSpPr>
      <p:sp>
        <p:nvSpPr>
          <p:cNvPr id="363" name="Google Shape;363;p33"/>
          <p:cNvSpPr txBox="1">
            <a:spLocks noGrp="1"/>
          </p:cNvSpPr>
          <p:nvPr>
            <p:ph type="body" idx="1"/>
          </p:nvPr>
        </p:nvSpPr>
        <p:spPr>
          <a:xfrm>
            <a:off x="381000" y="1225550"/>
            <a:ext cx="8686800" cy="49466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2400"/>
              <a:buNone/>
            </a:pPr>
            <a:r>
              <a:rPr lang="en-US" sz="2400" b="1">
                <a:latin typeface="Calibri"/>
                <a:ea typeface="Calibri"/>
                <a:cs typeface="Calibri"/>
                <a:sym typeface="Calibri"/>
              </a:rPr>
              <a:t>Example of Expression</a:t>
            </a:r>
            <a:endParaRPr/>
          </a:p>
          <a:p>
            <a:pPr marL="742950" lvl="1" indent="-133350" algn="l" rtl="0">
              <a:spcBef>
                <a:spcPts val="600"/>
              </a:spcBef>
              <a:spcAft>
                <a:spcPts val="0"/>
              </a:spcAft>
              <a:buClr>
                <a:schemeClr val="dk1"/>
              </a:buClr>
              <a:buSzPts val="2400"/>
              <a:buFont typeface="Noto Sans Symbols"/>
              <a:buNone/>
            </a:pPr>
            <a:endParaRPr>
              <a:latin typeface="Calibri"/>
              <a:ea typeface="Calibri"/>
              <a:cs typeface="Calibri"/>
              <a:sym typeface="Calibri"/>
            </a:endParaRPr>
          </a:p>
          <a:p>
            <a:pPr marL="342900" lvl="0" indent="-190500" algn="l" rtl="0">
              <a:spcBef>
                <a:spcPts val="480"/>
              </a:spcBef>
              <a:spcAft>
                <a:spcPts val="0"/>
              </a:spcAft>
              <a:buClr>
                <a:schemeClr val="dk1"/>
              </a:buClr>
              <a:buSzPts val="2400"/>
              <a:buFont typeface="Arial"/>
              <a:buNone/>
            </a:pPr>
            <a:endParaRPr sz="2400">
              <a:latin typeface="Calibri"/>
              <a:ea typeface="Calibri"/>
              <a:cs typeface="Calibri"/>
              <a:sym typeface="Calibri"/>
            </a:endParaRPr>
          </a:p>
          <a:p>
            <a:pPr marL="342900" lvl="0" indent="-190500" algn="l" rtl="0">
              <a:spcBef>
                <a:spcPts val="480"/>
              </a:spcBef>
              <a:spcAft>
                <a:spcPts val="0"/>
              </a:spcAft>
              <a:buClr>
                <a:schemeClr val="dk1"/>
              </a:buClr>
              <a:buSzPts val="2400"/>
              <a:buFont typeface="Arial"/>
              <a:buNone/>
            </a:pPr>
            <a:endParaRPr sz="2400">
              <a:latin typeface="Calibri"/>
              <a:ea typeface="Calibri"/>
              <a:cs typeface="Calibri"/>
              <a:sym typeface="Calibri"/>
            </a:endParaRPr>
          </a:p>
          <a:p>
            <a:pPr marL="0" lvl="0" indent="0" algn="l" rtl="0">
              <a:spcBef>
                <a:spcPts val="480"/>
              </a:spcBef>
              <a:spcAft>
                <a:spcPts val="0"/>
              </a:spcAft>
              <a:buClr>
                <a:schemeClr val="dk1"/>
              </a:buClr>
              <a:buSzPts val="2400"/>
              <a:buNone/>
            </a:pPr>
            <a:endParaRPr sz="2400" b="1">
              <a:latin typeface="Calibri"/>
              <a:ea typeface="Calibri"/>
              <a:cs typeface="Calibri"/>
              <a:sym typeface="Calibri"/>
            </a:endParaRPr>
          </a:p>
          <a:p>
            <a:pPr marL="285750" lvl="1" indent="-133350" algn="l" rtl="0">
              <a:spcBef>
                <a:spcPts val="480"/>
              </a:spcBef>
              <a:spcAft>
                <a:spcPts val="0"/>
              </a:spcAft>
              <a:buClr>
                <a:schemeClr val="dk1"/>
              </a:buClr>
              <a:buSzPts val="2400"/>
              <a:buFont typeface="Arial"/>
              <a:buNone/>
            </a:pPr>
            <a:endParaRPr>
              <a:latin typeface="Calibri"/>
              <a:ea typeface="Calibri"/>
              <a:cs typeface="Calibri"/>
              <a:sym typeface="Calibri"/>
            </a:endParaRPr>
          </a:p>
          <a:p>
            <a:pPr marL="285750" lvl="1" indent="-133350" algn="l" rtl="0">
              <a:spcBef>
                <a:spcPts val="480"/>
              </a:spcBef>
              <a:spcAft>
                <a:spcPts val="0"/>
              </a:spcAft>
              <a:buClr>
                <a:schemeClr val="dk1"/>
              </a:buClr>
              <a:buSzPts val="2400"/>
              <a:buFont typeface="Arial"/>
              <a:buNone/>
            </a:pPr>
            <a:endParaRPr>
              <a:latin typeface="Calibri"/>
              <a:ea typeface="Calibri"/>
              <a:cs typeface="Calibri"/>
              <a:sym typeface="Calibri"/>
            </a:endParaRPr>
          </a:p>
          <a:p>
            <a:pPr marL="285750" lvl="1" indent="-133350" algn="l" rtl="0">
              <a:spcBef>
                <a:spcPts val="480"/>
              </a:spcBef>
              <a:spcAft>
                <a:spcPts val="0"/>
              </a:spcAft>
              <a:buClr>
                <a:schemeClr val="dk1"/>
              </a:buClr>
              <a:buSzPts val="2400"/>
              <a:buFont typeface="Arial"/>
              <a:buNone/>
            </a:pPr>
            <a:endParaRPr>
              <a:latin typeface="Calibri"/>
              <a:ea typeface="Calibri"/>
              <a:cs typeface="Calibri"/>
              <a:sym typeface="Calibri"/>
            </a:endParaRPr>
          </a:p>
          <a:p>
            <a:pPr marL="285750" lvl="1" indent="-133350" algn="l" rtl="0">
              <a:spcBef>
                <a:spcPts val="480"/>
              </a:spcBef>
              <a:spcAft>
                <a:spcPts val="0"/>
              </a:spcAft>
              <a:buClr>
                <a:schemeClr val="dk1"/>
              </a:buClr>
              <a:buSzPts val="2400"/>
              <a:buFont typeface="Arial"/>
              <a:buNone/>
            </a:pPr>
            <a:endParaRPr>
              <a:latin typeface="Calibri"/>
              <a:ea typeface="Calibri"/>
              <a:cs typeface="Calibri"/>
              <a:sym typeface="Calibri"/>
            </a:endParaRPr>
          </a:p>
          <a:p>
            <a:pPr marL="285750" lvl="1" indent="-133350" algn="l" rtl="0">
              <a:spcBef>
                <a:spcPts val="480"/>
              </a:spcBef>
              <a:spcAft>
                <a:spcPts val="0"/>
              </a:spcAft>
              <a:buClr>
                <a:schemeClr val="dk1"/>
              </a:buClr>
              <a:buSzPts val="2400"/>
              <a:buFont typeface="Arial"/>
              <a:buNone/>
            </a:pPr>
            <a:endParaRPr>
              <a:latin typeface="Calibri"/>
              <a:ea typeface="Calibri"/>
              <a:cs typeface="Calibri"/>
              <a:sym typeface="Calibri"/>
            </a:endParaRPr>
          </a:p>
        </p:txBody>
      </p:sp>
      <p:sp>
        <p:nvSpPr>
          <p:cNvPr id="364" name="Google Shape;364;p33"/>
          <p:cNvSpPr txBox="1">
            <a:spLocks noGrp="1"/>
          </p:cNvSpPr>
          <p:nvPr>
            <p:ph type="title"/>
          </p:nvPr>
        </p:nvSpPr>
        <p:spPr>
          <a:xfrm>
            <a:off x="1303020" y="-152400"/>
            <a:ext cx="829818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SQL Expression</a:t>
            </a:r>
            <a:endParaRPr/>
          </a:p>
        </p:txBody>
      </p:sp>
      <p:graphicFrame>
        <p:nvGraphicFramePr>
          <p:cNvPr id="365" name="Google Shape;365;p33"/>
          <p:cNvGraphicFramePr/>
          <p:nvPr/>
        </p:nvGraphicFramePr>
        <p:xfrm>
          <a:off x="457200" y="1752600"/>
          <a:ext cx="8382000" cy="4319915"/>
        </p:xfrm>
        <a:graphic>
          <a:graphicData uri="http://schemas.openxmlformats.org/drawingml/2006/table">
            <a:tbl>
              <a:tblPr firstRow="1" bandRow="1">
                <a:noFill/>
                <a:tableStyleId>{7FFFBDA3-1227-47A5-887F-83766C0D3143}</a:tableStyleId>
              </a:tblPr>
              <a:tblGrid>
                <a:gridCol w="1600200"/>
                <a:gridCol w="3987800"/>
                <a:gridCol w="2794000"/>
              </a:tblGrid>
              <a:tr h="370850">
                <a:tc>
                  <a:txBody>
                    <a:bodyPr/>
                    <a:lstStyle/>
                    <a:p>
                      <a:pPr marL="0" marR="0" lvl="0" indent="0" algn="ctr" rtl="0">
                        <a:spcBef>
                          <a:spcPts val="0"/>
                        </a:spcBef>
                        <a:spcAft>
                          <a:spcPts val="0"/>
                        </a:spcAft>
                        <a:buNone/>
                      </a:pPr>
                      <a:r>
                        <a:rPr lang="en-US" sz="1600" u="none" strike="noStrike"/>
                        <a:t>Expression Name</a:t>
                      </a:r>
                      <a:endParaRPr sz="1600" b="1" i="0" u="none" strike="noStrike">
                        <a:solidFill>
                          <a:srgbClr val="FFFFFF"/>
                        </a:solidFill>
                        <a:latin typeface="Calibri"/>
                        <a:ea typeface="Calibri"/>
                        <a:cs typeface="Calibri"/>
                        <a:sym typeface="Calibri"/>
                      </a:endParaRPr>
                    </a:p>
                  </a:txBody>
                  <a:tcPr marL="9525" marR="9525" marT="9525" marB="0" anchor="ctr"/>
                </a:tc>
                <a:tc>
                  <a:txBody>
                    <a:bodyPr/>
                    <a:lstStyle/>
                    <a:p>
                      <a:pPr marL="0" marR="0" lvl="0" indent="0" algn="ctr" rtl="0">
                        <a:spcBef>
                          <a:spcPts val="0"/>
                        </a:spcBef>
                        <a:spcAft>
                          <a:spcPts val="0"/>
                        </a:spcAft>
                        <a:buNone/>
                      </a:pPr>
                      <a:r>
                        <a:rPr lang="en-US" sz="1600" u="none" strike="noStrike"/>
                        <a:t>Description</a:t>
                      </a:r>
                      <a:endParaRPr sz="1600" b="1" i="0" u="none" strike="noStrike">
                        <a:solidFill>
                          <a:srgbClr val="FFFFFF"/>
                        </a:solidFill>
                        <a:latin typeface="Calibri"/>
                        <a:ea typeface="Calibri"/>
                        <a:cs typeface="Calibri"/>
                        <a:sym typeface="Calibri"/>
                      </a:endParaRPr>
                    </a:p>
                  </a:txBody>
                  <a:tcPr marL="9525" marR="9525" marT="9525" marB="0" anchor="ctr"/>
                </a:tc>
                <a:tc>
                  <a:txBody>
                    <a:bodyPr/>
                    <a:lstStyle/>
                    <a:p>
                      <a:pPr marL="0" marR="0" lvl="0" indent="0" algn="ctr" rtl="0">
                        <a:spcBef>
                          <a:spcPts val="0"/>
                        </a:spcBef>
                        <a:spcAft>
                          <a:spcPts val="0"/>
                        </a:spcAft>
                        <a:buNone/>
                      </a:pPr>
                      <a:r>
                        <a:rPr lang="en-US" sz="1600" u="none" strike="noStrike"/>
                        <a:t>Examples</a:t>
                      </a:r>
                      <a:endParaRPr sz="1600" b="1" i="0" u="none" strike="noStrike">
                        <a:solidFill>
                          <a:srgbClr val="FFFFFF"/>
                        </a:solidFill>
                        <a:latin typeface="Calibri"/>
                        <a:ea typeface="Calibri"/>
                        <a:cs typeface="Calibri"/>
                        <a:sym typeface="Calibri"/>
                      </a:endParaRPr>
                    </a:p>
                  </a:txBody>
                  <a:tcPr marL="9525" marR="9525" marT="9525" marB="0" anchor="ctr"/>
                </a:tc>
              </a:tr>
              <a:tr h="370850">
                <a:tc>
                  <a:txBody>
                    <a:bodyPr/>
                    <a:lstStyle/>
                    <a:p>
                      <a:pPr marL="0" marR="0" lvl="0" indent="0" algn="ctr" rtl="0">
                        <a:spcBef>
                          <a:spcPts val="0"/>
                        </a:spcBef>
                        <a:spcAft>
                          <a:spcPts val="0"/>
                        </a:spcAft>
                        <a:buNone/>
                      </a:pPr>
                      <a:r>
                        <a:rPr lang="en-US" sz="1600" u="none" strike="noStrike"/>
                        <a:t>Simple Expression</a:t>
                      </a:r>
                      <a:endParaRPr sz="1600" b="0" i="0" u="none" strike="noStrike">
                        <a:solidFill>
                          <a:srgbClr val="000000"/>
                        </a:solidFill>
                        <a:latin typeface="Calibri"/>
                        <a:ea typeface="Calibri"/>
                        <a:cs typeface="Calibri"/>
                        <a:sym typeface="Calibri"/>
                      </a:endParaRPr>
                    </a:p>
                  </a:txBody>
                  <a:tcPr marL="9525" marR="9525" marT="9525" marB="0"/>
                </a:tc>
                <a:tc>
                  <a:txBody>
                    <a:bodyPr/>
                    <a:lstStyle/>
                    <a:p>
                      <a:pPr marL="0" marR="0" lvl="0" indent="0" algn="l" rtl="0">
                        <a:spcBef>
                          <a:spcPts val="0"/>
                        </a:spcBef>
                        <a:spcAft>
                          <a:spcPts val="0"/>
                        </a:spcAft>
                        <a:buNone/>
                      </a:pPr>
                      <a:r>
                        <a:rPr lang="en-US" sz="1600" u="none" strike="noStrike"/>
                        <a:t>A simple expression specifies a column, pseudo column, constant, sequence number, or null. </a:t>
                      </a:r>
                      <a:endParaRPr sz="1600" b="0" i="0" u="none" strike="noStrike">
                        <a:solidFill>
                          <a:srgbClr val="000000"/>
                        </a:solidFill>
                        <a:latin typeface="Calibri"/>
                        <a:ea typeface="Calibri"/>
                        <a:cs typeface="Calibri"/>
                        <a:sym typeface="Calibri"/>
                      </a:endParaRPr>
                    </a:p>
                  </a:txBody>
                  <a:tcPr marL="9525" marR="9525" marT="9525" marB="0" anchor="ctr"/>
                </a:tc>
                <a:tc>
                  <a:txBody>
                    <a:bodyPr/>
                    <a:lstStyle/>
                    <a:p>
                      <a:pPr marL="0" marR="0" lvl="0" indent="0" algn="l" rtl="0">
                        <a:spcBef>
                          <a:spcPts val="0"/>
                        </a:spcBef>
                        <a:spcAft>
                          <a:spcPts val="0"/>
                        </a:spcAft>
                        <a:buNone/>
                      </a:pPr>
                      <a:r>
                        <a:rPr lang="en-US" sz="1600" u="none" strike="noStrike"/>
                        <a:t>Buyprice + MSRP</a:t>
                      </a:r>
                      <a:endParaRPr sz="1600" b="0" i="0" u="none" strike="noStrike">
                        <a:solidFill>
                          <a:srgbClr val="000000"/>
                        </a:solidFill>
                        <a:latin typeface="Calibri"/>
                        <a:ea typeface="Calibri"/>
                        <a:cs typeface="Calibri"/>
                        <a:sym typeface="Calibri"/>
                      </a:endParaRPr>
                    </a:p>
                  </a:txBody>
                  <a:tcPr marL="9525" marR="9525" marT="9525" marB="0"/>
                </a:tc>
              </a:tr>
              <a:tr h="370850">
                <a:tc>
                  <a:txBody>
                    <a:bodyPr/>
                    <a:lstStyle/>
                    <a:p>
                      <a:pPr marL="0" marR="0" lvl="0" indent="0" algn="ctr" rtl="0">
                        <a:spcBef>
                          <a:spcPts val="0"/>
                        </a:spcBef>
                        <a:spcAft>
                          <a:spcPts val="0"/>
                        </a:spcAft>
                        <a:buNone/>
                      </a:pPr>
                      <a:r>
                        <a:rPr lang="en-US" sz="1600" u="none" strike="noStrike"/>
                        <a:t>Compound Expression</a:t>
                      </a:r>
                      <a:endParaRPr sz="1600" b="0" i="0" u="none" strike="noStrike">
                        <a:solidFill>
                          <a:srgbClr val="000000"/>
                        </a:solidFill>
                        <a:latin typeface="Calibri"/>
                        <a:ea typeface="Calibri"/>
                        <a:cs typeface="Calibri"/>
                        <a:sym typeface="Calibri"/>
                      </a:endParaRPr>
                    </a:p>
                  </a:txBody>
                  <a:tcPr marL="9525" marR="9525" marT="9525" marB="0"/>
                </a:tc>
                <a:tc>
                  <a:txBody>
                    <a:bodyPr/>
                    <a:lstStyle/>
                    <a:p>
                      <a:pPr marL="0" marR="0" lvl="0" indent="0" algn="l" rtl="0">
                        <a:spcBef>
                          <a:spcPts val="0"/>
                        </a:spcBef>
                        <a:spcAft>
                          <a:spcPts val="0"/>
                        </a:spcAft>
                        <a:buNone/>
                      </a:pPr>
                      <a:r>
                        <a:rPr lang="en-US" sz="1600" u="none" strike="noStrike"/>
                        <a:t>A compound expression specifies a combination of a function and one or multiple expressions</a:t>
                      </a:r>
                      <a:endParaRPr sz="1600" b="0" i="0" u="none" strike="noStrike">
                        <a:solidFill>
                          <a:srgbClr val="000000"/>
                        </a:solidFill>
                        <a:latin typeface="Calibri"/>
                        <a:ea typeface="Calibri"/>
                        <a:cs typeface="Calibri"/>
                        <a:sym typeface="Calibri"/>
                      </a:endParaRPr>
                    </a:p>
                  </a:txBody>
                  <a:tcPr marL="9525" marR="9525" marT="9525" marB="0" anchor="ctr"/>
                </a:tc>
                <a:tc>
                  <a:txBody>
                    <a:bodyPr/>
                    <a:lstStyle/>
                    <a:p>
                      <a:pPr marL="0" marR="0" lvl="0" indent="0" algn="l" rtl="0">
                        <a:spcBef>
                          <a:spcPts val="0"/>
                        </a:spcBef>
                        <a:spcAft>
                          <a:spcPts val="0"/>
                        </a:spcAft>
                        <a:buNone/>
                      </a:pPr>
                      <a:r>
                        <a:rPr lang="en-US" sz="1600" u="none" strike="noStrike"/>
                        <a:t>creditlimit * AVG(amount)</a:t>
                      </a:r>
                      <a:endParaRPr sz="1600" b="0" i="0" u="none" strike="noStrike">
                        <a:solidFill>
                          <a:srgbClr val="000000"/>
                        </a:solidFill>
                        <a:latin typeface="Calibri"/>
                        <a:ea typeface="Calibri"/>
                        <a:cs typeface="Calibri"/>
                        <a:sym typeface="Calibri"/>
                      </a:endParaRPr>
                    </a:p>
                  </a:txBody>
                  <a:tcPr marL="9525" marR="9525" marT="9525" marB="0"/>
                </a:tc>
              </a:tr>
              <a:tr h="370850">
                <a:tc>
                  <a:txBody>
                    <a:bodyPr/>
                    <a:lstStyle/>
                    <a:p>
                      <a:pPr marL="0" marR="0" lvl="0" indent="0" algn="ctr" rtl="0">
                        <a:spcBef>
                          <a:spcPts val="0"/>
                        </a:spcBef>
                        <a:spcAft>
                          <a:spcPts val="0"/>
                        </a:spcAft>
                        <a:buNone/>
                      </a:pPr>
                      <a:r>
                        <a:rPr lang="en-US" sz="1600" u="none" strike="noStrike"/>
                        <a:t>Date Time Expression</a:t>
                      </a:r>
                      <a:endParaRPr sz="1600" b="0" i="0" u="none" strike="noStrike">
                        <a:solidFill>
                          <a:srgbClr val="000000"/>
                        </a:solidFill>
                        <a:latin typeface="Calibri"/>
                        <a:ea typeface="Calibri"/>
                        <a:cs typeface="Calibri"/>
                        <a:sym typeface="Calibri"/>
                      </a:endParaRPr>
                    </a:p>
                  </a:txBody>
                  <a:tcPr marL="9525" marR="9525" marT="9525" marB="0"/>
                </a:tc>
                <a:tc>
                  <a:txBody>
                    <a:bodyPr/>
                    <a:lstStyle/>
                    <a:p>
                      <a:pPr marL="0" marR="0" lvl="0" indent="0" algn="l" rtl="0">
                        <a:spcBef>
                          <a:spcPts val="0"/>
                        </a:spcBef>
                        <a:spcAft>
                          <a:spcPts val="0"/>
                        </a:spcAft>
                        <a:buNone/>
                      </a:pPr>
                      <a:r>
                        <a:rPr lang="en-US" sz="1600" u="none" strike="noStrike"/>
                        <a:t>A  Date Time Expression can be a date time column or a compound expression that yields a date time value. </a:t>
                      </a:r>
                      <a:endParaRPr sz="1600" b="0" i="0" u="none" strike="noStrike">
                        <a:solidFill>
                          <a:srgbClr val="000000"/>
                        </a:solidFill>
                        <a:latin typeface="Calibri"/>
                        <a:ea typeface="Calibri"/>
                        <a:cs typeface="Calibri"/>
                        <a:sym typeface="Calibri"/>
                      </a:endParaRPr>
                    </a:p>
                  </a:txBody>
                  <a:tcPr marL="9525" marR="9525" marT="9525" marB="0" anchor="ctr"/>
                </a:tc>
                <a:tc>
                  <a:txBody>
                    <a:bodyPr/>
                    <a:lstStyle/>
                    <a:p>
                      <a:pPr marL="0" marR="0" lvl="0" indent="0" algn="l" rtl="0">
                        <a:spcBef>
                          <a:spcPts val="0"/>
                        </a:spcBef>
                        <a:spcAft>
                          <a:spcPts val="0"/>
                        </a:spcAft>
                        <a:buNone/>
                      </a:pPr>
                      <a:r>
                        <a:rPr lang="en-US" sz="1600" u="none" strike="noStrike"/>
                        <a:t>(requiredDate – shippeddate)/7 </a:t>
                      </a:r>
                      <a:endParaRPr sz="1600" b="0" i="0" u="none" strike="noStrike">
                        <a:solidFill>
                          <a:srgbClr val="000000"/>
                        </a:solidFill>
                        <a:latin typeface="Calibri"/>
                        <a:ea typeface="Calibri"/>
                        <a:cs typeface="Calibri"/>
                        <a:sym typeface="Calibri"/>
                      </a:endParaRPr>
                    </a:p>
                  </a:txBody>
                  <a:tcPr marL="9525" marR="9525" marT="9525" marB="0"/>
                </a:tc>
              </a:tr>
              <a:tr h="370850">
                <a:tc>
                  <a:txBody>
                    <a:bodyPr/>
                    <a:lstStyle/>
                    <a:p>
                      <a:pPr marL="0" marR="0" lvl="0" indent="0" algn="ctr" rtl="0">
                        <a:spcBef>
                          <a:spcPts val="0"/>
                        </a:spcBef>
                        <a:spcAft>
                          <a:spcPts val="0"/>
                        </a:spcAft>
                        <a:buNone/>
                      </a:pPr>
                      <a:r>
                        <a:rPr lang="en-US" sz="1600" u="none" strike="noStrike"/>
                        <a:t>Function Expression</a:t>
                      </a:r>
                      <a:endParaRPr sz="1600" b="0" i="0" u="none" strike="noStrike">
                        <a:solidFill>
                          <a:srgbClr val="000000"/>
                        </a:solidFill>
                        <a:latin typeface="Calibri"/>
                        <a:ea typeface="Calibri"/>
                        <a:cs typeface="Calibri"/>
                        <a:sym typeface="Calibri"/>
                      </a:endParaRPr>
                    </a:p>
                  </a:txBody>
                  <a:tcPr marL="9525" marR="9525" marT="9525" marB="0"/>
                </a:tc>
                <a:tc>
                  <a:txBody>
                    <a:bodyPr/>
                    <a:lstStyle/>
                    <a:p>
                      <a:pPr marL="0" marR="0" lvl="0" indent="0" algn="l" rtl="0">
                        <a:spcBef>
                          <a:spcPts val="0"/>
                        </a:spcBef>
                        <a:spcAft>
                          <a:spcPts val="0"/>
                        </a:spcAft>
                        <a:buNone/>
                      </a:pPr>
                      <a:r>
                        <a:rPr lang="en-US" sz="1600" u="none" strike="noStrike"/>
                        <a:t>A  Function Expression can be combination of one or more  Functions</a:t>
                      </a:r>
                      <a:endParaRPr sz="1600" b="0" i="0" u="none" strike="noStrike">
                        <a:solidFill>
                          <a:srgbClr val="000000"/>
                        </a:solidFill>
                        <a:latin typeface="Calibri"/>
                        <a:ea typeface="Calibri"/>
                        <a:cs typeface="Calibri"/>
                        <a:sym typeface="Calibri"/>
                      </a:endParaRPr>
                    </a:p>
                  </a:txBody>
                  <a:tcPr marL="9525" marR="9525" marT="9525" marB="0" anchor="ctr"/>
                </a:tc>
                <a:tc>
                  <a:txBody>
                    <a:bodyPr/>
                    <a:lstStyle/>
                    <a:p>
                      <a:pPr marL="0" marR="0" lvl="0" indent="0" algn="l" rtl="0">
                        <a:spcBef>
                          <a:spcPts val="0"/>
                        </a:spcBef>
                        <a:spcAft>
                          <a:spcPts val="0"/>
                        </a:spcAft>
                        <a:buNone/>
                      </a:pPr>
                      <a:r>
                        <a:rPr lang="en-US" sz="1600" u="none" strike="noStrike"/>
                        <a:t>SUM(amount) * AVG(creditlimt)</a:t>
                      </a:r>
                      <a:br>
                        <a:rPr lang="en-US" sz="1600" u="none" strike="noStrike"/>
                      </a:br>
                      <a:r>
                        <a:rPr lang="en-US" sz="1600" u="none" strike="noStrike"/>
                        <a:t>COUNT(customername)</a:t>
                      </a:r>
                      <a:endParaRPr sz="1600" b="0" i="0" u="none" strike="noStrike">
                        <a:solidFill>
                          <a:srgbClr val="000000"/>
                        </a:solidFill>
                        <a:latin typeface="Calibri"/>
                        <a:ea typeface="Calibri"/>
                        <a:cs typeface="Calibri"/>
                        <a:sym typeface="Calibri"/>
                      </a:endParaRPr>
                    </a:p>
                  </a:txBody>
                  <a:tcPr marL="9525" marR="9525" marT="9525" marB="0" anchor="ctr"/>
                </a:tc>
              </a:tr>
              <a:tr h="370850">
                <a:tc>
                  <a:txBody>
                    <a:bodyPr/>
                    <a:lstStyle/>
                    <a:p>
                      <a:pPr marL="0" marR="0" lvl="0" indent="0" algn="ctr" rtl="0">
                        <a:spcBef>
                          <a:spcPts val="0"/>
                        </a:spcBef>
                        <a:spcAft>
                          <a:spcPts val="0"/>
                        </a:spcAft>
                        <a:buNone/>
                      </a:pPr>
                      <a:r>
                        <a:rPr lang="en-US" sz="1600" u="none" strike="noStrike"/>
                        <a:t>CASE Expression</a:t>
                      </a:r>
                      <a:endParaRPr sz="1600" b="0" i="0" u="none" strike="noStrike">
                        <a:solidFill>
                          <a:srgbClr val="000000"/>
                        </a:solidFill>
                        <a:latin typeface="Calibri"/>
                        <a:ea typeface="Calibri"/>
                        <a:cs typeface="Calibri"/>
                        <a:sym typeface="Calibri"/>
                      </a:endParaRPr>
                    </a:p>
                  </a:txBody>
                  <a:tcPr marL="9525" marR="9525" marT="9525" marB="0"/>
                </a:tc>
                <a:tc>
                  <a:txBody>
                    <a:bodyPr/>
                    <a:lstStyle/>
                    <a:p>
                      <a:pPr marL="0" marR="0" lvl="0" indent="0" algn="l" rtl="0">
                        <a:spcBef>
                          <a:spcPts val="0"/>
                        </a:spcBef>
                        <a:spcAft>
                          <a:spcPts val="0"/>
                        </a:spcAft>
                        <a:buNone/>
                      </a:pPr>
                      <a:r>
                        <a:rPr lang="en-US" sz="1600" u="none" strike="noStrike"/>
                        <a:t>It is similar to the IF-THEN-ELSE logic where a value is substituted based on the return value of the column</a:t>
                      </a:r>
                      <a:endParaRPr sz="1600" b="0" i="0" u="none" strike="noStrike">
                        <a:solidFill>
                          <a:srgbClr val="000000"/>
                        </a:solidFill>
                        <a:latin typeface="Calibri"/>
                        <a:ea typeface="Calibri"/>
                        <a:cs typeface="Calibri"/>
                        <a:sym typeface="Calibri"/>
                      </a:endParaRPr>
                    </a:p>
                  </a:txBody>
                  <a:tcPr marL="9525" marR="9525" marT="9525" marB="0"/>
                </a:tc>
                <a:tc>
                  <a:txBody>
                    <a:bodyPr/>
                    <a:lstStyle/>
                    <a:p>
                      <a:pPr marL="0" marR="0" lvl="3" indent="0" algn="l" rtl="0">
                        <a:spcBef>
                          <a:spcPts val="0"/>
                        </a:spcBef>
                        <a:spcAft>
                          <a:spcPts val="0"/>
                        </a:spcAft>
                        <a:buClr>
                          <a:schemeClr val="dk1"/>
                        </a:buClr>
                        <a:buSzPts val="1600"/>
                        <a:buFont typeface="Calibri"/>
                        <a:buNone/>
                      </a:pPr>
                      <a:r>
                        <a:rPr lang="en-US" sz="1600" u="none" strike="noStrike" cap="none"/>
                        <a:t>Select customerNumber, country, </a:t>
                      </a:r>
                      <a:endParaRPr/>
                    </a:p>
                    <a:p>
                      <a:pPr marL="0" marR="0" lvl="3" indent="0" algn="l" rtl="0">
                        <a:spcBef>
                          <a:spcPts val="0"/>
                        </a:spcBef>
                        <a:spcAft>
                          <a:spcPts val="0"/>
                        </a:spcAft>
                        <a:buClr>
                          <a:schemeClr val="dk1"/>
                        </a:buClr>
                        <a:buSzPts val="1600"/>
                        <a:buFont typeface="Calibri"/>
                        <a:buNone/>
                      </a:pPr>
                      <a:r>
                        <a:rPr lang="en-US" sz="1600" u="none" strike="noStrike" cap="none"/>
                        <a:t>CASE country</a:t>
                      </a:r>
                      <a:endParaRPr/>
                    </a:p>
                    <a:p>
                      <a:pPr marL="0" marR="0" lvl="3" indent="0" algn="l" rtl="0">
                        <a:spcBef>
                          <a:spcPts val="0"/>
                        </a:spcBef>
                        <a:spcAft>
                          <a:spcPts val="0"/>
                        </a:spcAft>
                        <a:buClr>
                          <a:schemeClr val="dk1"/>
                        </a:buClr>
                        <a:buSzPts val="1600"/>
                        <a:buFont typeface="Calibri"/>
                        <a:buNone/>
                      </a:pPr>
                      <a:r>
                        <a:rPr lang="en-US" sz="1600" u="none" strike="noStrike" cap="none"/>
                        <a:t>WHEN ‘USA' THEN ‘America’</a:t>
                      </a:r>
                      <a:endParaRPr/>
                    </a:p>
                    <a:p>
                      <a:pPr marL="0" marR="0" lvl="3" indent="0" algn="l" rtl="0">
                        <a:spcBef>
                          <a:spcPts val="0"/>
                        </a:spcBef>
                        <a:spcAft>
                          <a:spcPts val="0"/>
                        </a:spcAft>
                        <a:buClr>
                          <a:schemeClr val="dk1"/>
                        </a:buClr>
                        <a:buSzPts val="1600"/>
                        <a:buFont typeface="Calibri"/>
                        <a:buNone/>
                      </a:pPr>
                      <a:r>
                        <a:rPr lang="en-US" sz="1600" u="none" strike="noStrike" cap="none"/>
                        <a:t>WHEN ‘UK' THEN ‘Briten’</a:t>
                      </a:r>
                      <a:endParaRPr/>
                    </a:p>
                    <a:p>
                      <a:pPr marL="0" marR="0" lvl="3" indent="0" algn="l" rtl="0">
                        <a:spcBef>
                          <a:spcPts val="0"/>
                        </a:spcBef>
                        <a:spcAft>
                          <a:spcPts val="0"/>
                        </a:spcAft>
                        <a:buClr>
                          <a:schemeClr val="dk1"/>
                        </a:buClr>
                        <a:buSzPts val="1600"/>
                        <a:buFont typeface="Calibri"/>
                        <a:buNone/>
                      </a:pPr>
                      <a:r>
                        <a:rPr lang="en-US" sz="1600" u="none" strike="noStrike" cap="none"/>
                        <a:t>ELSE ‘NA’ END</a:t>
                      </a:r>
                      <a:endParaRPr/>
                    </a:p>
                    <a:p>
                      <a:pPr marL="0" marR="0" lvl="3" indent="0" algn="l" rtl="0">
                        <a:spcBef>
                          <a:spcPts val="0"/>
                        </a:spcBef>
                        <a:spcAft>
                          <a:spcPts val="0"/>
                        </a:spcAft>
                        <a:buClr>
                          <a:schemeClr val="dk1"/>
                        </a:buClr>
                        <a:buSzPts val="1600"/>
                        <a:buFont typeface="Calibri"/>
                        <a:buNone/>
                      </a:pPr>
                      <a:r>
                        <a:rPr lang="en-US" sz="1600" u="none" strike="noStrike" cap="none"/>
                        <a:t>FROM customers</a:t>
                      </a:r>
                      <a:endParaRPr sz="1600" u="none" strike="noStrike" cap="none">
                        <a:solidFill>
                          <a:schemeClr val="dk1"/>
                        </a:solidFill>
                        <a:latin typeface="Calibri"/>
                        <a:ea typeface="Calibri"/>
                        <a:cs typeface="Calibri"/>
                        <a:sym typeface="Calibri"/>
                      </a:endParaRPr>
                    </a:p>
                  </a:txBody>
                  <a:tcPr marL="9525" marR="9525" marT="9525" marB="0" anchor="ctr"/>
                </a:tc>
              </a:tr>
            </a:tbl>
          </a:graphicData>
        </a:graphic>
      </p:graphicFrame>
      <p:sp>
        <p:nvSpPr>
          <p:cNvPr id="366" name="Google Shape;366;p33"/>
          <p:cNvSpPr txBox="1">
            <a:spLocks noGrp="1"/>
          </p:cNvSpPr>
          <p:nvPr>
            <p:ph type="sldNum" idx="12"/>
          </p:nvPr>
        </p:nvSpPr>
        <p:spPr>
          <a:xfrm>
            <a:off x="138752" y="6414139"/>
            <a:ext cx="457200" cy="277813"/>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fld id="{00000000-1234-1234-1234-123412341234}" type="slidenum">
              <a:rPr lang="en-US"/>
              <a:t>33</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65"/>
                                        </p:tgtEl>
                                        <p:attrNameLst>
                                          <p:attrName>style.visibility</p:attrName>
                                        </p:attrNameLst>
                                      </p:cBhvr>
                                      <p:to>
                                        <p:strVal val="visible"/>
                                      </p:to>
                                    </p:set>
                                    <p:animEffect transition="in" filter="fade">
                                      <p:cBhvr>
                                        <p:cTn id="7" dur="500"/>
                                        <p:tgtEl>
                                          <p:spTgt spid="3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70"/>
        <p:cNvGrpSpPr/>
        <p:nvPr/>
      </p:nvGrpSpPr>
      <p:grpSpPr>
        <a:xfrm>
          <a:off x="0" y="0"/>
          <a:ext cx="0" cy="0"/>
          <a:chOff x="0" y="0"/>
          <a:chExt cx="0" cy="0"/>
        </a:xfrm>
      </p:grpSpPr>
      <p:sp>
        <p:nvSpPr>
          <p:cNvPr id="371" name="Google Shape;371;p34"/>
          <p:cNvSpPr txBox="1">
            <a:spLocks noGrp="1"/>
          </p:cNvSpPr>
          <p:nvPr>
            <p:ph type="body" idx="1"/>
          </p:nvPr>
        </p:nvSpPr>
        <p:spPr>
          <a:xfrm>
            <a:off x="228600" y="1609725"/>
            <a:ext cx="8686800" cy="494665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Clr>
                <a:srgbClr val="92D050"/>
              </a:buClr>
              <a:buSzPts val="2400"/>
              <a:buNone/>
            </a:pPr>
            <a:r>
              <a:rPr lang="en-US" sz="2400">
                <a:solidFill>
                  <a:srgbClr val="92D050"/>
                </a:solidFill>
              </a:rPr>
              <a:t>	</a:t>
            </a:r>
            <a:endParaRPr sz="2400">
              <a:solidFill>
                <a:srgbClr val="92D050"/>
              </a:solidFill>
            </a:endParaRPr>
          </a:p>
          <a:p>
            <a:pPr marL="0" lvl="0" indent="0" algn="ctr" rtl="0">
              <a:spcBef>
                <a:spcPts val="480"/>
              </a:spcBef>
              <a:spcAft>
                <a:spcPts val="0"/>
              </a:spcAft>
              <a:buClr>
                <a:schemeClr val="dk1"/>
              </a:buClr>
              <a:buSzPts val="2400"/>
              <a:buNone/>
            </a:pPr>
            <a:endParaRPr sz="2400">
              <a:solidFill>
                <a:srgbClr val="92D050"/>
              </a:solidFill>
            </a:endParaRPr>
          </a:p>
          <a:p>
            <a:pPr marL="0" lvl="0" indent="0" algn="ctr" rtl="0">
              <a:spcBef>
                <a:spcPts val="480"/>
              </a:spcBef>
              <a:spcAft>
                <a:spcPts val="0"/>
              </a:spcAft>
              <a:buClr>
                <a:schemeClr val="dk1"/>
              </a:buClr>
              <a:buSzPts val="2400"/>
              <a:buNone/>
            </a:pPr>
            <a:endParaRPr sz="2400">
              <a:solidFill>
                <a:srgbClr val="92D050"/>
              </a:solidFill>
            </a:endParaRPr>
          </a:p>
          <a:p>
            <a:pPr marL="0" lvl="0" indent="0" algn="ctr" rtl="0">
              <a:spcBef>
                <a:spcPts val="480"/>
              </a:spcBef>
              <a:spcAft>
                <a:spcPts val="0"/>
              </a:spcAft>
              <a:buClr>
                <a:schemeClr val="dk1"/>
              </a:buClr>
              <a:buSzPts val="2400"/>
              <a:buNone/>
            </a:pPr>
            <a:endParaRPr sz="2400"/>
          </a:p>
          <a:p>
            <a:pPr marL="0" lvl="0" indent="0" algn="ctr" rtl="0">
              <a:spcBef>
                <a:spcPts val="480"/>
              </a:spcBef>
              <a:spcAft>
                <a:spcPts val="0"/>
              </a:spcAft>
              <a:buClr>
                <a:schemeClr val="dk1"/>
              </a:buClr>
              <a:buSzPts val="2400"/>
              <a:buNone/>
            </a:pPr>
            <a:endParaRPr sz="2400"/>
          </a:p>
          <a:p>
            <a:pPr marL="0" lvl="0" indent="0" algn="ctr" rtl="0">
              <a:spcBef>
                <a:spcPts val="480"/>
              </a:spcBef>
              <a:spcAft>
                <a:spcPts val="0"/>
              </a:spcAft>
              <a:buClr>
                <a:schemeClr val="dk1"/>
              </a:buClr>
              <a:buSzPts val="2400"/>
              <a:buNone/>
            </a:pPr>
            <a:r>
              <a:rPr lang="en-US" sz="2400"/>
              <a:t>Now we have implemented few of the TIM’s requirement  successfully using  functions.</a:t>
            </a:r>
            <a:endParaRPr sz="2400"/>
          </a:p>
        </p:txBody>
      </p:sp>
      <p:sp>
        <p:nvSpPr>
          <p:cNvPr id="372" name="Google Shape;372;p34"/>
          <p:cNvSpPr txBox="1">
            <a:spLocks noGrp="1"/>
          </p:cNvSpPr>
          <p:nvPr>
            <p:ph type="title"/>
          </p:nvPr>
        </p:nvSpPr>
        <p:spPr>
          <a:xfrm>
            <a:off x="1303020" y="-152400"/>
            <a:ext cx="829818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Scenario</a:t>
            </a:r>
            <a:endParaRPr/>
          </a:p>
        </p:txBody>
      </p:sp>
      <p:pic>
        <p:nvPicPr>
          <p:cNvPr id="373" name="Google Shape;373;p34"/>
          <p:cNvPicPr preferRelativeResize="0"/>
          <p:nvPr/>
        </p:nvPicPr>
        <p:blipFill rotWithShape="1">
          <a:blip r:embed="rId3">
            <a:alphaModFix/>
          </a:blip>
          <a:srcRect/>
          <a:stretch/>
        </p:blipFill>
        <p:spPr>
          <a:xfrm>
            <a:off x="3583533" y="2286000"/>
            <a:ext cx="790575" cy="1323975"/>
          </a:xfrm>
          <a:prstGeom prst="roundRect">
            <a:avLst>
              <a:gd name="adj" fmla="val 8594"/>
            </a:avLst>
          </a:prstGeom>
          <a:solidFill>
            <a:srgbClr val="ECECEC"/>
          </a:solidFill>
          <a:ln>
            <a:noFill/>
          </a:ln>
          <a:effectLst>
            <a:reflection stA="38000" endPos="28000" dist="5000" dir="5400000" sy="-100000" algn="bl" rotWithShape="0"/>
          </a:effectLst>
        </p:spPr>
      </p:pic>
      <p:sp>
        <p:nvSpPr>
          <p:cNvPr id="374" name="Google Shape;374;p34"/>
          <p:cNvSpPr/>
          <p:nvPr/>
        </p:nvSpPr>
        <p:spPr>
          <a:xfrm>
            <a:off x="4374108" y="1600200"/>
            <a:ext cx="1721892" cy="1058960"/>
          </a:xfrm>
          <a:prstGeom prst="wedgeEllipseCallout">
            <a:avLst>
              <a:gd name="adj1" fmla="val -53321"/>
              <a:gd name="adj2" fmla="val 60557"/>
            </a:avLst>
          </a:prstGeom>
          <a:solidFill>
            <a:srgbClr val="EAF1DD"/>
          </a:solidFill>
          <a:ln w="9525"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rgbClr val="00B0F0"/>
                </a:solidFill>
                <a:latin typeface="Calibri"/>
                <a:ea typeface="Calibri"/>
                <a:cs typeface="Calibri"/>
                <a:sym typeface="Calibri"/>
              </a:rPr>
              <a:t>Yeah!</a:t>
            </a:r>
            <a:endParaRPr sz="1400">
              <a:solidFill>
                <a:srgbClr val="494429"/>
              </a:solidFill>
              <a:latin typeface="Calibri"/>
              <a:ea typeface="Calibri"/>
              <a:cs typeface="Calibri"/>
              <a:sym typeface="Calibri"/>
            </a:endParaRPr>
          </a:p>
        </p:txBody>
      </p:sp>
      <p:sp>
        <p:nvSpPr>
          <p:cNvPr id="375" name="Google Shape;375;p34"/>
          <p:cNvSpPr txBox="1">
            <a:spLocks noGrp="1"/>
          </p:cNvSpPr>
          <p:nvPr>
            <p:ph type="sldNum" idx="12"/>
          </p:nvPr>
        </p:nvSpPr>
        <p:spPr>
          <a:xfrm>
            <a:off x="138752" y="6414139"/>
            <a:ext cx="457200" cy="277813"/>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fld id="{00000000-1234-1234-1234-123412341234}" type="slidenum">
              <a:rPr lang="en-US"/>
              <a:t>34</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73"/>
                                        </p:tgtEl>
                                        <p:attrNameLst>
                                          <p:attrName>style.visibility</p:attrName>
                                        </p:attrNameLst>
                                      </p:cBhvr>
                                      <p:to>
                                        <p:strVal val="visible"/>
                                      </p:to>
                                    </p:set>
                                    <p:animEffect transition="in" filter="fade">
                                      <p:cBhvr>
                                        <p:cTn id="7" dur="500"/>
                                        <p:tgtEl>
                                          <p:spTgt spid="373"/>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374"/>
                                        </p:tgtEl>
                                        <p:attrNameLst>
                                          <p:attrName>style.visibility</p:attrName>
                                        </p:attrNameLst>
                                      </p:cBhvr>
                                      <p:to>
                                        <p:strVal val="visible"/>
                                      </p:to>
                                    </p:set>
                                    <p:animEffect transition="in" filter="fade">
                                      <p:cBhvr>
                                        <p:cTn id="11" dur="1000"/>
                                        <p:tgtEl>
                                          <p:spTgt spid="3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79"/>
        <p:cNvGrpSpPr/>
        <p:nvPr/>
      </p:nvGrpSpPr>
      <p:grpSpPr>
        <a:xfrm>
          <a:off x="0" y="0"/>
          <a:ext cx="0" cy="0"/>
          <a:chOff x="0" y="0"/>
          <a:chExt cx="0" cy="0"/>
        </a:xfrm>
      </p:grpSpPr>
      <p:sp>
        <p:nvSpPr>
          <p:cNvPr id="380" name="Google Shape;380;p35"/>
          <p:cNvSpPr txBox="1">
            <a:spLocks noGrp="1"/>
          </p:cNvSpPr>
          <p:nvPr>
            <p:ph type="title"/>
          </p:nvPr>
        </p:nvSpPr>
        <p:spPr>
          <a:xfrm>
            <a:off x="1303020" y="-152400"/>
            <a:ext cx="829818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Recap of the Case Study</a:t>
            </a:r>
            <a:endParaRPr/>
          </a:p>
        </p:txBody>
      </p:sp>
      <p:sp>
        <p:nvSpPr>
          <p:cNvPr id="381" name="Google Shape;381;p35"/>
          <p:cNvSpPr txBox="1"/>
          <p:nvPr/>
        </p:nvSpPr>
        <p:spPr>
          <a:xfrm>
            <a:off x="381000" y="1828800"/>
            <a:ext cx="8839200" cy="4745915"/>
          </a:xfrm>
          <a:prstGeom prst="rect">
            <a:avLst/>
          </a:prstGeom>
          <a:noFill/>
          <a:ln>
            <a:noFill/>
          </a:ln>
        </p:spPr>
        <p:txBody>
          <a:bodyPr spcFirstLastPara="1" wrap="square" lIns="91425" tIns="45700" rIns="91425" bIns="45700" anchor="t" anchorCtr="0">
            <a:spAutoFit/>
          </a:bodyPr>
          <a:lstStyle/>
          <a:p>
            <a:pPr marL="0" marR="0" lvl="0" indent="0" algn="l" rtl="0">
              <a:lnSpc>
                <a:spcPct val="120000"/>
              </a:lnSpc>
              <a:spcBef>
                <a:spcPts val="0"/>
              </a:spcBef>
              <a:spcAft>
                <a:spcPts val="0"/>
              </a:spcAft>
              <a:buNone/>
            </a:pPr>
            <a:r>
              <a:rPr lang="en-US" sz="2400" b="1">
                <a:solidFill>
                  <a:schemeClr val="dk1"/>
                </a:solidFill>
                <a:latin typeface="Calibri"/>
                <a:ea typeface="Calibri"/>
                <a:cs typeface="Calibri"/>
                <a:sym typeface="Calibri"/>
              </a:rPr>
              <a:t>Case Study Scenario: </a:t>
            </a:r>
            <a:endParaRPr/>
          </a:p>
          <a:p>
            <a:pPr marL="0" marR="0" lvl="0" indent="0" algn="l" rtl="0">
              <a:lnSpc>
                <a:spcPct val="120000"/>
              </a:lnSpc>
              <a:spcBef>
                <a:spcPts val="0"/>
              </a:spcBef>
              <a:spcAft>
                <a:spcPts val="0"/>
              </a:spcAft>
              <a:buNone/>
            </a:pPr>
            <a:r>
              <a:rPr lang="en-US" sz="2400" b="0">
                <a:solidFill>
                  <a:schemeClr val="dk1"/>
                </a:solidFill>
                <a:latin typeface="Calibri"/>
                <a:ea typeface="Calibri"/>
                <a:cs typeface="Calibri"/>
                <a:sym typeface="Calibri"/>
              </a:rPr>
              <a:t>This case study is to develop a </a:t>
            </a:r>
            <a:r>
              <a:rPr lang="en-US" sz="2400" i="1">
                <a:solidFill>
                  <a:schemeClr val="dk1"/>
                </a:solidFill>
                <a:latin typeface="Calibri"/>
                <a:ea typeface="Calibri"/>
                <a:cs typeface="Calibri"/>
                <a:sym typeface="Calibri"/>
              </a:rPr>
              <a:t>Course Management System </a:t>
            </a:r>
            <a:r>
              <a:rPr lang="en-US" sz="2400" b="0">
                <a:solidFill>
                  <a:schemeClr val="dk1"/>
                </a:solidFill>
                <a:latin typeface="Calibri"/>
                <a:ea typeface="Calibri"/>
                <a:cs typeface="Calibri"/>
                <a:sym typeface="Calibri"/>
              </a:rPr>
              <a:t>(</a:t>
            </a:r>
            <a:r>
              <a:rPr lang="en-US" sz="2400">
                <a:solidFill>
                  <a:schemeClr val="dk1"/>
                </a:solidFill>
                <a:latin typeface="Calibri"/>
                <a:ea typeface="Calibri"/>
                <a:cs typeface="Calibri"/>
                <a:sym typeface="Calibri"/>
              </a:rPr>
              <a:t>CMS</a:t>
            </a:r>
            <a:r>
              <a:rPr lang="en-US" sz="2400" b="0">
                <a:solidFill>
                  <a:schemeClr val="dk1"/>
                </a:solidFill>
                <a:latin typeface="Calibri"/>
                <a:ea typeface="Calibri"/>
                <a:cs typeface="Calibri"/>
                <a:sym typeface="Calibri"/>
              </a:rPr>
              <a:t>) for ABC University. The following are the two uses case for which the database needs to be designed.</a:t>
            </a:r>
            <a:endParaRPr/>
          </a:p>
          <a:p>
            <a:pPr marL="731520" marR="0" lvl="0" indent="-365760" algn="l" rtl="0">
              <a:lnSpc>
                <a:spcPct val="120000"/>
              </a:lnSpc>
              <a:spcBef>
                <a:spcPts val="0"/>
              </a:spcBef>
              <a:spcAft>
                <a:spcPts val="0"/>
              </a:spcAft>
              <a:buClr>
                <a:schemeClr val="dk1"/>
              </a:buClr>
              <a:buSzPts val="2200"/>
              <a:buFont typeface="Arial"/>
              <a:buChar char="•"/>
            </a:pPr>
            <a:r>
              <a:rPr lang="en-US" sz="2200" b="1" i="1">
                <a:solidFill>
                  <a:schemeClr val="dk1"/>
                </a:solidFill>
                <a:latin typeface="Calibri"/>
                <a:ea typeface="Calibri"/>
                <a:cs typeface="Calibri"/>
                <a:sym typeface="Calibri"/>
              </a:rPr>
              <a:t>Add Course </a:t>
            </a:r>
            <a:endParaRPr/>
          </a:p>
          <a:p>
            <a:pPr marL="1188720" marR="0" lvl="0" indent="-365759" algn="l" rtl="0">
              <a:lnSpc>
                <a:spcPct val="120000"/>
              </a:lnSpc>
              <a:spcBef>
                <a:spcPts val="0"/>
              </a:spcBef>
              <a:spcAft>
                <a:spcPts val="0"/>
              </a:spcAft>
              <a:buClr>
                <a:schemeClr val="dk1"/>
              </a:buClr>
              <a:buSzPts val="2000"/>
              <a:buFont typeface="Arial"/>
              <a:buChar char="•"/>
            </a:pPr>
            <a:r>
              <a:rPr lang="en-US" sz="2000" b="0">
                <a:solidFill>
                  <a:schemeClr val="dk1"/>
                </a:solidFill>
                <a:latin typeface="Calibri"/>
                <a:ea typeface="Calibri"/>
                <a:cs typeface="Calibri"/>
                <a:sym typeface="Calibri"/>
              </a:rPr>
              <a:t>To add the course details into the course management system.</a:t>
            </a:r>
            <a:endParaRPr/>
          </a:p>
          <a:p>
            <a:pPr marL="731520" marR="0" lvl="0" indent="-365760" algn="l" rtl="0">
              <a:lnSpc>
                <a:spcPct val="120000"/>
              </a:lnSpc>
              <a:spcBef>
                <a:spcPts val="0"/>
              </a:spcBef>
              <a:spcAft>
                <a:spcPts val="0"/>
              </a:spcAft>
              <a:buClr>
                <a:schemeClr val="dk1"/>
              </a:buClr>
              <a:buSzPts val="2200"/>
              <a:buFont typeface="Arial"/>
              <a:buChar char="•"/>
            </a:pPr>
            <a:r>
              <a:rPr lang="en-US" sz="2200" b="1" i="1">
                <a:solidFill>
                  <a:schemeClr val="dk1"/>
                </a:solidFill>
                <a:latin typeface="Calibri"/>
                <a:ea typeface="Calibri"/>
                <a:cs typeface="Calibri"/>
                <a:sym typeface="Calibri"/>
              </a:rPr>
              <a:t>Retrieve Course </a:t>
            </a:r>
            <a:endParaRPr/>
          </a:p>
          <a:p>
            <a:pPr marL="1188720" marR="0" lvl="0" indent="-365759" algn="l" rtl="0">
              <a:lnSpc>
                <a:spcPct val="120000"/>
              </a:lnSpc>
              <a:spcBef>
                <a:spcPts val="0"/>
              </a:spcBef>
              <a:spcAft>
                <a:spcPts val="0"/>
              </a:spcAft>
              <a:buClr>
                <a:schemeClr val="dk1"/>
              </a:buClr>
              <a:buSzPts val="2000"/>
              <a:buFont typeface="Arial"/>
              <a:buChar char="•"/>
            </a:pPr>
            <a:r>
              <a:rPr lang="en-US" sz="2000" b="0">
                <a:solidFill>
                  <a:schemeClr val="dk1"/>
                </a:solidFill>
                <a:latin typeface="Calibri"/>
                <a:ea typeface="Calibri"/>
                <a:cs typeface="Calibri"/>
                <a:sym typeface="Calibri"/>
              </a:rPr>
              <a:t>Retrieve the courses stored in the system and display it.</a:t>
            </a:r>
            <a:endParaRPr/>
          </a:p>
          <a:p>
            <a:pPr marL="58738" marR="0" lvl="0" indent="-58738" algn="l" rtl="0">
              <a:lnSpc>
                <a:spcPct val="120000"/>
              </a:lnSpc>
              <a:spcBef>
                <a:spcPts val="0"/>
              </a:spcBef>
              <a:spcAft>
                <a:spcPts val="0"/>
              </a:spcAft>
              <a:buNone/>
            </a:pPr>
            <a:r>
              <a:rPr lang="en-US" sz="2400" b="0">
                <a:solidFill>
                  <a:schemeClr val="dk1"/>
                </a:solidFill>
                <a:latin typeface="Calibri"/>
                <a:ea typeface="Calibri"/>
                <a:cs typeface="Calibri"/>
                <a:sym typeface="Calibri"/>
              </a:rPr>
              <a:t>The courses to be added will have the following attributes Course Code, Course Name, Number of participants, Course Description, Course Duration, Course start date and Course Type.</a:t>
            </a:r>
            <a:endParaRPr sz="2400" b="0">
              <a:solidFill>
                <a:schemeClr val="dk1"/>
              </a:solidFill>
              <a:latin typeface="Calibri"/>
              <a:ea typeface="Calibri"/>
              <a:cs typeface="Calibri"/>
              <a:sym typeface="Calibri"/>
            </a:endParaRPr>
          </a:p>
        </p:txBody>
      </p:sp>
      <p:sp>
        <p:nvSpPr>
          <p:cNvPr id="382" name="Google Shape;382;p35"/>
          <p:cNvSpPr txBox="1"/>
          <p:nvPr/>
        </p:nvSpPr>
        <p:spPr>
          <a:xfrm>
            <a:off x="381000" y="1197114"/>
            <a:ext cx="8382000" cy="707886"/>
          </a:xfrm>
          <a:prstGeom prst="rect">
            <a:avLst/>
          </a:prstGeom>
          <a:gradFill>
            <a:gsLst>
              <a:gs pos="0">
                <a:srgbClr val="9BE9FF"/>
              </a:gs>
              <a:gs pos="35000">
                <a:srgbClr val="B8F1FF"/>
              </a:gs>
              <a:gs pos="100000">
                <a:srgbClr val="E2FBFF"/>
              </a:gs>
            </a:gsLst>
            <a:lin ang="16200000" scaled="0"/>
          </a:gradFill>
          <a:ln w="9525" cap="flat" cmpd="sng">
            <a:solidFill>
              <a:srgbClr val="45A9C4"/>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a:solidFill>
                  <a:schemeClr val="dk1"/>
                </a:solidFill>
                <a:latin typeface="Calibri"/>
                <a:ea typeface="Calibri"/>
                <a:cs typeface="Calibri"/>
                <a:sym typeface="Calibri"/>
              </a:rPr>
              <a:t>We will use the same CMS case study for learning how to use operators in DQL and DML statements</a:t>
            </a:r>
            <a:endParaRPr/>
          </a:p>
        </p:txBody>
      </p:sp>
      <p:sp>
        <p:nvSpPr>
          <p:cNvPr id="383" name="Google Shape;383;p35"/>
          <p:cNvSpPr txBox="1">
            <a:spLocks noGrp="1"/>
          </p:cNvSpPr>
          <p:nvPr>
            <p:ph type="sldNum" idx="12"/>
          </p:nvPr>
        </p:nvSpPr>
        <p:spPr>
          <a:xfrm>
            <a:off x="138752" y="6414139"/>
            <a:ext cx="457200" cy="277813"/>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fld id="{00000000-1234-1234-1234-123412341234}" type="slidenum">
              <a:rPr lang="en-US"/>
              <a:t>35</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88"/>
        <p:cNvGrpSpPr/>
        <p:nvPr/>
      </p:nvGrpSpPr>
      <p:grpSpPr>
        <a:xfrm>
          <a:off x="0" y="0"/>
          <a:ext cx="0" cy="0"/>
          <a:chOff x="0" y="0"/>
          <a:chExt cx="0" cy="0"/>
        </a:xfrm>
      </p:grpSpPr>
      <p:sp>
        <p:nvSpPr>
          <p:cNvPr id="389" name="Google Shape;389;p36"/>
          <p:cNvSpPr txBox="1">
            <a:spLocks noGrp="1"/>
          </p:cNvSpPr>
          <p:nvPr>
            <p:ph type="body" idx="1"/>
          </p:nvPr>
        </p:nvSpPr>
        <p:spPr>
          <a:xfrm>
            <a:off x="381000" y="1228725"/>
            <a:ext cx="8686800" cy="4791075"/>
          </a:xfrm>
          <a:prstGeom prst="rect">
            <a:avLst/>
          </a:prstGeom>
          <a:noFill/>
          <a:ln>
            <a:noFill/>
          </a:ln>
        </p:spPr>
        <p:txBody>
          <a:bodyPr spcFirstLastPara="1" wrap="square" lIns="91425" tIns="45700" rIns="91425" bIns="45700" anchor="t" anchorCtr="0">
            <a:noAutofit/>
          </a:bodyPr>
          <a:lstStyle/>
          <a:p>
            <a:pPr marL="342900" lvl="0" indent="-342900" algn="l" rtl="0">
              <a:lnSpc>
                <a:spcPct val="120000"/>
              </a:lnSpc>
              <a:spcBef>
                <a:spcPts val="0"/>
              </a:spcBef>
              <a:spcAft>
                <a:spcPts val="0"/>
              </a:spcAft>
              <a:buClr>
                <a:schemeClr val="dk1"/>
              </a:buClr>
              <a:buSzPts val="2400"/>
              <a:buNone/>
            </a:pPr>
            <a:r>
              <a:rPr lang="en-US" sz="2400" b="1">
                <a:latin typeface="Calibri"/>
                <a:ea typeface="Calibri"/>
                <a:cs typeface="Calibri"/>
                <a:sym typeface="Calibri"/>
              </a:rPr>
              <a:t>Pre-requisite : </a:t>
            </a:r>
            <a:r>
              <a:rPr lang="en-US" sz="2400">
                <a:latin typeface="Calibri"/>
                <a:ea typeface="Calibri"/>
                <a:cs typeface="Calibri"/>
                <a:sym typeface="Calibri"/>
              </a:rPr>
              <a:t>Use the  Course_Info</a:t>
            </a:r>
            <a:r>
              <a:rPr lang="en-US" sz="2400">
                <a:solidFill>
                  <a:srgbClr val="00B050"/>
                </a:solidFill>
                <a:latin typeface="Calibri"/>
                <a:ea typeface="Calibri"/>
                <a:cs typeface="Calibri"/>
                <a:sym typeface="Calibri"/>
              </a:rPr>
              <a:t> </a:t>
            </a:r>
            <a:r>
              <a:rPr lang="en-US" sz="2400">
                <a:latin typeface="Calibri"/>
                <a:ea typeface="Calibri"/>
                <a:cs typeface="Calibri"/>
                <a:sym typeface="Calibri"/>
              </a:rPr>
              <a:t> and Course_Fees  table.</a:t>
            </a:r>
            <a:endParaRPr/>
          </a:p>
          <a:p>
            <a:pPr marL="731520" lvl="1" indent="-365760" algn="l" rtl="0">
              <a:lnSpc>
                <a:spcPct val="120000"/>
              </a:lnSpc>
              <a:spcBef>
                <a:spcPts val="0"/>
              </a:spcBef>
              <a:spcAft>
                <a:spcPts val="0"/>
              </a:spcAft>
              <a:buClr>
                <a:schemeClr val="dk1"/>
              </a:buClr>
              <a:buSzPts val="2200"/>
              <a:buFont typeface="Arial"/>
              <a:buChar char="•"/>
            </a:pPr>
            <a:r>
              <a:rPr lang="en-US" sz="2200">
                <a:latin typeface="Calibri"/>
                <a:ea typeface="Calibri"/>
                <a:cs typeface="Calibri"/>
                <a:sym typeface="Calibri"/>
              </a:rPr>
              <a:t>Insert 2 records in course_fees   table with base fees as null.</a:t>
            </a:r>
            <a:endParaRPr/>
          </a:p>
          <a:p>
            <a:pPr marL="731520" lvl="1" indent="-365760" algn="l" rtl="0">
              <a:lnSpc>
                <a:spcPct val="120000"/>
              </a:lnSpc>
              <a:spcBef>
                <a:spcPts val="0"/>
              </a:spcBef>
              <a:spcAft>
                <a:spcPts val="0"/>
              </a:spcAft>
              <a:buClr>
                <a:schemeClr val="dk1"/>
              </a:buClr>
              <a:buSzPts val="2200"/>
              <a:buFont typeface="Arial"/>
              <a:buChar char="•"/>
            </a:pPr>
            <a:r>
              <a:rPr lang="en-US" sz="2200">
                <a:latin typeface="Calibri"/>
                <a:ea typeface="Calibri"/>
                <a:cs typeface="Calibri"/>
                <a:sym typeface="Calibri"/>
              </a:rPr>
              <a:t>Insert 2 records in course_fees   table with base fees as 300 and 175.</a:t>
            </a:r>
            <a:endParaRPr/>
          </a:p>
          <a:p>
            <a:pPr marL="342900" lvl="0" indent="-342900" algn="l" rtl="0">
              <a:lnSpc>
                <a:spcPct val="120000"/>
              </a:lnSpc>
              <a:spcBef>
                <a:spcPts val="0"/>
              </a:spcBef>
              <a:spcAft>
                <a:spcPts val="0"/>
              </a:spcAft>
              <a:buClr>
                <a:schemeClr val="dk1"/>
              </a:buClr>
              <a:buSzPts val="2400"/>
              <a:buNone/>
            </a:pPr>
            <a:r>
              <a:rPr lang="en-US" sz="2400" b="1">
                <a:latin typeface="Calibri"/>
                <a:ea typeface="Calibri"/>
                <a:cs typeface="Calibri"/>
                <a:sym typeface="Calibri"/>
              </a:rPr>
              <a:t>Problem 1: </a:t>
            </a:r>
            <a:r>
              <a:rPr lang="en-US" sz="2400">
                <a:latin typeface="Calibri"/>
                <a:ea typeface="Calibri"/>
                <a:cs typeface="Calibri"/>
                <a:sym typeface="Calibri"/>
              </a:rPr>
              <a:t>Write a query which will  display the total number of records  in Course_Info table.</a:t>
            </a:r>
            <a:endParaRPr/>
          </a:p>
          <a:p>
            <a:pPr marL="342900" lvl="0" indent="-342900" algn="l" rtl="0">
              <a:lnSpc>
                <a:spcPct val="120000"/>
              </a:lnSpc>
              <a:spcBef>
                <a:spcPts val="0"/>
              </a:spcBef>
              <a:spcAft>
                <a:spcPts val="0"/>
              </a:spcAft>
              <a:buClr>
                <a:schemeClr val="dk1"/>
              </a:buClr>
              <a:buSzPts val="2400"/>
              <a:buNone/>
            </a:pPr>
            <a:r>
              <a:rPr lang="en-US" sz="2400" b="1">
                <a:latin typeface="Calibri"/>
                <a:ea typeface="Calibri"/>
                <a:cs typeface="Calibri"/>
                <a:sym typeface="Calibri"/>
              </a:rPr>
              <a:t>Problem 2</a:t>
            </a:r>
            <a:r>
              <a:rPr lang="en-US" sz="2400">
                <a:latin typeface="Calibri"/>
                <a:ea typeface="Calibri"/>
                <a:cs typeface="Calibri"/>
                <a:sym typeface="Calibri"/>
              </a:rPr>
              <a:t>: Develop a query which will  gives  the sum of all base fees  of all courses in the </a:t>
            </a:r>
            <a:endParaRPr/>
          </a:p>
          <a:p>
            <a:pPr marL="342900" lvl="0" indent="-342900" algn="l" rtl="0">
              <a:lnSpc>
                <a:spcPct val="120000"/>
              </a:lnSpc>
              <a:spcBef>
                <a:spcPts val="0"/>
              </a:spcBef>
              <a:spcAft>
                <a:spcPts val="0"/>
              </a:spcAft>
              <a:buClr>
                <a:schemeClr val="dk1"/>
              </a:buClr>
              <a:buSzPts val="2400"/>
              <a:buNone/>
            </a:pPr>
            <a:r>
              <a:rPr lang="en-US" sz="2400">
                <a:latin typeface="Calibri"/>
                <a:ea typeface="Calibri"/>
                <a:cs typeface="Calibri"/>
                <a:sym typeface="Calibri"/>
              </a:rPr>
              <a:t>Course_Fees   table.</a:t>
            </a:r>
            <a:endParaRPr/>
          </a:p>
          <a:p>
            <a:pPr marL="342900" lvl="0" indent="-342900" algn="l" rtl="0">
              <a:lnSpc>
                <a:spcPct val="120000"/>
              </a:lnSpc>
              <a:spcBef>
                <a:spcPts val="0"/>
              </a:spcBef>
              <a:spcAft>
                <a:spcPts val="0"/>
              </a:spcAft>
              <a:buClr>
                <a:schemeClr val="dk1"/>
              </a:buClr>
              <a:buSzPts val="2400"/>
              <a:buNone/>
            </a:pPr>
            <a:r>
              <a:rPr lang="en-US" sz="2400" b="1">
                <a:latin typeface="Calibri"/>
                <a:ea typeface="Calibri"/>
                <a:cs typeface="Calibri"/>
                <a:sym typeface="Calibri"/>
              </a:rPr>
              <a:t>Problem 3: </a:t>
            </a:r>
            <a:r>
              <a:rPr lang="en-US" sz="2400">
                <a:latin typeface="Calibri"/>
                <a:ea typeface="Calibri"/>
                <a:cs typeface="Calibri"/>
                <a:sym typeface="Calibri"/>
              </a:rPr>
              <a:t> Display the minimum and maximum base fees of the courses. </a:t>
            </a:r>
            <a:endParaRPr/>
          </a:p>
          <a:p>
            <a:pPr marL="342900" lvl="0" indent="-342900" algn="l" rtl="0">
              <a:lnSpc>
                <a:spcPct val="120000"/>
              </a:lnSpc>
              <a:spcBef>
                <a:spcPts val="0"/>
              </a:spcBef>
              <a:spcAft>
                <a:spcPts val="0"/>
              </a:spcAft>
              <a:buClr>
                <a:schemeClr val="dk1"/>
              </a:buClr>
              <a:buSzPts val="2400"/>
              <a:buNone/>
            </a:pPr>
            <a:r>
              <a:rPr lang="en-US" sz="2400" b="1">
                <a:latin typeface="Calibri"/>
                <a:ea typeface="Calibri"/>
                <a:cs typeface="Calibri"/>
                <a:sym typeface="Calibri"/>
              </a:rPr>
              <a:t>Problem 4: </a:t>
            </a:r>
            <a:r>
              <a:rPr lang="en-US" sz="2400">
                <a:latin typeface="Calibri"/>
                <a:ea typeface="Calibri"/>
                <a:cs typeface="Calibri"/>
                <a:sym typeface="Calibri"/>
              </a:rPr>
              <a:t> Display the average infra fees of the courses. </a:t>
            </a:r>
            <a:endParaRPr/>
          </a:p>
          <a:p>
            <a:pPr marL="342900" lvl="0" indent="-342900" algn="l" rtl="0">
              <a:lnSpc>
                <a:spcPct val="120000"/>
              </a:lnSpc>
              <a:spcBef>
                <a:spcPts val="0"/>
              </a:spcBef>
              <a:spcAft>
                <a:spcPts val="0"/>
              </a:spcAft>
              <a:buClr>
                <a:schemeClr val="dk1"/>
              </a:buClr>
              <a:buSzPts val="2400"/>
              <a:buNone/>
            </a:pPr>
            <a:endParaRPr sz="2400">
              <a:latin typeface="Calibri"/>
              <a:ea typeface="Calibri"/>
              <a:cs typeface="Calibri"/>
              <a:sym typeface="Calibri"/>
            </a:endParaRPr>
          </a:p>
          <a:p>
            <a:pPr marL="342900" lvl="0" indent="-342900" algn="l" rtl="0">
              <a:lnSpc>
                <a:spcPct val="120000"/>
              </a:lnSpc>
              <a:spcBef>
                <a:spcPts val="0"/>
              </a:spcBef>
              <a:spcAft>
                <a:spcPts val="0"/>
              </a:spcAft>
              <a:buClr>
                <a:schemeClr val="dk1"/>
              </a:buClr>
              <a:buSzPts val="2400"/>
              <a:buNone/>
            </a:pPr>
            <a:endParaRPr sz="2400">
              <a:latin typeface="Calibri"/>
              <a:ea typeface="Calibri"/>
              <a:cs typeface="Calibri"/>
              <a:sym typeface="Calibri"/>
            </a:endParaRPr>
          </a:p>
          <a:p>
            <a:pPr marL="342900" lvl="0" indent="-342900" algn="l" rtl="0">
              <a:lnSpc>
                <a:spcPct val="120000"/>
              </a:lnSpc>
              <a:spcBef>
                <a:spcPts val="0"/>
              </a:spcBef>
              <a:spcAft>
                <a:spcPts val="0"/>
              </a:spcAft>
              <a:buClr>
                <a:schemeClr val="dk1"/>
              </a:buClr>
              <a:buSzPts val="2400"/>
              <a:buNone/>
            </a:pPr>
            <a:endParaRPr sz="2400">
              <a:latin typeface="Calibri"/>
              <a:ea typeface="Calibri"/>
              <a:cs typeface="Calibri"/>
              <a:sym typeface="Calibri"/>
            </a:endParaRPr>
          </a:p>
          <a:p>
            <a:pPr marL="6350" lvl="0" indent="-6350" algn="l" rtl="0">
              <a:lnSpc>
                <a:spcPct val="120000"/>
              </a:lnSpc>
              <a:spcBef>
                <a:spcPts val="0"/>
              </a:spcBef>
              <a:spcAft>
                <a:spcPts val="0"/>
              </a:spcAft>
              <a:buClr>
                <a:schemeClr val="dk1"/>
              </a:buClr>
              <a:buSzPts val="2400"/>
              <a:buNone/>
            </a:pPr>
            <a:endParaRPr sz="2400" b="1">
              <a:latin typeface="Calibri"/>
              <a:ea typeface="Calibri"/>
              <a:cs typeface="Calibri"/>
              <a:sym typeface="Calibri"/>
            </a:endParaRPr>
          </a:p>
        </p:txBody>
      </p:sp>
      <p:sp>
        <p:nvSpPr>
          <p:cNvPr id="390" name="Google Shape;390;p36"/>
          <p:cNvSpPr txBox="1">
            <a:spLocks noGrp="1"/>
          </p:cNvSpPr>
          <p:nvPr>
            <p:ph type="title"/>
          </p:nvPr>
        </p:nvSpPr>
        <p:spPr>
          <a:xfrm>
            <a:off x="1303020" y="-152400"/>
            <a:ext cx="829818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Lend a Hand</a:t>
            </a:r>
            <a:endParaRPr/>
          </a:p>
        </p:txBody>
      </p:sp>
      <p:sp>
        <p:nvSpPr>
          <p:cNvPr id="391" name="Google Shape;391;p36"/>
          <p:cNvSpPr txBox="1">
            <a:spLocks noGrp="1"/>
          </p:cNvSpPr>
          <p:nvPr>
            <p:ph type="sldNum" idx="12"/>
          </p:nvPr>
        </p:nvSpPr>
        <p:spPr>
          <a:xfrm>
            <a:off x="138752" y="6414139"/>
            <a:ext cx="457200" cy="277813"/>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fld id="{00000000-1234-1234-1234-123412341234}" type="slidenum">
              <a:rPr lang="en-US"/>
              <a:t>36</a:t>
            </a:fld>
            <a:endParaRPr/>
          </a:p>
        </p:txBody>
      </p:sp>
      <p:pic>
        <p:nvPicPr>
          <p:cNvPr id="392" name="Google Shape;392;p36" descr="http://t2.gstatic.com/images?q=tbn:ANd9GcTq6Gw3TUbGqr1NfzAlLJNRtI_NL4uDHS0wJZ6Pn9ByRZwZ7-wEOQ"/>
          <p:cNvPicPr preferRelativeResize="0"/>
          <p:nvPr/>
        </p:nvPicPr>
        <p:blipFill rotWithShape="1">
          <a:blip r:embed="rId3">
            <a:alphaModFix/>
          </a:blip>
          <a:srcRect t="11924" b="14526"/>
          <a:stretch/>
        </p:blipFill>
        <p:spPr>
          <a:xfrm>
            <a:off x="7620000" y="-76200"/>
            <a:ext cx="1723758" cy="1014248"/>
          </a:xfrm>
          <a:prstGeom prst="rect">
            <a:avLst/>
          </a:prstGeom>
          <a:noFill/>
          <a:ln>
            <a:noFill/>
          </a:ln>
          <a:effectLst>
            <a:outerShdw blurRad="50800" dist="38100" dir="2700000" algn="tl" rotWithShape="0">
              <a:srgbClr val="000000">
                <a:alpha val="40000"/>
              </a:srgbClr>
            </a:outerShdw>
          </a:effec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96"/>
        <p:cNvGrpSpPr/>
        <p:nvPr/>
      </p:nvGrpSpPr>
      <p:grpSpPr>
        <a:xfrm>
          <a:off x="0" y="0"/>
          <a:ext cx="0" cy="0"/>
          <a:chOff x="0" y="0"/>
          <a:chExt cx="0" cy="0"/>
        </a:xfrm>
      </p:grpSpPr>
      <p:sp>
        <p:nvSpPr>
          <p:cNvPr id="397" name="Google Shape;397;p37"/>
          <p:cNvSpPr txBox="1">
            <a:spLocks noGrp="1"/>
          </p:cNvSpPr>
          <p:nvPr>
            <p:ph type="body" idx="1"/>
          </p:nvPr>
        </p:nvSpPr>
        <p:spPr>
          <a:xfrm>
            <a:off x="381000" y="1225550"/>
            <a:ext cx="8686800" cy="4946650"/>
          </a:xfrm>
          <a:prstGeom prst="rect">
            <a:avLst/>
          </a:prstGeom>
          <a:noFill/>
          <a:ln>
            <a:noFill/>
          </a:ln>
        </p:spPr>
        <p:txBody>
          <a:bodyPr spcFirstLastPara="1" wrap="square" lIns="91425" tIns="45700" rIns="91425" bIns="45700" anchor="t" anchorCtr="0">
            <a:noAutofit/>
          </a:bodyPr>
          <a:lstStyle/>
          <a:p>
            <a:pPr marL="342900" lvl="0" indent="-342900" algn="l" rtl="0">
              <a:lnSpc>
                <a:spcPct val="120000"/>
              </a:lnSpc>
              <a:spcBef>
                <a:spcPts val="0"/>
              </a:spcBef>
              <a:spcAft>
                <a:spcPts val="0"/>
              </a:spcAft>
              <a:buClr>
                <a:schemeClr val="dk1"/>
              </a:buClr>
              <a:buSzPts val="2400"/>
              <a:buNone/>
            </a:pPr>
            <a:r>
              <a:rPr lang="en-US" sz="2400" b="1">
                <a:latin typeface="Calibri"/>
                <a:ea typeface="Calibri"/>
                <a:cs typeface="Calibri"/>
                <a:sym typeface="Calibri"/>
              </a:rPr>
              <a:t>Solution 1:</a:t>
            </a:r>
            <a:endParaRPr/>
          </a:p>
          <a:p>
            <a:pPr marL="742950" lvl="1" indent="-365760" algn="l" rtl="0">
              <a:lnSpc>
                <a:spcPct val="120000"/>
              </a:lnSpc>
              <a:spcBef>
                <a:spcPts val="0"/>
              </a:spcBef>
              <a:spcAft>
                <a:spcPts val="0"/>
              </a:spcAft>
              <a:buClr>
                <a:srgbClr val="0070C0"/>
              </a:buClr>
              <a:buSzPts val="2200"/>
              <a:buNone/>
            </a:pPr>
            <a:r>
              <a:rPr lang="en-US" sz="2200" b="1">
                <a:solidFill>
                  <a:srgbClr val="0070C0"/>
                </a:solidFill>
                <a:latin typeface="Calibri"/>
                <a:ea typeface="Calibri"/>
                <a:cs typeface="Calibri"/>
                <a:sym typeface="Calibri"/>
              </a:rPr>
              <a:t>SELECT COUNT</a:t>
            </a:r>
            <a:r>
              <a:rPr lang="en-US" sz="2200" b="1">
                <a:solidFill>
                  <a:srgbClr val="BC8F00"/>
                </a:solidFill>
                <a:latin typeface="Calibri"/>
                <a:ea typeface="Calibri"/>
                <a:cs typeface="Calibri"/>
                <a:sym typeface="Calibri"/>
              </a:rPr>
              <a:t>(*) </a:t>
            </a:r>
            <a:endParaRPr/>
          </a:p>
          <a:p>
            <a:pPr marL="742950" lvl="1" indent="-365760" algn="l" rtl="0">
              <a:lnSpc>
                <a:spcPct val="120000"/>
              </a:lnSpc>
              <a:spcBef>
                <a:spcPts val="0"/>
              </a:spcBef>
              <a:spcAft>
                <a:spcPts val="0"/>
              </a:spcAft>
              <a:buClr>
                <a:srgbClr val="0070C0"/>
              </a:buClr>
              <a:buSzPts val="2200"/>
              <a:buNone/>
            </a:pPr>
            <a:r>
              <a:rPr lang="en-US" sz="2200" b="1">
                <a:solidFill>
                  <a:srgbClr val="0070C0"/>
                </a:solidFill>
                <a:latin typeface="Calibri"/>
                <a:ea typeface="Calibri"/>
                <a:cs typeface="Calibri"/>
                <a:sym typeface="Calibri"/>
              </a:rPr>
              <a:t>FROM</a:t>
            </a:r>
            <a:r>
              <a:rPr lang="en-US" sz="2200" b="1">
                <a:solidFill>
                  <a:srgbClr val="00B050"/>
                </a:solidFill>
                <a:latin typeface="Calibri"/>
                <a:ea typeface="Calibri"/>
                <a:cs typeface="Calibri"/>
                <a:sym typeface="Calibri"/>
              </a:rPr>
              <a:t> </a:t>
            </a:r>
            <a:r>
              <a:rPr lang="en-US" sz="2200" b="1">
                <a:solidFill>
                  <a:srgbClr val="BC8F00"/>
                </a:solidFill>
                <a:latin typeface="Calibri"/>
                <a:ea typeface="Calibri"/>
                <a:cs typeface="Calibri"/>
                <a:sym typeface="Calibri"/>
              </a:rPr>
              <a:t>COURSE_INFO</a:t>
            </a:r>
            <a:endParaRPr/>
          </a:p>
          <a:p>
            <a:pPr marL="342900" lvl="0" indent="-342900" algn="l" rtl="0">
              <a:lnSpc>
                <a:spcPct val="120000"/>
              </a:lnSpc>
              <a:spcBef>
                <a:spcPts val="0"/>
              </a:spcBef>
              <a:spcAft>
                <a:spcPts val="0"/>
              </a:spcAft>
              <a:buClr>
                <a:schemeClr val="dk1"/>
              </a:buClr>
              <a:buSzPts val="2400"/>
              <a:buNone/>
            </a:pPr>
            <a:r>
              <a:rPr lang="en-US" sz="2400" b="1">
                <a:latin typeface="Calibri"/>
                <a:ea typeface="Calibri"/>
                <a:cs typeface="Calibri"/>
                <a:sym typeface="Calibri"/>
              </a:rPr>
              <a:t>Solution 2:</a:t>
            </a:r>
            <a:endParaRPr/>
          </a:p>
          <a:p>
            <a:pPr marL="342900" lvl="0" indent="-342900" algn="l" rtl="0">
              <a:lnSpc>
                <a:spcPct val="120000"/>
              </a:lnSpc>
              <a:spcBef>
                <a:spcPts val="0"/>
              </a:spcBef>
              <a:spcAft>
                <a:spcPts val="0"/>
              </a:spcAft>
              <a:buClr>
                <a:srgbClr val="0070C0"/>
              </a:buClr>
              <a:buSzPts val="2400"/>
              <a:buNone/>
            </a:pPr>
            <a:r>
              <a:rPr lang="en-US" sz="2400" b="1">
                <a:solidFill>
                  <a:srgbClr val="0070C0"/>
                </a:solidFill>
                <a:latin typeface="Calibri"/>
                <a:ea typeface="Calibri"/>
                <a:cs typeface="Calibri"/>
                <a:sym typeface="Calibri"/>
              </a:rPr>
              <a:t>	</a:t>
            </a:r>
            <a:r>
              <a:rPr lang="en-US" sz="2200" b="1">
                <a:solidFill>
                  <a:srgbClr val="0070C0"/>
                </a:solidFill>
                <a:latin typeface="Calibri"/>
                <a:ea typeface="Calibri"/>
                <a:cs typeface="Calibri"/>
                <a:sym typeface="Calibri"/>
              </a:rPr>
              <a:t>SELECT</a:t>
            </a:r>
            <a:r>
              <a:rPr lang="en-US" sz="2200" b="1">
                <a:solidFill>
                  <a:srgbClr val="00B050"/>
                </a:solidFill>
                <a:latin typeface="Calibri"/>
                <a:ea typeface="Calibri"/>
                <a:cs typeface="Calibri"/>
                <a:sym typeface="Calibri"/>
              </a:rPr>
              <a:t> </a:t>
            </a:r>
            <a:r>
              <a:rPr lang="en-US" sz="2200" b="1">
                <a:solidFill>
                  <a:srgbClr val="0070C0"/>
                </a:solidFill>
                <a:latin typeface="Calibri"/>
                <a:ea typeface="Calibri"/>
                <a:cs typeface="Calibri"/>
                <a:sym typeface="Calibri"/>
              </a:rPr>
              <a:t>SUM</a:t>
            </a:r>
            <a:r>
              <a:rPr lang="en-US" sz="2200" b="1">
                <a:solidFill>
                  <a:srgbClr val="BC8F00"/>
                </a:solidFill>
                <a:latin typeface="Calibri"/>
                <a:ea typeface="Calibri"/>
                <a:cs typeface="Calibri"/>
                <a:sym typeface="Calibri"/>
              </a:rPr>
              <a:t>(BASE_FEES) </a:t>
            </a:r>
            <a:endParaRPr sz="2200" b="1">
              <a:solidFill>
                <a:srgbClr val="BC8F00"/>
              </a:solidFill>
              <a:latin typeface="Calibri"/>
              <a:ea typeface="Calibri"/>
              <a:cs typeface="Calibri"/>
              <a:sym typeface="Calibri"/>
            </a:endParaRPr>
          </a:p>
          <a:p>
            <a:pPr marL="342900" lvl="0" indent="-342900" algn="l" rtl="0">
              <a:lnSpc>
                <a:spcPct val="120000"/>
              </a:lnSpc>
              <a:spcBef>
                <a:spcPts val="0"/>
              </a:spcBef>
              <a:spcAft>
                <a:spcPts val="0"/>
              </a:spcAft>
              <a:buClr>
                <a:srgbClr val="0070C0"/>
              </a:buClr>
              <a:buSzPts val="2200"/>
              <a:buNone/>
            </a:pPr>
            <a:r>
              <a:rPr lang="en-US" sz="2200" b="1">
                <a:solidFill>
                  <a:srgbClr val="0070C0"/>
                </a:solidFill>
                <a:latin typeface="Calibri"/>
                <a:ea typeface="Calibri"/>
                <a:cs typeface="Calibri"/>
                <a:sym typeface="Calibri"/>
              </a:rPr>
              <a:t>	FROM</a:t>
            </a:r>
            <a:r>
              <a:rPr lang="en-US" sz="2200">
                <a:solidFill>
                  <a:srgbClr val="00B050"/>
                </a:solidFill>
                <a:latin typeface="Calibri"/>
                <a:ea typeface="Calibri"/>
                <a:cs typeface="Calibri"/>
                <a:sym typeface="Calibri"/>
              </a:rPr>
              <a:t> </a:t>
            </a:r>
            <a:r>
              <a:rPr lang="en-US" sz="2200" b="1">
                <a:solidFill>
                  <a:srgbClr val="BC8F00"/>
                </a:solidFill>
                <a:latin typeface="Calibri"/>
                <a:ea typeface="Calibri"/>
                <a:cs typeface="Calibri"/>
                <a:sym typeface="Calibri"/>
              </a:rPr>
              <a:t>course_fees</a:t>
            </a:r>
            <a:endParaRPr sz="2200" b="1">
              <a:solidFill>
                <a:srgbClr val="BC8F00"/>
              </a:solidFill>
              <a:latin typeface="Calibri"/>
              <a:ea typeface="Calibri"/>
              <a:cs typeface="Calibri"/>
              <a:sym typeface="Calibri"/>
            </a:endParaRPr>
          </a:p>
          <a:p>
            <a:pPr marL="342900" lvl="0" indent="-342900" algn="l" rtl="0">
              <a:lnSpc>
                <a:spcPct val="120000"/>
              </a:lnSpc>
              <a:spcBef>
                <a:spcPts val="0"/>
              </a:spcBef>
              <a:spcAft>
                <a:spcPts val="0"/>
              </a:spcAft>
              <a:buClr>
                <a:schemeClr val="dk1"/>
              </a:buClr>
              <a:buSzPts val="2400"/>
              <a:buNone/>
            </a:pPr>
            <a:r>
              <a:rPr lang="en-US" sz="2400" b="1">
                <a:latin typeface="Calibri"/>
                <a:ea typeface="Calibri"/>
                <a:cs typeface="Calibri"/>
                <a:sym typeface="Calibri"/>
              </a:rPr>
              <a:t>Solution 3:</a:t>
            </a:r>
            <a:endParaRPr/>
          </a:p>
          <a:p>
            <a:pPr marL="742950" lvl="1" indent="-365760" algn="l" rtl="0">
              <a:lnSpc>
                <a:spcPct val="120000"/>
              </a:lnSpc>
              <a:spcBef>
                <a:spcPts val="0"/>
              </a:spcBef>
              <a:spcAft>
                <a:spcPts val="0"/>
              </a:spcAft>
              <a:buClr>
                <a:srgbClr val="0070C0"/>
              </a:buClr>
              <a:buSzPts val="2200"/>
              <a:buNone/>
            </a:pPr>
            <a:r>
              <a:rPr lang="en-US" sz="2200" b="1">
                <a:solidFill>
                  <a:srgbClr val="0070C0"/>
                </a:solidFill>
                <a:latin typeface="Calibri"/>
                <a:ea typeface="Calibri"/>
                <a:cs typeface="Calibri"/>
                <a:sym typeface="Calibri"/>
              </a:rPr>
              <a:t>SELECT</a:t>
            </a:r>
            <a:r>
              <a:rPr lang="en-US" sz="2200" b="1">
                <a:solidFill>
                  <a:srgbClr val="00B050"/>
                </a:solidFill>
                <a:latin typeface="Calibri"/>
                <a:ea typeface="Calibri"/>
                <a:cs typeface="Calibri"/>
                <a:sym typeface="Calibri"/>
              </a:rPr>
              <a:t> </a:t>
            </a:r>
            <a:r>
              <a:rPr lang="en-US" sz="2200" b="1">
                <a:solidFill>
                  <a:srgbClr val="0070C0"/>
                </a:solidFill>
                <a:latin typeface="Calibri"/>
                <a:ea typeface="Calibri"/>
                <a:cs typeface="Calibri"/>
                <a:sym typeface="Calibri"/>
              </a:rPr>
              <a:t>MIN</a:t>
            </a:r>
            <a:r>
              <a:rPr lang="en-US" sz="2200" b="1">
                <a:solidFill>
                  <a:srgbClr val="BC8F00"/>
                </a:solidFill>
                <a:latin typeface="Calibri"/>
                <a:ea typeface="Calibri"/>
                <a:cs typeface="Calibri"/>
                <a:sym typeface="Calibri"/>
              </a:rPr>
              <a:t>(BASE_FEES),MAX(BASE_FEES) </a:t>
            </a:r>
            <a:endParaRPr/>
          </a:p>
          <a:p>
            <a:pPr marL="342900" lvl="0" indent="-342900" algn="l" rtl="0">
              <a:lnSpc>
                <a:spcPct val="120000"/>
              </a:lnSpc>
              <a:spcBef>
                <a:spcPts val="0"/>
              </a:spcBef>
              <a:spcAft>
                <a:spcPts val="0"/>
              </a:spcAft>
              <a:buClr>
                <a:srgbClr val="00B050"/>
              </a:buClr>
              <a:buSzPts val="2200"/>
              <a:buNone/>
            </a:pPr>
            <a:r>
              <a:rPr lang="en-US" sz="2200" b="1">
                <a:solidFill>
                  <a:srgbClr val="00B050"/>
                </a:solidFill>
                <a:latin typeface="Calibri"/>
                <a:ea typeface="Calibri"/>
                <a:cs typeface="Calibri"/>
                <a:sym typeface="Calibri"/>
              </a:rPr>
              <a:t>	   </a:t>
            </a:r>
            <a:r>
              <a:rPr lang="en-US" sz="2200" b="1">
                <a:solidFill>
                  <a:srgbClr val="0070C0"/>
                </a:solidFill>
                <a:latin typeface="Calibri"/>
                <a:ea typeface="Calibri"/>
                <a:cs typeface="Calibri"/>
                <a:sym typeface="Calibri"/>
              </a:rPr>
              <a:t>FROM</a:t>
            </a:r>
            <a:r>
              <a:rPr lang="en-US" sz="2200">
                <a:solidFill>
                  <a:srgbClr val="00B050"/>
                </a:solidFill>
                <a:latin typeface="Calibri"/>
                <a:ea typeface="Calibri"/>
                <a:cs typeface="Calibri"/>
                <a:sym typeface="Calibri"/>
              </a:rPr>
              <a:t> </a:t>
            </a:r>
            <a:r>
              <a:rPr lang="en-US" sz="2200" b="1">
                <a:solidFill>
                  <a:srgbClr val="BC8F00"/>
                </a:solidFill>
                <a:latin typeface="Calibri"/>
                <a:ea typeface="Calibri"/>
                <a:cs typeface="Calibri"/>
                <a:sym typeface="Calibri"/>
              </a:rPr>
              <a:t>COURSE_FEES</a:t>
            </a:r>
            <a:endParaRPr/>
          </a:p>
          <a:p>
            <a:pPr marL="342900" lvl="0" indent="-342900" algn="l" rtl="0">
              <a:lnSpc>
                <a:spcPct val="120000"/>
              </a:lnSpc>
              <a:spcBef>
                <a:spcPts val="0"/>
              </a:spcBef>
              <a:spcAft>
                <a:spcPts val="0"/>
              </a:spcAft>
              <a:buClr>
                <a:schemeClr val="dk1"/>
              </a:buClr>
              <a:buSzPts val="2400"/>
              <a:buNone/>
            </a:pPr>
            <a:r>
              <a:rPr lang="en-US" sz="2400" b="1">
                <a:latin typeface="Calibri"/>
                <a:ea typeface="Calibri"/>
                <a:cs typeface="Calibri"/>
                <a:sym typeface="Calibri"/>
              </a:rPr>
              <a:t>Solution 4:</a:t>
            </a:r>
            <a:endParaRPr/>
          </a:p>
          <a:p>
            <a:pPr marL="742950" lvl="1" indent="-365760" algn="l" rtl="0">
              <a:lnSpc>
                <a:spcPct val="120000"/>
              </a:lnSpc>
              <a:spcBef>
                <a:spcPts val="0"/>
              </a:spcBef>
              <a:spcAft>
                <a:spcPts val="0"/>
              </a:spcAft>
              <a:buClr>
                <a:srgbClr val="0070C0"/>
              </a:buClr>
              <a:buSzPts val="2200"/>
              <a:buNone/>
            </a:pPr>
            <a:r>
              <a:rPr lang="en-US" sz="2200" b="1">
                <a:solidFill>
                  <a:srgbClr val="0070C0"/>
                </a:solidFill>
                <a:latin typeface="Calibri"/>
                <a:ea typeface="Calibri"/>
                <a:cs typeface="Calibri"/>
                <a:sym typeface="Calibri"/>
              </a:rPr>
              <a:t>SELECT</a:t>
            </a:r>
            <a:r>
              <a:rPr lang="en-US" sz="2200" b="1">
                <a:solidFill>
                  <a:srgbClr val="00B050"/>
                </a:solidFill>
                <a:latin typeface="Calibri"/>
                <a:ea typeface="Calibri"/>
                <a:cs typeface="Calibri"/>
                <a:sym typeface="Calibri"/>
              </a:rPr>
              <a:t> </a:t>
            </a:r>
            <a:r>
              <a:rPr lang="en-US" sz="2200" b="1">
                <a:solidFill>
                  <a:srgbClr val="0070C0"/>
                </a:solidFill>
                <a:latin typeface="Calibri"/>
                <a:ea typeface="Calibri"/>
                <a:cs typeface="Calibri"/>
                <a:sym typeface="Calibri"/>
              </a:rPr>
              <a:t>AVG</a:t>
            </a:r>
            <a:r>
              <a:rPr lang="en-US" sz="2200" b="1">
                <a:solidFill>
                  <a:srgbClr val="BC8F00"/>
                </a:solidFill>
                <a:latin typeface="Calibri"/>
                <a:ea typeface="Calibri"/>
                <a:cs typeface="Calibri"/>
                <a:sym typeface="Calibri"/>
              </a:rPr>
              <a:t>(INFRA_FEES) </a:t>
            </a:r>
            <a:endParaRPr/>
          </a:p>
          <a:p>
            <a:pPr marL="342900" lvl="0" indent="-342900" algn="l" rtl="0">
              <a:lnSpc>
                <a:spcPct val="120000"/>
              </a:lnSpc>
              <a:spcBef>
                <a:spcPts val="0"/>
              </a:spcBef>
              <a:spcAft>
                <a:spcPts val="0"/>
              </a:spcAft>
              <a:buClr>
                <a:srgbClr val="00B050"/>
              </a:buClr>
              <a:buSzPts val="2200"/>
              <a:buNone/>
            </a:pPr>
            <a:r>
              <a:rPr lang="en-US" sz="2200" b="1">
                <a:solidFill>
                  <a:srgbClr val="00B050"/>
                </a:solidFill>
                <a:latin typeface="Calibri"/>
                <a:ea typeface="Calibri"/>
                <a:cs typeface="Calibri"/>
                <a:sym typeface="Calibri"/>
              </a:rPr>
              <a:t> 	  </a:t>
            </a:r>
            <a:r>
              <a:rPr lang="en-US" sz="2200" b="1">
                <a:solidFill>
                  <a:srgbClr val="0070C0"/>
                </a:solidFill>
                <a:latin typeface="Calibri"/>
                <a:ea typeface="Calibri"/>
                <a:cs typeface="Calibri"/>
                <a:sym typeface="Calibri"/>
              </a:rPr>
              <a:t>FROM</a:t>
            </a:r>
            <a:r>
              <a:rPr lang="en-US" sz="2200">
                <a:solidFill>
                  <a:srgbClr val="00B050"/>
                </a:solidFill>
                <a:latin typeface="Calibri"/>
                <a:ea typeface="Calibri"/>
                <a:cs typeface="Calibri"/>
                <a:sym typeface="Calibri"/>
              </a:rPr>
              <a:t> </a:t>
            </a:r>
            <a:r>
              <a:rPr lang="en-US" sz="2200" b="1">
                <a:solidFill>
                  <a:srgbClr val="BC8F00"/>
                </a:solidFill>
                <a:latin typeface="Calibri"/>
                <a:ea typeface="Calibri"/>
                <a:cs typeface="Calibri"/>
                <a:sym typeface="Calibri"/>
              </a:rPr>
              <a:t>course_fees</a:t>
            </a:r>
            <a:endParaRPr sz="2200" b="1">
              <a:solidFill>
                <a:srgbClr val="BC8F00"/>
              </a:solidFill>
              <a:latin typeface="Calibri"/>
              <a:ea typeface="Calibri"/>
              <a:cs typeface="Calibri"/>
              <a:sym typeface="Calibri"/>
            </a:endParaRPr>
          </a:p>
          <a:p>
            <a:pPr marL="342900" lvl="0" indent="-342900" algn="l" rtl="0">
              <a:lnSpc>
                <a:spcPct val="120000"/>
              </a:lnSpc>
              <a:spcBef>
                <a:spcPts val="0"/>
              </a:spcBef>
              <a:spcAft>
                <a:spcPts val="0"/>
              </a:spcAft>
              <a:buClr>
                <a:schemeClr val="dk1"/>
              </a:buClr>
              <a:buSzPts val="2400"/>
              <a:buNone/>
            </a:pPr>
            <a:endParaRPr sz="2400">
              <a:solidFill>
                <a:srgbClr val="00B050"/>
              </a:solidFill>
              <a:latin typeface="Calibri"/>
              <a:ea typeface="Calibri"/>
              <a:cs typeface="Calibri"/>
              <a:sym typeface="Calibri"/>
            </a:endParaRPr>
          </a:p>
        </p:txBody>
      </p:sp>
      <p:sp>
        <p:nvSpPr>
          <p:cNvPr id="398" name="Google Shape;398;p37"/>
          <p:cNvSpPr txBox="1">
            <a:spLocks noGrp="1"/>
          </p:cNvSpPr>
          <p:nvPr>
            <p:ph type="title"/>
          </p:nvPr>
        </p:nvSpPr>
        <p:spPr>
          <a:xfrm>
            <a:off x="1303020" y="-152400"/>
            <a:ext cx="829818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Solutions</a:t>
            </a:r>
            <a:endParaRPr/>
          </a:p>
        </p:txBody>
      </p:sp>
      <p:sp>
        <p:nvSpPr>
          <p:cNvPr id="399" name="Google Shape;399;p37"/>
          <p:cNvSpPr txBox="1">
            <a:spLocks noGrp="1"/>
          </p:cNvSpPr>
          <p:nvPr>
            <p:ph type="sldNum" idx="12"/>
          </p:nvPr>
        </p:nvSpPr>
        <p:spPr>
          <a:xfrm>
            <a:off x="138752" y="6414139"/>
            <a:ext cx="457200" cy="277813"/>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fld id="{00000000-1234-1234-1234-123412341234}" type="slidenum">
              <a:rPr lang="en-US"/>
              <a:t>37</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404"/>
        <p:cNvGrpSpPr/>
        <p:nvPr/>
      </p:nvGrpSpPr>
      <p:grpSpPr>
        <a:xfrm>
          <a:off x="0" y="0"/>
          <a:ext cx="0" cy="0"/>
          <a:chOff x="0" y="0"/>
          <a:chExt cx="0" cy="0"/>
        </a:xfrm>
      </p:grpSpPr>
      <p:sp>
        <p:nvSpPr>
          <p:cNvPr id="405" name="Google Shape;405;p38"/>
          <p:cNvSpPr txBox="1">
            <a:spLocks noGrp="1"/>
          </p:cNvSpPr>
          <p:nvPr>
            <p:ph type="body" idx="1"/>
          </p:nvPr>
        </p:nvSpPr>
        <p:spPr>
          <a:xfrm>
            <a:off x="381000" y="1228725"/>
            <a:ext cx="8686800" cy="4105275"/>
          </a:xfrm>
          <a:prstGeom prst="rect">
            <a:avLst/>
          </a:prstGeom>
          <a:noFill/>
          <a:ln>
            <a:noFill/>
          </a:ln>
        </p:spPr>
        <p:txBody>
          <a:bodyPr spcFirstLastPara="1" wrap="square" lIns="91425" tIns="45700" rIns="91425" bIns="45700" anchor="t" anchorCtr="0">
            <a:noAutofit/>
          </a:bodyPr>
          <a:lstStyle/>
          <a:p>
            <a:pPr marL="0" lvl="0" indent="0" algn="l" rtl="0">
              <a:lnSpc>
                <a:spcPct val="120000"/>
              </a:lnSpc>
              <a:spcBef>
                <a:spcPts val="0"/>
              </a:spcBef>
              <a:spcAft>
                <a:spcPts val="0"/>
              </a:spcAft>
              <a:buClr>
                <a:schemeClr val="dk1"/>
              </a:buClr>
              <a:buSzPts val="2400"/>
              <a:buNone/>
            </a:pPr>
            <a:r>
              <a:rPr lang="en-US" sz="2400" b="1">
                <a:latin typeface="Calibri"/>
                <a:ea typeface="Calibri"/>
                <a:cs typeface="Calibri"/>
                <a:sym typeface="Calibri"/>
              </a:rPr>
              <a:t>Pre-requisite: </a:t>
            </a:r>
            <a:r>
              <a:rPr lang="en-US" sz="2400">
                <a:latin typeface="Calibri"/>
                <a:ea typeface="Calibri"/>
                <a:cs typeface="Calibri"/>
                <a:sym typeface="Calibri"/>
              </a:rPr>
              <a:t>We will use the Course_Info and Course_Fees   tables for doing this lend a hand. Add a new column Infra_Fees in course_fees  with type number(5,3). For all the records in update the Infra_Fees  with  some values say 45.751, 43.453 etc.</a:t>
            </a:r>
            <a:endParaRPr/>
          </a:p>
          <a:p>
            <a:pPr marL="0" lvl="0" indent="0" algn="l" rtl="0">
              <a:lnSpc>
                <a:spcPct val="120000"/>
              </a:lnSpc>
              <a:spcBef>
                <a:spcPts val="0"/>
              </a:spcBef>
              <a:spcAft>
                <a:spcPts val="0"/>
              </a:spcAft>
              <a:buClr>
                <a:schemeClr val="dk1"/>
              </a:buClr>
              <a:buSzPts val="2400"/>
              <a:buNone/>
            </a:pPr>
            <a:r>
              <a:rPr lang="en-US" sz="2400" b="1">
                <a:latin typeface="Calibri"/>
                <a:ea typeface="Calibri"/>
                <a:cs typeface="Calibri"/>
                <a:sym typeface="Calibri"/>
              </a:rPr>
              <a:t>Hints: </a:t>
            </a:r>
            <a:endParaRPr/>
          </a:p>
          <a:p>
            <a:pPr marL="0" lvl="0" indent="0" algn="l" rtl="0">
              <a:lnSpc>
                <a:spcPct val="120000"/>
              </a:lnSpc>
              <a:spcBef>
                <a:spcPts val="0"/>
              </a:spcBef>
              <a:spcAft>
                <a:spcPts val="0"/>
              </a:spcAft>
              <a:buClr>
                <a:schemeClr val="dk1"/>
              </a:buClr>
              <a:buSzPts val="2400"/>
              <a:buChar char="•"/>
            </a:pPr>
            <a:r>
              <a:rPr lang="en-US" sz="2400">
                <a:latin typeface="Calibri"/>
                <a:ea typeface="Calibri"/>
                <a:cs typeface="Calibri"/>
                <a:sym typeface="Calibri"/>
              </a:rPr>
              <a:t> Use joins wherever needed</a:t>
            </a:r>
            <a:endParaRPr/>
          </a:p>
          <a:p>
            <a:pPr marL="0" lvl="0" indent="0" algn="l" rtl="0">
              <a:lnSpc>
                <a:spcPct val="120000"/>
              </a:lnSpc>
              <a:spcBef>
                <a:spcPts val="0"/>
              </a:spcBef>
              <a:spcAft>
                <a:spcPts val="0"/>
              </a:spcAft>
              <a:buClr>
                <a:schemeClr val="dk1"/>
              </a:buClr>
              <a:buSzPts val="2400"/>
              <a:buNone/>
            </a:pPr>
            <a:endParaRPr sz="2400" b="1">
              <a:latin typeface="Calibri"/>
              <a:ea typeface="Calibri"/>
              <a:cs typeface="Calibri"/>
              <a:sym typeface="Calibri"/>
            </a:endParaRPr>
          </a:p>
          <a:p>
            <a:pPr marL="0" lvl="0" indent="0" algn="l" rtl="0">
              <a:lnSpc>
                <a:spcPct val="120000"/>
              </a:lnSpc>
              <a:spcBef>
                <a:spcPts val="0"/>
              </a:spcBef>
              <a:spcAft>
                <a:spcPts val="0"/>
              </a:spcAft>
              <a:buClr>
                <a:schemeClr val="dk1"/>
              </a:buClr>
              <a:buSzPts val="2400"/>
              <a:buNone/>
            </a:pPr>
            <a:r>
              <a:rPr lang="en-US" sz="2400" b="1">
                <a:latin typeface="Calibri"/>
                <a:ea typeface="Calibri"/>
                <a:cs typeface="Calibri"/>
                <a:sym typeface="Calibri"/>
              </a:rPr>
              <a:t>Problem 5 : </a:t>
            </a:r>
            <a:r>
              <a:rPr lang="en-US" sz="2400">
                <a:latin typeface="Calibri"/>
                <a:ea typeface="Calibri"/>
                <a:cs typeface="Calibri"/>
                <a:sym typeface="Calibri"/>
              </a:rPr>
              <a:t>Develop a query which will display the course name and course Infra fees of all the course. The infra fee should be rounded to one decimal point.</a:t>
            </a:r>
            <a:endParaRPr/>
          </a:p>
          <a:p>
            <a:pPr marL="0" lvl="0" indent="0" algn="l" rtl="0">
              <a:lnSpc>
                <a:spcPct val="120000"/>
              </a:lnSpc>
              <a:spcBef>
                <a:spcPts val="0"/>
              </a:spcBef>
              <a:spcAft>
                <a:spcPts val="0"/>
              </a:spcAft>
              <a:buClr>
                <a:schemeClr val="dk1"/>
              </a:buClr>
              <a:buSzPts val="2400"/>
              <a:buNone/>
            </a:pPr>
            <a:endParaRPr sz="2400" b="1">
              <a:latin typeface="Calibri"/>
              <a:ea typeface="Calibri"/>
              <a:cs typeface="Calibri"/>
              <a:sym typeface="Calibri"/>
            </a:endParaRPr>
          </a:p>
        </p:txBody>
      </p:sp>
      <p:sp>
        <p:nvSpPr>
          <p:cNvPr id="406" name="Google Shape;406;p38"/>
          <p:cNvSpPr txBox="1">
            <a:spLocks noGrp="1"/>
          </p:cNvSpPr>
          <p:nvPr>
            <p:ph type="title"/>
          </p:nvPr>
        </p:nvSpPr>
        <p:spPr>
          <a:xfrm>
            <a:off x="1303020" y="-152400"/>
            <a:ext cx="829818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Lend a Hand</a:t>
            </a:r>
            <a:endParaRPr/>
          </a:p>
        </p:txBody>
      </p:sp>
      <p:sp>
        <p:nvSpPr>
          <p:cNvPr id="407" name="Google Shape;407;p38"/>
          <p:cNvSpPr txBox="1">
            <a:spLocks noGrp="1"/>
          </p:cNvSpPr>
          <p:nvPr>
            <p:ph type="sldNum" idx="12"/>
          </p:nvPr>
        </p:nvSpPr>
        <p:spPr>
          <a:xfrm>
            <a:off x="138752" y="6414139"/>
            <a:ext cx="457200" cy="277813"/>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fld id="{00000000-1234-1234-1234-123412341234}" type="slidenum">
              <a:rPr lang="en-US"/>
              <a:t>38</a:t>
            </a:fld>
            <a:endParaRPr/>
          </a:p>
        </p:txBody>
      </p:sp>
      <p:pic>
        <p:nvPicPr>
          <p:cNvPr id="408" name="Google Shape;408;p38" descr="http://t2.gstatic.com/images?q=tbn:ANd9GcTq6Gw3TUbGqr1NfzAlLJNRtI_NL4uDHS0wJZ6Pn9ByRZwZ7-wEOQ"/>
          <p:cNvPicPr preferRelativeResize="0"/>
          <p:nvPr/>
        </p:nvPicPr>
        <p:blipFill rotWithShape="1">
          <a:blip r:embed="rId3">
            <a:alphaModFix/>
          </a:blip>
          <a:srcRect t="11924" b="14526"/>
          <a:stretch/>
        </p:blipFill>
        <p:spPr>
          <a:xfrm>
            <a:off x="7620000" y="-76200"/>
            <a:ext cx="1723758" cy="1014248"/>
          </a:xfrm>
          <a:prstGeom prst="rect">
            <a:avLst/>
          </a:prstGeom>
          <a:noFill/>
          <a:ln>
            <a:noFill/>
          </a:ln>
          <a:effectLst>
            <a:outerShdw blurRad="50800" dist="38100" dir="2700000" algn="tl" rotWithShape="0">
              <a:srgbClr val="000000">
                <a:alpha val="40000"/>
              </a:srgbClr>
            </a:outerShdw>
          </a:effec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413"/>
        <p:cNvGrpSpPr/>
        <p:nvPr/>
      </p:nvGrpSpPr>
      <p:grpSpPr>
        <a:xfrm>
          <a:off x="0" y="0"/>
          <a:ext cx="0" cy="0"/>
          <a:chOff x="0" y="0"/>
          <a:chExt cx="0" cy="0"/>
        </a:xfrm>
      </p:grpSpPr>
      <p:sp>
        <p:nvSpPr>
          <p:cNvPr id="414" name="Google Shape;414;p39"/>
          <p:cNvSpPr txBox="1">
            <a:spLocks noGrp="1"/>
          </p:cNvSpPr>
          <p:nvPr>
            <p:ph type="body" idx="1"/>
          </p:nvPr>
        </p:nvSpPr>
        <p:spPr>
          <a:xfrm>
            <a:off x="381000" y="1228725"/>
            <a:ext cx="8686800" cy="4105275"/>
          </a:xfrm>
          <a:prstGeom prst="rect">
            <a:avLst/>
          </a:prstGeom>
          <a:noFill/>
          <a:ln>
            <a:noFill/>
          </a:ln>
        </p:spPr>
        <p:txBody>
          <a:bodyPr spcFirstLastPara="1" wrap="square" lIns="91425" tIns="45700" rIns="91425" bIns="45700" anchor="t" anchorCtr="0">
            <a:noAutofit/>
          </a:bodyPr>
          <a:lstStyle/>
          <a:p>
            <a:pPr marL="0" lvl="0" indent="0" algn="l" rtl="0">
              <a:lnSpc>
                <a:spcPct val="120000"/>
              </a:lnSpc>
              <a:spcBef>
                <a:spcPts val="0"/>
              </a:spcBef>
              <a:spcAft>
                <a:spcPts val="0"/>
              </a:spcAft>
              <a:buClr>
                <a:schemeClr val="dk1"/>
              </a:buClr>
              <a:buSzPts val="2400"/>
              <a:buNone/>
            </a:pPr>
            <a:r>
              <a:rPr lang="en-US" sz="2400" b="1"/>
              <a:t>Problem 6 : </a:t>
            </a:r>
            <a:r>
              <a:rPr lang="en-US" sz="2400"/>
              <a:t>Develop a query which will list all the course code and course names in Course_Info   table where in the first letter should be capital letter.</a:t>
            </a:r>
            <a:endParaRPr/>
          </a:p>
          <a:p>
            <a:pPr marL="0" lvl="0" indent="0" algn="l" rtl="0">
              <a:lnSpc>
                <a:spcPct val="120000"/>
              </a:lnSpc>
              <a:spcBef>
                <a:spcPts val="0"/>
              </a:spcBef>
              <a:spcAft>
                <a:spcPts val="0"/>
              </a:spcAft>
              <a:buClr>
                <a:schemeClr val="dk1"/>
              </a:buClr>
              <a:buSzPts val="2400"/>
              <a:buNone/>
            </a:pPr>
            <a:endParaRPr sz="2400"/>
          </a:p>
          <a:p>
            <a:pPr marL="0" lvl="0" indent="0" algn="l" rtl="0">
              <a:lnSpc>
                <a:spcPct val="120000"/>
              </a:lnSpc>
              <a:spcBef>
                <a:spcPts val="0"/>
              </a:spcBef>
              <a:spcAft>
                <a:spcPts val="0"/>
              </a:spcAft>
              <a:buClr>
                <a:schemeClr val="dk1"/>
              </a:buClr>
              <a:buSzPts val="2400"/>
              <a:buNone/>
            </a:pPr>
            <a:r>
              <a:rPr lang="en-US" sz="2400" b="1"/>
              <a:t>Problem 7 :</a:t>
            </a:r>
            <a:r>
              <a:rPr lang="en-US" sz="2400"/>
              <a:t>Develop a query which will display the course name and the number of days between the current date and course start date in Course_Info   table</a:t>
            </a:r>
            <a:endParaRPr/>
          </a:p>
          <a:p>
            <a:pPr marL="0" lvl="0" indent="0" algn="l" rtl="0">
              <a:lnSpc>
                <a:spcPct val="120000"/>
              </a:lnSpc>
              <a:spcBef>
                <a:spcPts val="0"/>
              </a:spcBef>
              <a:spcAft>
                <a:spcPts val="0"/>
              </a:spcAft>
              <a:buClr>
                <a:schemeClr val="dk1"/>
              </a:buClr>
              <a:buSzPts val="2400"/>
              <a:buNone/>
            </a:pPr>
            <a:endParaRPr sz="2400"/>
          </a:p>
          <a:p>
            <a:pPr marL="0" lvl="0" indent="0" algn="l" rtl="0">
              <a:lnSpc>
                <a:spcPct val="120000"/>
              </a:lnSpc>
              <a:spcBef>
                <a:spcPts val="0"/>
              </a:spcBef>
              <a:spcAft>
                <a:spcPts val="0"/>
              </a:spcAft>
              <a:buClr>
                <a:schemeClr val="dk1"/>
              </a:buClr>
              <a:buSzPts val="2400"/>
              <a:buNone/>
            </a:pPr>
            <a:r>
              <a:rPr lang="en-US" sz="2400" b="1">
                <a:latin typeface="Arial"/>
                <a:ea typeface="Arial"/>
                <a:cs typeface="Arial"/>
                <a:sym typeface="Arial"/>
              </a:rPr>
              <a:t>Problem 8 :</a:t>
            </a:r>
            <a:r>
              <a:rPr lang="en-US" sz="2400">
                <a:latin typeface="Arial"/>
                <a:ea typeface="Arial"/>
                <a:cs typeface="Arial"/>
                <a:sym typeface="Arial"/>
              </a:rPr>
              <a:t>Develop a query which will concatenate the Course Name and Course Code in the following format and display all the courses in the course_info  table. </a:t>
            </a:r>
            <a:endParaRPr/>
          </a:p>
          <a:p>
            <a:pPr marL="0" lvl="0" indent="0" algn="l" rtl="0">
              <a:lnSpc>
                <a:spcPct val="120000"/>
              </a:lnSpc>
              <a:spcBef>
                <a:spcPts val="0"/>
              </a:spcBef>
              <a:spcAft>
                <a:spcPts val="0"/>
              </a:spcAft>
              <a:buClr>
                <a:schemeClr val="dk1"/>
              </a:buClr>
              <a:buSzPts val="2400"/>
              <a:buNone/>
            </a:pPr>
            <a:r>
              <a:rPr lang="en-US" sz="2400">
                <a:latin typeface="Arial"/>
                <a:ea typeface="Arial"/>
                <a:cs typeface="Arial"/>
                <a:sym typeface="Arial"/>
              </a:rPr>
              <a:t>	“&lt; Course Name&gt;&lt;Course Code&gt;”</a:t>
            </a:r>
            <a:endParaRPr/>
          </a:p>
          <a:p>
            <a:pPr marL="0" lvl="0" indent="0" algn="l" rtl="0">
              <a:lnSpc>
                <a:spcPct val="120000"/>
              </a:lnSpc>
              <a:spcBef>
                <a:spcPts val="0"/>
              </a:spcBef>
              <a:spcAft>
                <a:spcPts val="0"/>
              </a:spcAft>
              <a:buClr>
                <a:schemeClr val="dk1"/>
              </a:buClr>
              <a:buSzPts val="2400"/>
              <a:buNone/>
            </a:pPr>
            <a:endParaRPr sz="2400"/>
          </a:p>
          <a:p>
            <a:pPr marL="0" lvl="0" indent="0" algn="l" rtl="0">
              <a:lnSpc>
                <a:spcPct val="120000"/>
              </a:lnSpc>
              <a:spcBef>
                <a:spcPts val="0"/>
              </a:spcBef>
              <a:spcAft>
                <a:spcPts val="0"/>
              </a:spcAft>
              <a:buClr>
                <a:schemeClr val="dk1"/>
              </a:buClr>
              <a:buSzPts val="2400"/>
              <a:buNone/>
            </a:pPr>
            <a:endParaRPr sz="2400"/>
          </a:p>
        </p:txBody>
      </p:sp>
      <p:sp>
        <p:nvSpPr>
          <p:cNvPr id="415" name="Google Shape;415;p39"/>
          <p:cNvSpPr txBox="1">
            <a:spLocks noGrp="1"/>
          </p:cNvSpPr>
          <p:nvPr>
            <p:ph type="title"/>
          </p:nvPr>
        </p:nvSpPr>
        <p:spPr>
          <a:xfrm>
            <a:off x="1303020" y="-152400"/>
            <a:ext cx="829818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Lend a Hand</a:t>
            </a:r>
            <a:endParaRPr/>
          </a:p>
        </p:txBody>
      </p:sp>
      <p:sp>
        <p:nvSpPr>
          <p:cNvPr id="416" name="Google Shape;416;p39"/>
          <p:cNvSpPr txBox="1">
            <a:spLocks noGrp="1"/>
          </p:cNvSpPr>
          <p:nvPr>
            <p:ph type="sldNum" idx="12"/>
          </p:nvPr>
        </p:nvSpPr>
        <p:spPr>
          <a:xfrm>
            <a:off x="138752" y="6414139"/>
            <a:ext cx="457200" cy="277813"/>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fld id="{00000000-1234-1234-1234-123412341234}" type="slidenum">
              <a:rPr lang="en-US"/>
              <a:t>39</a:t>
            </a:fld>
            <a:endParaRPr/>
          </a:p>
        </p:txBody>
      </p:sp>
      <p:pic>
        <p:nvPicPr>
          <p:cNvPr id="417" name="Google Shape;417;p39" descr="http://t2.gstatic.com/images?q=tbn:ANd9GcTq6Gw3TUbGqr1NfzAlLJNRtI_NL4uDHS0wJZ6Pn9ByRZwZ7-wEOQ"/>
          <p:cNvPicPr preferRelativeResize="0"/>
          <p:nvPr/>
        </p:nvPicPr>
        <p:blipFill rotWithShape="1">
          <a:blip r:embed="rId3">
            <a:alphaModFix/>
          </a:blip>
          <a:srcRect t="11924" b="14526"/>
          <a:stretch/>
        </p:blipFill>
        <p:spPr>
          <a:xfrm>
            <a:off x="7620000" y="-76200"/>
            <a:ext cx="1723758" cy="1014248"/>
          </a:xfrm>
          <a:prstGeom prst="rect">
            <a:avLst/>
          </a:prstGeom>
          <a:noFill/>
          <a:ln>
            <a:noFill/>
          </a:ln>
          <a:effectLst>
            <a:outerShdw blurRad="50800" dist="38100" dir="2700000" algn="tl" rotWithShape="0">
              <a:srgbClr val="000000">
                <a:alpha val="40000"/>
              </a:srgbClr>
            </a:outerShdw>
          </a:effec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422"/>
        <p:cNvGrpSpPr/>
        <p:nvPr/>
      </p:nvGrpSpPr>
      <p:grpSpPr>
        <a:xfrm>
          <a:off x="0" y="0"/>
          <a:ext cx="0" cy="0"/>
          <a:chOff x="0" y="0"/>
          <a:chExt cx="0" cy="0"/>
        </a:xfrm>
      </p:grpSpPr>
      <p:sp>
        <p:nvSpPr>
          <p:cNvPr id="423" name="Google Shape;423;p40"/>
          <p:cNvSpPr txBox="1">
            <a:spLocks noGrp="1"/>
          </p:cNvSpPr>
          <p:nvPr>
            <p:ph type="body" idx="1"/>
          </p:nvPr>
        </p:nvSpPr>
        <p:spPr>
          <a:xfrm>
            <a:off x="381000" y="1228725"/>
            <a:ext cx="8382000" cy="4791075"/>
          </a:xfrm>
          <a:prstGeom prst="rect">
            <a:avLst/>
          </a:prstGeom>
          <a:noFill/>
          <a:ln>
            <a:noFill/>
          </a:ln>
        </p:spPr>
        <p:txBody>
          <a:bodyPr spcFirstLastPara="1" wrap="square" lIns="91425" tIns="45700" rIns="91425" bIns="45700" anchor="t" anchorCtr="0">
            <a:noAutofit/>
          </a:bodyPr>
          <a:lstStyle/>
          <a:p>
            <a:pPr marL="0" lvl="0" indent="0" algn="l" rtl="0">
              <a:lnSpc>
                <a:spcPct val="120000"/>
              </a:lnSpc>
              <a:spcBef>
                <a:spcPts val="0"/>
              </a:spcBef>
              <a:spcAft>
                <a:spcPts val="0"/>
              </a:spcAft>
              <a:buClr>
                <a:schemeClr val="dk1"/>
              </a:buClr>
              <a:buSzPts val="2400"/>
              <a:buNone/>
            </a:pPr>
            <a:r>
              <a:rPr lang="en-US" sz="2400" b="1">
                <a:latin typeface="Arial"/>
                <a:ea typeface="Arial"/>
                <a:cs typeface="Arial"/>
                <a:sym typeface="Arial"/>
              </a:rPr>
              <a:t>Problem 9 :</a:t>
            </a:r>
            <a:r>
              <a:rPr lang="en-US" sz="2400">
                <a:latin typeface="Arial"/>
                <a:ea typeface="Arial"/>
                <a:cs typeface="Arial"/>
                <a:sym typeface="Arial"/>
              </a:rPr>
              <a:t>Develop a query which will  display all the Course Name in upper case.</a:t>
            </a:r>
            <a:endParaRPr/>
          </a:p>
          <a:p>
            <a:pPr marL="0" lvl="0" indent="0" algn="l" rtl="0">
              <a:lnSpc>
                <a:spcPct val="120000"/>
              </a:lnSpc>
              <a:spcBef>
                <a:spcPts val="0"/>
              </a:spcBef>
              <a:spcAft>
                <a:spcPts val="0"/>
              </a:spcAft>
              <a:buClr>
                <a:schemeClr val="dk1"/>
              </a:buClr>
              <a:buSzPts val="2400"/>
              <a:buNone/>
            </a:pPr>
            <a:endParaRPr sz="2400">
              <a:latin typeface="Arial"/>
              <a:ea typeface="Arial"/>
              <a:cs typeface="Arial"/>
              <a:sym typeface="Arial"/>
            </a:endParaRPr>
          </a:p>
          <a:p>
            <a:pPr marL="0" lvl="0" indent="0" algn="l" rtl="0">
              <a:lnSpc>
                <a:spcPct val="120000"/>
              </a:lnSpc>
              <a:spcBef>
                <a:spcPts val="0"/>
              </a:spcBef>
              <a:spcAft>
                <a:spcPts val="0"/>
              </a:spcAft>
              <a:buClr>
                <a:schemeClr val="dk1"/>
              </a:buClr>
              <a:buSzPts val="2400"/>
              <a:buNone/>
            </a:pPr>
            <a:r>
              <a:rPr lang="en-US" sz="2400" b="1">
                <a:latin typeface="Arial"/>
                <a:ea typeface="Arial"/>
                <a:cs typeface="Arial"/>
                <a:sym typeface="Arial"/>
              </a:rPr>
              <a:t>Problem 10 :</a:t>
            </a:r>
            <a:r>
              <a:rPr lang="en-US" sz="2400">
                <a:latin typeface="Arial"/>
                <a:ea typeface="Arial"/>
                <a:cs typeface="Arial"/>
                <a:sym typeface="Arial"/>
              </a:rPr>
              <a:t>Develop a query which will  display all the characters between 1 and 3 of the Course Description  column for all the courses in the Course_Info table. </a:t>
            </a:r>
            <a:endParaRPr/>
          </a:p>
          <a:p>
            <a:pPr marL="0" lvl="0" indent="0" algn="l" rtl="0">
              <a:lnSpc>
                <a:spcPct val="120000"/>
              </a:lnSpc>
              <a:spcBef>
                <a:spcPts val="0"/>
              </a:spcBef>
              <a:spcAft>
                <a:spcPts val="0"/>
              </a:spcAft>
              <a:buClr>
                <a:schemeClr val="dk1"/>
              </a:buClr>
              <a:buSzPts val="2400"/>
              <a:buNone/>
            </a:pPr>
            <a:endParaRPr sz="2400">
              <a:latin typeface="Arial"/>
              <a:ea typeface="Arial"/>
              <a:cs typeface="Arial"/>
              <a:sym typeface="Arial"/>
            </a:endParaRPr>
          </a:p>
          <a:p>
            <a:pPr marL="0" lvl="0" indent="0" algn="l" rtl="0">
              <a:lnSpc>
                <a:spcPct val="120000"/>
              </a:lnSpc>
              <a:spcBef>
                <a:spcPts val="0"/>
              </a:spcBef>
              <a:spcAft>
                <a:spcPts val="0"/>
              </a:spcAft>
              <a:buClr>
                <a:schemeClr val="dk1"/>
              </a:buClr>
              <a:buSzPts val="2400"/>
              <a:buNone/>
            </a:pPr>
            <a:r>
              <a:rPr lang="en-US" sz="2400" b="1">
                <a:latin typeface="Arial"/>
                <a:ea typeface="Arial"/>
                <a:cs typeface="Arial"/>
                <a:sym typeface="Arial"/>
              </a:rPr>
              <a:t>Problem 11</a:t>
            </a:r>
            <a:r>
              <a:rPr lang="en-US" sz="2400">
                <a:latin typeface="Arial"/>
                <a:ea typeface="Arial"/>
                <a:cs typeface="Arial"/>
                <a:sym typeface="Arial"/>
              </a:rPr>
              <a:t>:Develop a query calculate average of all the base fees, any records whose base fee is null needs to be considered as zero.</a:t>
            </a:r>
            <a:endParaRPr/>
          </a:p>
          <a:p>
            <a:pPr marL="0" lvl="0" indent="0" algn="l" rtl="0">
              <a:lnSpc>
                <a:spcPct val="120000"/>
              </a:lnSpc>
              <a:spcBef>
                <a:spcPts val="0"/>
              </a:spcBef>
              <a:spcAft>
                <a:spcPts val="0"/>
              </a:spcAft>
              <a:buClr>
                <a:schemeClr val="dk1"/>
              </a:buClr>
              <a:buSzPts val="2400"/>
              <a:buNone/>
            </a:pPr>
            <a:endParaRPr sz="2400">
              <a:latin typeface="Arial"/>
              <a:ea typeface="Arial"/>
              <a:cs typeface="Arial"/>
              <a:sym typeface="Arial"/>
            </a:endParaRPr>
          </a:p>
          <a:p>
            <a:pPr marL="0" lvl="0" indent="0" algn="l" rtl="0">
              <a:lnSpc>
                <a:spcPct val="120000"/>
              </a:lnSpc>
              <a:spcBef>
                <a:spcPts val="0"/>
              </a:spcBef>
              <a:spcAft>
                <a:spcPts val="0"/>
              </a:spcAft>
              <a:buClr>
                <a:schemeClr val="dk1"/>
              </a:buClr>
              <a:buSzPts val="2400"/>
              <a:buNone/>
            </a:pPr>
            <a:endParaRPr sz="2400">
              <a:latin typeface="Arial"/>
              <a:ea typeface="Arial"/>
              <a:cs typeface="Arial"/>
              <a:sym typeface="Arial"/>
            </a:endParaRPr>
          </a:p>
          <a:p>
            <a:pPr marL="0" lvl="0" indent="0" algn="l" rtl="0">
              <a:lnSpc>
                <a:spcPct val="120000"/>
              </a:lnSpc>
              <a:spcBef>
                <a:spcPts val="0"/>
              </a:spcBef>
              <a:spcAft>
                <a:spcPts val="0"/>
              </a:spcAft>
              <a:buClr>
                <a:schemeClr val="dk1"/>
              </a:buClr>
              <a:buSzPts val="2400"/>
              <a:buNone/>
            </a:pPr>
            <a:endParaRPr sz="2400">
              <a:latin typeface="Arial"/>
              <a:ea typeface="Arial"/>
              <a:cs typeface="Arial"/>
              <a:sym typeface="Arial"/>
            </a:endParaRPr>
          </a:p>
          <a:p>
            <a:pPr marL="0" lvl="0" indent="0" algn="l" rtl="0">
              <a:lnSpc>
                <a:spcPct val="120000"/>
              </a:lnSpc>
              <a:spcBef>
                <a:spcPts val="0"/>
              </a:spcBef>
              <a:spcAft>
                <a:spcPts val="0"/>
              </a:spcAft>
              <a:buClr>
                <a:schemeClr val="dk1"/>
              </a:buClr>
              <a:buSzPts val="2400"/>
              <a:buNone/>
            </a:pPr>
            <a:endParaRPr sz="2400">
              <a:latin typeface="Arial"/>
              <a:ea typeface="Arial"/>
              <a:cs typeface="Arial"/>
              <a:sym typeface="Arial"/>
            </a:endParaRPr>
          </a:p>
          <a:p>
            <a:pPr marL="0" lvl="0" indent="0" algn="l" rtl="0">
              <a:lnSpc>
                <a:spcPct val="120000"/>
              </a:lnSpc>
              <a:spcBef>
                <a:spcPts val="0"/>
              </a:spcBef>
              <a:spcAft>
                <a:spcPts val="0"/>
              </a:spcAft>
              <a:buClr>
                <a:schemeClr val="dk1"/>
              </a:buClr>
              <a:buSzPts val="2400"/>
              <a:buNone/>
            </a:pPr>
            <a:endParaRPr sz="2400">
              <a:latin typeface="Arial"/>
              <a:ea typeface="Arial"/>
              <a:cs typeface="Arial"/>
              <a:sym typeface="Arial"/>
            </a:endParaRPr>
          </a:p>
          <a:p>
            <a:pPr marL="0" lvl="0" indent="0" algn="l" rtl="0">
              <a:lnSpc>
                <a:spcPct val="120000"/>
              </a:lnSpc>
              <a:spcBef>
                <a:spcPts val="0"/>
              </a:spcBef>
              <a:spcAft>
                <a:spcPts val="0"/>
              </a:spcAft>
              <a:buClr>
                <a:schemeClr val="dk1"/>
              </a:buClr>
              <a:buSzPts val="2400"/>
              <a:buNone/>
            </a:pPr>
            <a:endParaRPr sz="2400">
              <a:latin typeface="Arial"/>
              <a:ea typeface="Arial"/>
              <a:cs typeface="Arial"/>
              <a:sym typeface="Arial"/>
            </a:endParaRPr>
          </a:p>
          <a:p>
            <a:pPr marL="0" lvl="0" indent="0" algn="l" rtl="0">
              <a:lnSpc>
                <a:spcPct val="120000"/>
              </a:lnSpc>
              <a:spcBef>
                <a:spcPts val="0"/>
              </a:spcBef>
              <a:spcAft>
                <a:spcPts val="0"/>
              </a:spcAft>
              <a:buClr>
                <a:schemeClr val="dk1"/>
              </a:buClr>
              <a:buSzPts val="2400"/>
              <a:buNone/>
            </a:pPr>
            <a:endParaRPr sz="2400">
              <a:latin typeface="Arial"/>
              <a:ea typeface="Arial"/>
              <a:cs typeface="Arial"/>
              <a:sym typeface="Arial"/>
            </a:endParaRPr>
          </a:p>
          <a:p>
            <a:pPr marL="0" lvl="0" indent="0" algn="l" rtl="0">
              <a:lnSpc>
                <a:spcPct val="120000"/>
              </a:lnSpc>
              <a:spcBef>
                <a:spcPts val="0"/>
              </a:spcBef>
              <a:spcAft>
                <a:spcPts val="0"/>
              </a:spcAft>
              <a:buClr>
                <a:schemeClr val="dk1"/>
              </a:buClr>
              <a:buSzPts val="2400"/>
              <a:buNone/>
            </a:pPr>
            <a:endParaRPr sz="2400" b="1">
              <a:latin typeface="Arial"/>
              <a:ea typeface="Arial"/>
              <a:cs typeface="Arial"/>
              <a:sym typeface="Arial"/>
            </a:endParaRPr>
          </a:p>
        </p:txBody>
      </p:sp>
      <p:sp>
        <p:nvSpPr>
          <p:cNvPr id="424" name="Google Shape;424;p40"/>
          <p:cNvSpPr txBox="1">
            <a:spLocks noGrp="1"/>
          </p:cNvSpPr>
          <p:nvPr>
            <p:ph type="title"/>
          </p:nvPr>
        </p:nvSpPr>
        <p:spPr>
          <a:xfrm>
            <a:off x="1303020" y="-152400"/>
            <a:ext cx="829818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Lend a Hand</a:t>
            </a:r>
            <a:endParaRPr/>
          </a:p>
        </p:txBody>
      </p:sp>
      <p:sp>
        <p:nvSpPr>
          <p:cNvPr id="425" name="Google Shape;425;p40"/>
          <p:cNvSpPr txBox="1">
            <a:spLocks noGrp="1"/>
          </p:cNvSpPr>
          <p:nvPr>
            <p:ph type="sldNum" idx="12"/>
          </p:nvPr>
        </p:nvSpPr>
        <p:spPr>
          <a:xfrm>
            <a:off x="138752" y="6414139"/>
            <a:ext cx="457200" cy="277813"/>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fld id="{00000000-1234-1234-1234-123412341234}" type="slidenum">
              <a:rPr lang="en-US"/>
              <a:t>40</a:t>
            </a:fld>
            <a:endParaRPr/>
          </a:p>
        </p:txBody>
      </p:sp>
      <p:pic>
        <p:nvPicPr>
          <p:cNvPr id="426" name="Google Shape;426;p40" descr="http://t2.gstatic.com/images?q=tbn:ANd9GcTq6Gw3TUbGqr1NfzAlLJNRtI_NL4uDHS0wJZ6Pn9ByRZwZ7-wEOQ"/>
          <p:cNvPicPr preferRelativeResize="0"/>
          <p:nvPr/>
        </p:nvPicPr>
        <p:blipFill rotWithShape="1">
          <a:blip r:embed="rId3">
            <a:alphaModFix/>
          </a:blip>
          <a:srcRect t="11924" b="14526"/>
          <a:stretch/>
        </p:blipFill>
        <p:spPr>
          <a:xfrm>
            <a:off x="7620000" y="-76200"/>
            <a:ext cx="1723758" cy="1014248"/>
          </a:xfrm>
          <a:prstGeom prst="rect">
            <a:avLst/>
          </a:prstGeom>
          <a:noFill/>
          <a:ln>
            <a:noFill/>
          </a:ln>
          <a:effectLst>
            <a:outerShdw blurRad="50800" dist="38100" dir="2700000" algn="tl" rotWithShape="0">
              <a:srgbClr val="000000">
                <a:alpha val="40000"/>
              </a:srgbClr>
            </a:outerShdw>
          </a:effec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430"/>
        <p:cNvGrpSpPr/>
        <p:nvPr/>
      </p:nvGrpSpPr>
      <p:grpSpPr>
        <a:xfrm>
          <a:off x="0" y="0"/>
          <a:ext cx="0" cy="0"/>
          <a:chOff x="0" y="0"/>
          <a:chExt cx="0" cy="0"/>
        </a:xfrm>
      </p:grpSpPr>
      <p:sp>
        <p:nvSpPr>
          <p:cNvPr id="431" name="Google Shape;431;p41"/>
          <p:cNvSpPr txBox="1">
            <a:spLocks noGrp="1"/>
          </p:cNvSpPr>
          <p:nvPr>
            <p:ph type="body" idx="1"/>
          </p:nvPr>
        </p:nvSpPr>
        <p:spPr>
          <a:xfrm>
            <a:off x="381000" y="1143000"/>
            <a:ext cx="8686800" cy="4946650"/>
          </a:xfrm>
          <a:prstGeom prst="rect">
            <a:avLst/>
          </a:prstGeom>
          <a:noFill/>
          <a:ln>
            <a:noFill/>
          </a:ln>
        </p:spPr>
        <p:txBody>
          <a:bodyPr spcFirstLastPara="1" wrap="square" lIns="91425" tIns="45700" rIns="91425" bIns="45700" anchor="t" anchorCtr="0">
            <a:noAutofit/>
          </a:bodyPr>
          <a:lstStyle/>
          <a:p>
            <a:pPr marL="0" lvl="0" indent="0" algn="l" rtl="0">
              <a:lnSpc>
                <a:spcPct val="120000"/>
              </a:lnSpc>
              <a:spcBef>
                <a:spcPts val="0"/>
              </a:spcBef>
              <a:spcAft>
                <a:spcPts val="0"/>
              </a:spcAft>
              <a:buClr>
                <a:schemeClr val="dk1"/>
              </a:buClr>
              <a:buSzPts val="2400"/>
              <a:buNone/>
            </a:pPr>
            <a:r>
              <a:rPr lang="en-US" sz="2400" b="1"/>
              <a:t>Solution 5 :</a:t>
            </a:r>
            <a:endParaRPr/>
          </a:p>
          <a:p>
            <a:pPr marL="731520" lvl="0" indent="-365760" algn="l" rtl="0">
              <a:lnSpc>
                <a:spcPct val="120000"/>
              </a:lnSpc>
              <a:spcBef>
                <a:spcPts val="0"/>
              </a:spcBef>
              <a:spcAft>
                <a:spcPts val="0"/>
              </a:spcAft>
              <a:buClr>
                <a:srgbClr val="0070C0"/>
              </a:buClr>
              <a:buSzPts val="2000"/>
              <a:buNone/>
            </a:pPr>
            <a:r>
              <a:rPr lang="en-US" sz="2000" b="1">
                <a:solidFill>
                  <a:srgbClr val="0070C0"/>
                </a:solidFill>
              </a:rPr>
              <a:t>SELECT</a:t>
            </a:r>
            <a:r>
              <a:rPr lang="en-US" sz="2000" b="1">
                <a:solidFill>
                  <a:srgbClr val="00B050"/>
                </a:solidFill>
              </a:rPr>
              <a:t> </a:t>
            </a:r>
            <a:r>
              <a:rPr lang="en-US" sz="2000" b="1">
                <a:solidFill>
                  <a:srgbClr val="BC8F00"/>
                </a:solidFill>
              </a:rPr>
              <a:t>COURSE_INFO.COURSE_NAME</a:t>
            </a:r>
            <a:r>
              <a:rPr lang="en-US" sz="2000">
                <a:solidFill>
                  <a:srgbClr val="00B050"/>
                </a:solidFill>
              </a:rPr>
              <a:t>,</a:t>
            </a:r>
            <a:endParaRPr/>
          </a:p>
          <a:p>
            <a:pPr marL="731520" lvl="0" indent="-365760" algn="l" rtl="0">
              <a:lnSpc>
                <a:spcPct val="120000"/>
              </a:lnSpc>
              <a:spcBef>
                <a:spcPts val="0"/>
              </a:spcBef>
              <a:spcAft>
                <a:spcPts val="0"/>
              </a:spcAft>
              <a:buClr>
                <a:srgbClr val="0070C0"/>
              </a:buClr>
              <a:buSzPts val="2000"/>
              <a:buNone/>
            </a:pPr>
            <a:r>
              <a:rPr lang="en-US" sz="2000" b="1">
                <a:solidFill>
                  <a:srgbClr val="0070C0"/>
                </a:solidFill>
              </a:rPr>
              <a:t>ROUND</a:t>
            </a:r>
            <a:r>
              <a:rPr lang="en-US" sz="2000" b="1">
                <a:solidFill>
                  <a:srgbClr val="BC8F00"/>
                </a:solidFill>
              </a:rPr>
              <a:t>(COURSE_FEES.INFRA_FEES,2</a:t>
            </a:r>
            <a:r>
              <a:rPr lang="en-US" sz="2000">
                <a:solidFill>
                  <a:srgbClr val="00B050"/>
                </a:solidFill>
              </a:rPr>
              <a:t>) </a:t>
            </a:r>
            <a:endParaRPr sz="2000">
              <a:solidFill>
                <a:srgbClr val="00B050"/>
              </a:solidFill>
            </a:endParaRPr>
          </a:p>
          <a:p>
            <a:pPr marL="731520" lvl="0" indent="-365760" algn="l" rtl="0">
              <a:lnSpc>
                <a:spcPct val="120000"/>
              </a:lnSpc>
              <a:spcBef>
                <a:spcPts val="0"/>
              </a:spcBef>
              <a:spcAft>
                <a:spcPts val="0"/>
              </a:spcAft>
              <a:buClr>
                <a:srgbClr val="0070C0"/>
              </a:buClr>
              <a:buSzPts val="2000"/>
              <a:buNone/>
            </a:pPr>
            <a:r>
              <a:rPr lang="en-US" sz="2000" b="1">
                <a:solidFill>
                  <a:srgbClr val="0070C0"/>
                </a:solidFill>
              </a:rPr>
              <a:t>FROM</a:t>
            </a:r>
            <a:r>
              <a:rPr lang="en-US" sz="2000">
                <a:solidFill>
                  <a:srgbClr val="00B050"/>
                </a:solidFill>
              </a:rPr>
              <a:t> </a:t>
            </a:r>
            <a:r>
              <a:rPr lang="en-US" sz="2000" b="1">
                <a:solidFill>
                  <a:srgbClr val="BC8F00"/>
                </a:solidFill>
              </a:rPr>
              <a:t>COURSE_INFO,COURSE_FEES</a:t>
            </a:r>
            <a:r>
              <a:rPr lang="en-US" sz="2000">
                <a:solidFill>
                  <a:srgbClr val="00B050"/>
                </a:solidFill>
              </a:rPr>
              <a:t> </a:t>
            </a:r>
            <a:endParaRPr/>
          </a:p>
          <a:p>
            <a:pPr marL="731520" lvl="0" indent="-365760" algn="l" rtl="0">
              <a:lnSpc>
                <a:spcPct val="120000"/>
              </a:lnSpc>
              <a:spcBef>
                <a:spcPts val="0"/>
              </a:spcBef>
              <a:spcAft>
                <a:spcPts val="0"/>
              </a:spcAft>
              <a:buClr>
                <a:srgbClr val="0070C0"/>
              </a:buClr>
              <a:buSzPts val="2000"/>
              <a:buNone/>
            </a:pPr>
            <a:r>
              <a:rPr lang="en-US" sz="2000" b="1">
                <a:solidFill>
                  <a:srgbClr val="0070C0"/>
                </a:solidFill>
              </a:rPr>
              <a:t>WHERE</a:t>
            </a:r>
            <a:r>
              <a:rPr lang="en-US" sz="2000" b="1">
                <a:solidFill>
                  <a:srgbClr val="00B050"/>
                </a:solidFill>
              </a:rPr>
              <a:t> </a:t>
            </a:r>
            <a:r>
              <a:rPr lang="en-US" sz="2000" b="1">
                <a:solidFill>
                  <a:srgbClr val="BC8F00"/>
                </a:solidFill>
              </a:rPr>
              <a:t>COURSE_INFO.COURSE_CODE=COURSE_FEES.COURSE_CODE</a:t>
            </a:r>
            <a:endParaRPr/>
          </a:p>
          <a:p>
            <a:pPr marL="0" lvl="0" indent="0" algn="l" rtl="0">
              <a:lnSpc>
                <a:spcPct val="120000"/>
              </a:lnSpc>
              <a:spcBef>
                <a:spcPts val="0"/>
              </a:spcBef>
              <a:spcAft>
                <a:spcPts val="0"/>
              </a:spcAft>
              <a:buClr>
                <a:schemeClr val="dk1"/>
              </a:buClr>
              <a:buSzPts val="2400"/>
              <a:buNone/>
            </a:pPr>
            <a:r>
              <a:rPr lang="en-US" sz="2400" b="1"/>
              <a:t>Solution 6 : </a:t>
            </a:r>
            <a:endParaRPr/>
          </a:p>
          <a:p>
            <a:pPr marL="731520" lvl="0" indent="-365760" algn="l" rtl="0">
              <a:lnSpc>
                <a:spcPct val="120000"/>
              </a:lnSpc>
              <a:spcBef>
                <a:spcPts val="0"/>
              </a:spcBef>
              <a:spcAft>
                <a:spcPts val="0"/>
              </a:spcAft>
              <a:buClr>
                <a:srgbClr val="0070C0"/>
              </a:buClr>
              <a:buSzPts val="2000"/>
              <a:buNone/>
            </a:pPr>
            <a:r>
              <a:rPr lang="en-US" sz="2000" b="1">
                <a:solidFill>
                  <a:srgbClr val="0070C0"/>
                </a:solidFill>
              </a:rPr>
              <a:t>SELECT</a:t>
            </a:r>
            <a:r>
              <a:rPr lang="en-US" sz="2000" b="1">
                <a:solidFill>
                  <a:srgbClr val="00B050"/>
                </a:solidFill>
              </a:rPr>
              <a:t> </a:t>
            </a:r>
            <a:r>
              <a:rPr lang="en-US" sz="2000" b="1">
                <a:solidFill>
                  <a:srgbClr val="0070C0"/>
                </a:solidFill>
              </a:rPr>
              <a:t>CONCAT(UPPER(LEFT</a:t>
            </a:r>
            <a:r>
              <a:rPr lang="en-US" sz="2000" b="1">
                <a:solidFill>
                  <a:srgbClr val="BC8F00"/>
                </a:solidFill>
              </a:rPr>
              <a:t>(COURSE_NAME, 1)),</a:t>
            </a:r>
            <a:endParaRPr/>
          </a:p>
          <a:p>
            <a:pPr marL="731520" lvl="0" indent="-365760" algn="l" rtl="0">
              <a:lnSpc>
                <a:spcPct val="120000"/>
              </a:lnSpc>
              <a:spcBef>
                <a:spcPts val="0"/>
              </a:spcBef>
              <a:spcAft>
                <a:spcPts val="0"/>
              </a:spcAft>
              <a:buClr>
                <a:srgbClr val="0070C0"/>
              </a:buClr>
              <a:buSzPts val="2000"/>
              <a:buNone/>
            </a:pPr>
            <a:r>
              <a:rPr lang="en-US" sz="2000" b="1">
                <a:solidFill>
                  <a:srgbClr val="0070C0"/>
                </a:solidFill>
              </a:rPr>
              <a:t>LOWER</a:t>
            </a:r>
            <a:r>
              <a:rPr lang="en-US" sz="2000" b="1">
                <a:solidFill>
                  <a:srgbClr val="BC8F00"/>
                </a:solidFill>
              </a:rPr>
              <a:t>(</a:t>
            </a:r>
            <a:r>
              <a:rPr lang="en-US" sz="2000" b="1">
                <a:solidFill>
                  <a:srgbClr val="0070C0"/>
                </a:solidFill>
              </a:rPr>
              <a:t>SUBSTRING</a:t>
            </a:r>
            <a:r>
              <a:rPr lang="en-US" sz="2000" b="1">
                <a:solidFill>
                  <a:srgbClr val="BC8F00"/>
                </a:solidFill>
              </a:rPr>
              <a:t>(COURSE_NAME, 2))) </a:t>
            </a:r>
            <a:endParaRPr/>
          </a:p>
          <a:p>
            <a:pPr marL="731520" lvl="0" indent="-365760" algn="l" rtl="0">
              <a:lnSpc>
                <a:spcPct val="120000"/>
              </a:lnSpc>
              <a:spcBef>
                <a:spcPts val="0"/>
              </a:spcBef>
              <a:spcAft>
                <a:spcPts val="0"/>
              </a:spcAft>
              <a:buClr>
                <a:srgbClr val="0070C0"/>
              </a:buClr>
              <a:buSzPts val="2000"/>
              <a:buNone/>
            </a:pPr>
            <a:r>
              <a:rPr lang="en-US" sz="2000" b="1">
                <a:solidFill>
                  <a:srgbClr val="0070C0"/>
                </a:solidFill>
              </a:rPr>
              <a:t>FROM</a:t>
            </a:r>
            <a:r>
              <a:rPr lang="en-US" sz="2000" b="1">
                <a:solidFill>
                  <a:srgbClr val="BC8F00"/>
                </a:solidFill>
              </a:rPr>
              <a:t> COURSE_INFO </a:t>
            </a:r>
            <a:endParaRPr/>
          </a:p>
          <a:p>
            <a:pPr marL="0" lvl="0" indent="0" algn="l" rtl="0">
              <a:lnSpc>
                <a:spcPct val="120000"/>
              </a:lnSpc>
              <a:spcBef>
                <a:spcPts val="0"/>
              </a:spcBef>
              <a:spcAft>
                <a:spcPts val="0"/>
              </a:spcAft>
              <a:buClr>
                <a:schemeClr val="dk1"/>
              </a:buClr>
              <a:buSzPts val="2400"/>
              <a:buNone/>
            </a:pPr>
            <a:r>
              <a:rPr lang="en-US" sz="2400" b="1"/>
              <a:t>Solution 7 :</a:t>
            </a:r>
            <a:endParaRPr/>
          </a:p>
          <a:p>
            <a:pPr marL="731520" lvl="0" indent="-365760" algn="l" rtl="0">
              <a:lnSpc>
                <a:spcPct val="120000"/>
              </a:lnSpc>
              <a:spcBef>
                <a:spcPts val="0"/>
              </a:spcBef>
              <a:spcAft>
                <a:spcPts val="0"/>
              </a:spcAft>
              <a:buClr>
                <a:srgbClr val="0070C0"/>
              </a:buClr>
              <a:buSzPts val="2000"/>
              <a:buNone/>
            </a:pPr>
            <a:r>
              <a:rPr lang="en-US" sz="2000" b="1">
                <a:solidFill>
                  <a:srgbClr val="0070C0"/>
                </a:solidFill>
              </a:rPr>
              <a:t>SELECT</a:t>
            </a:r>
            <a:r>
              <a:rPr lang="en-US" sz="2000">
                <a:solidFill>
                  <a:srgbClr val="00B050"/>
                </a:solidFill>
              </a:rPr>
              <a:t> </a:t>
            </a:r>
            <a:r>
              <a:rPr lang="en-US" sz="2000" b="1">
                <a:solidFill>
                  <a:srgbClr val="BC8F00"/>
                </a:solidFill>
              </a:rPr>
              <a:t>COURSE_NAME,</a:t>
            </a:r>
            <a:endParaRPr/>
          </a:p>
          <a:p>
            <a:pPr marL="731520" lvl="0" indent="-365760" algn="l" rtl="0">
              <a:lnSpc>
                <a:spcPct val="120000"/>
              </a:lnSpc>
              <a:spcBef>
                <a:spcPts val="0"/>
              </a:spcBef>
              <a:spcAft>
                <a:spcPts val="0"/>
              </a:spcAft>
              <a:buClr>
                <a:srgbClr val="0070C0"/>
              </a:buClr>
              <a:buSzPts val="2000"/>
              <a:buNone/>
            </a:pPr>
            <a:r>
              <a:rPr lang="en-US" sz="2000" b="1">
                <a:solidFill>
                  <a:srgbClr val="0070C0"/>
                </a:solidFill>
              </a:rPr>
              <a:t>TO_DAYS</a:t>
            </a:r>
            <a:r>
              <a:rPr lang="en-US" sz="2000" b="1">
                <a:solidFill>
                  <a:srgbClr val="BC8F00"/>
                </a:solidFill>
              </a:rPr>
              <a:t>(current_date</a:t>
            </a:r>
            <a:r>
              <a:rPr lang="en-US" sz="2000">
                <a:solidFill>
                  <a:srgbClr val="00B050"/>
                </a:solidFill>
              </a:rPr>
              <a:t>) – </a:t>
            </a:r>
            <a:endParaRPr/>
          </a:p>
          <a:p>
            <a:pPr marL="731520" lvl="0" indent="-365760" algn="l" rtl="0">
              <a:lnSpc>
                <a:spcPct val="120000"/>
              </a:lnSpc>
              <a:spcBef>
                <a:spcPts val="0"/>
              </a:spcBef>
              <a:spcAft>
                <a:spcPts val="0"/>
              </a:spcAft>
              <a:buClr>
                <a:srgbClr val="0070C0"/>
              </a:buClr>
              <a:buSzPts val="2000"/>
              <a:buNone/>
            </a:pPr>
            <a:r>
              <a:rPr lang="en-US" sz="2000" b="1">
                <a:solidFill>
                  <a:srgbClr val="0070C0"/>
                </a:solidFill>
              </a:rPr>
              <a:t>TO_DAYS</a:t>
            </a:r>
            <a:r>
              <a:rPr lang="en-US" sz="2000" b="1">
                <a:solidFill>
                  <a:srgbClr val="BC8F00"/>
                </a:solidFill>
              </a:rPr>
              <a:t>(course_start_date</a:t>
            </a:r>
            <a:r>
              <a:rPr lang="en-US" sz="2000">
                <a:solidFill>
                  <a:srgbClr val="00B050"/>
                </a:solidFill>
              </a:rPr>
              <a:t>) </a:t>
            </a:r>
            <a:endParaRPr/>
          </a:p>
          <a:p>
            <a:pPr marL="731520" lvl="0" indent="-365760" algn="l" rtl="0">
              <a:lnSpc>
                <a:spcPct val="120000"/>
              </a:lnSpc>
              <a:spcBef>
                <a:spcPts val="0"/>
              </a:spcBef>
              <a:spcAft>
                <a:spcPts val="0"/>
              </a:spcAft>
              <a:buClr>
                <a:srgbClr val="0070C0"/>
              </a:buClr>
              <a:buSzPts val="2000"/>
              <a:buNone/>
            </a:pPr>
            <a:r>
              <a:rPr lang="en-US" sz="2000" b="1">
                <a:solidFill>
                  <a:srgbClr val="0070C0"/>
                </a:solidFill>
              </a:rPr>
              <a:t>FROM</a:t>
            </a:r>
            <a:r>
              <a:rPr lang="en-US" sz="2000" b="1">
                <a:solidFill>
                  <a:srgbClr val="00B050"/>
                </a:solidFill>
              </a:rPr>
              <a:t> </a:t>
            </a:r>
            <a:r>
              <a:rPr lang="en-US" sz="2000" b="1">
                <a:solidFill>
                  <a:srgbClr val="BC8F00"/>
                </a:solidFill>
              </a:rPr>
              <a:t>COURSE_INFO</a:t>
            </a:r>
            <a:r>
              <a:rPr lang="en-US" sz="2000">
                <a:solidFill>
                  <a:srgbClr val="00B050"/>
                </a:solidFill>
              </a:rPr>
              <a:t> </a:t>
            </a:r>
            <a:endParaRPr/>
          </a:p>
          <a:p>
            <a:pPr marL="0" lvl="0" indent="152400" algn="l" rtl="0">
              <a:lnSpc>
                <a:spcPct val="120000"/>
              </a:lnSpc>
              <a:spcBef>
                <a:spcPts val="0"/>
              </a:spcBef>
              <a:spcAft>
                <a:spcPts val="0"/>
              </a:spcAft>
              <a:buClr>
                <a:schemeClr val="dk1"/>
              </a:buClr>
              <a:buSzPts val="2400"/>
              <a:buNone/>
            </a:pPr>
            <a:endParaRPr sz="2400"/>
          </a:p>
          <a:p>
            <a:pPr marL="0" lvl="0" indent="152400" algn="l" rtl="0">
              <a:lnSpc>
                <a:spcPct val="120000"/>
              </a:lnSpc>
              <a:spcBef>
                <a:spcPts val="0"/>
              </a:spcBef>
              <a:spcAft>
                <a:spcPts val="0"/>
              </a:spcAft>
              <a:buClr>
                <a:schemeClr val="dk1"/>
              </a:buClr>
              <a:buSzPts val="2400"/>
              <a:buNone/>
            </a:pPr>
            <a:endParaRPr sz="2400"/>
          </a:p>
        </p:txBody>
      </p:sp>
      <p:sp>
        <p:nvSpPr>
          <p:cNvPr id="432" name="Google Shape;432;p41"/>
          <p:cNvSpPr txBox="1">
            <a:spLocks noGrp="1"/>
          </p:cNvSpPr>
          <p:nvPr>
            <p:ph type="title"/>
          </p:nvPr>
        </p:nvSpPr>
        <p:spPr>
          <a:xfrm>
            <a:off x="1303020" y="-152400"/>
            <a:ext cx="829818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Solutions </a:t>
            </a:r>
            <a:endParaRPr/>
          </a:p>
        </p:txBody>
      </p:sp>
      <p:sp>
        <p:nvSpPr>
          <p:cNvPr id="433" name="Google Shape;433;p41"/>
          <p:cNvSpPr txBox="1">
            <a:spLocks noGrp="1"/>
          </p:cNvSpPr>
          <p:nvPr>
            <p:ph type="sldNum" idx="12"/>
          </p:nvPr>
        </p:nvSpPr>
        <p:spPr>
          <a:xfrm>
            <a:off x="138752" y="6414139"/>
            <a:ext cx="457200" cy="277813"/>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fld id="{00000000-1234-1234-1234-123412341234}" type="slidenum">
              <a:rPr lang="en-US"/>
              <a:t>41</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437"/>
        <p:cNvGrpSpPr/>
        <p:nvPr/>
      </p:nvGrpSpPr>
      <p:grpSpPr>
        <a:xfrm>
          <a:off x="0" y="0"/>
          <a:ext cx="0" cy="0"/>
          <a:chOff x="0" y="0"/>
          <a:chExt cx="0" cy="0"/>
        </a:xfrm>
      </p:grpSpPr>
      <p:sp>
        <p:nvSpPr>
          <p:cNvPr id="438" name="Google Shape;438;p42"/>
          <p:cNvSpPr txBox="1">
            <a:spLocks noGrp="1"/>
          </p:cNvSpPr>
          <p:nvPr>
            <p:ph type="body" idx="1"/>
          </p:nvPr>
        </p:nvSpPr>
        <p:spPr>
          <a:xfrm>
            <a:off x="381000" y="1225550"/>
            <a:ext cx="8686800" cy="4946650"/>
          </a:xfrm>
          <a:prstGeom prst="rect">
            <a:avLst/>
          </a:prstGeom>
          <a:noFill/>
          <a:ln>
            <a:noFill/>
          </a:ln>
        </p:spPr>
        <p:txBody>
          <a:bodyPr spcFirstLastPara="1" wrap="square" lIns="91425" tIns="45700" rIns="91425" bIns="45700" anchor="t" anchorCtr="0">
            <a:noAutofit/>
          </a:bodyPr>
          <a:lstStyle/>
          <a:p>
            <a:pPr marL="0" lvl="0" indent="0" algn="l" rtl="0">
              <a:lnSpc>
                <a:spcPct val="120000"/>
              </a:lnSpc>
              <a:spcBef>
                <a:spcPts val="0"/>
              </a:spcBef>
              <a:spcAft>
                <a:spcPts val="0"/>
              </a:spcAft>
              <a:buClr>
                <a:schemeClr val="dk1"/>
              </a:buClr>
              <a:buSzPts val="2400"/>
              <a:buNone/>
            </a:pPr>
            <a:r>
              <a:rPr lang="en-US" sz="2400" b="1"/>
              <a:t>Solution 8 :</a:t>
            </a:r>
            <a:endParaRPr/>
          </a:p>
          <a:p>
            <a:pPr marL="731520" lvl="0" indent="-365760" algn="l" rtl="0">
              <a:lnSpc>
                <a:spcPct val="120000"/>
              </a:lnSpc>
              <a:spcBef>
                <a:spcPts val="0"/>
              </a:spcBef>
              <a:spcAft>
                <a:spcPts val="0"/>
              </a:spcAft>
              <a:buClr>
                <a:srgbClr val="0070C0"/>
              </a:buClr>
              <a:buSzPts val="2000"/>
              <a:buNone/>
            </a:pPr>
            <a:r>
              <a:rPr lang="en-US" sz="2000" b="1">
                <a:solidFill>
                  <a:srgbClr val="0070C0"/>
                </a:solidFill>
              </a:rPr>
              <a:t>SELECT</a:t>
            </a:r>
            <a:r>
              <a:rPr lang="en-US" sz="2000">
                <a:solidFill>
                  <a:srgbClr val="0070C0"/>
                </a:solidFill>
              </a:rPr>
              <a:t> </a:t>
            </a:r>
            <a:r>
              <a:rPr lang="en-US" sz="2000" b="1">
                <a:solidFill>
                  <a:srgbClr val="0070C0"/>
                </a:solidFill>
              </a:rPr>
              <a:t>CONCAT(</a:t>
            </a:r>
            <a:r>
              <a:rPr lang="en-US" sz="2000" b="1">
                <a:solidFill>
                  <a:srgbClr val="BC8F00"/>
                </a:solidFill>
              </a:rPr>
              <a:t>COURSE_NAME,COURSE_CODE</a:t>
            </a:r>
            <a:r>
              <a:rPr lang="en-US" sz="2000" b="1">
                <a:solidFill>
                  <a:srgbClr val="0070C0"/>
                </a:solidFill>
              </a:rPr>
              <a:t>)</a:t>
            </a:r>
            <a:endParaRPr/>
          </a:p>
          <a:p>
            <a:pPr marL="731520" lvl="0" indent="-365760" algn="l" rtl="0">
              <a:lnSpc>
                <a:spcPct val="120000"/>
              </a:lnSpc>
              <a:spcBef>
                <a:spcPts val="0"/>
              </a:spcBef>
              <a:spcAft>
                <a:spcPts val="0"/>
              </a:spcAft>
              <a:buClr>
                <a:srgbClr val="0070C0"/>
              </a:buClr>
              <a:buSzPts val="2000"/>
              <a:buNone/>
            </a:pPr>
            <a:r>
              <a:rPr lang="en-US" sz="2000" b="1">
                <a:solidFill>
                  <a:srgbClr val="0070C0"/>
                </a:solidFill>
              </a:rPr>
              <a:t>FROM </a:t>
            </a:r>
            <a:r>
              <a:rPr lang="en-US" sz="2000" b="1">
                <a:solidFill>
                  <a:srgbClr val="BC8F00"/>
                </a:solidFill>
              </a:rPr>
              <a:t>COURSE_INFO</a:t>
            </a:r>
            <a:endParaRPr/>
          </a:p>
          <a:p>
            <a:pPr marL="0" lvl="0" indent="0" algn="l" rtl="0">
              <a:lnSpc>
                <a:spcPct val="120000"/>
              </a:lnSpc>
              <a:spcBef>
                <a:spcPts val="0"/>
              </a:spcBef>
              <a:spcAft>
                <a:spcPts val="0"/>
              </a:spcAft>
              <a:buClr>
                <a:schemeClr val="dk1"/>
              </a:buClr>
              <a:buSzPts val="2400"/>
              <a:buNone/>
            </a:pPr>
            <a:r>
              <a:rPr lang="en-US" sz="2400" b="1"/>
              <a:t>Solution 9 : </a:t>
            </a:r>
            <a:endParaRPr/>
          </a:p>
          <a:p>
            <a:pPr marL="731520" lvl="0" indent="-365760" algn="l" rtl="0">
              <a:lnSpc>
                <a:spcPct val="120000"/>
              </a:lnSpc>
              <a:spcBef>
                <a:spcPts val="0"/>
              </a:spcBef>
              <a:spcAft>
                <a:spcPts val="0"/>
              </a:spcAft>
              <a:buClr>
                <a:srgbClr val="0070C0"/>
              </a:buClr>
              <a:buSzPts val="2000"/>
              <a:buNone/>
            </a:pPr>
            <a:r>
              <a:rPr lang="en-US" sz="2000" b="1">
                <a:solidFill>
                  <a:srgbClr val="0070C0"/>
                </a:solidFill>
              </a:rPr>
              <a:t>SELECT UPPER(</a:t>
            </a:r>
            <a:r>
              <a:rPr lang="en-US" sz="2000" b="1">
                <a:solidFill>
                  <a:srgbClr val="BC8F00"/>
                </a:solidFill>
              </a:rPr>
              <a:t>COURSE_NAME</a:t>
            </a:r>
            <a:r>
              <a:rPr lang="en-US" sz="2000" b="1">
                <a:solidFill>
                  <a:srgbClr val="0070C0"/>
                </a:solidFill>
              </a:rPr>
              <a:t>)</a:t>
            </a:r>
            <a:endParaRPr/>
          </a:p>
          <a:p>
            <a:pPr marL="731520" lvl="0" indent="-365760" algn="l" rtl="0">
              <a:lnSpc>
                <a:spcPct val="120000"/>
              </a:lnSpc>
              <a:spcBef>
                <a:spcPts val="0"/>
              </a:spcBef>
              <a:spcAft>
                <a:spcPts val="0"/>
              </a:spcAft>
              <a:buClr>
                <a:srgbClr val="0070C0"/>
              </a:buClr>
              <a:buSzPts val="2000"/>
              <a:buNone/>
            </a:pPr>
            <a:r>
              <a:rPr lang="en-US" sz="2000" b="1">
                <a:solidFill>
                  <a:srgbClr val="0070C0"/>
                </a:solidFill>
              </a:rPr>
              <a:t>FROM</a:t>
            </a:r>
            <a:r>
              <a:rPr lang="en-US" sz="2000">
                <a:solidFill>
                  <a:srgbClr val="0070C0"/>
                </a:solidFill>
              </a:rPr>
              <a:t> </a:t>
            </a:r>
            <a:r>
              <a:rPr lang="en-US" sz="2000" b="1">
                <a:solidFill>
                  <a:srgbClr val="BC8F00"/>
                </a:solidFill>
              </a:rPr>
              <a:t>COURSE_INFO</a:t>
            </a:r>
            <a:endParaRPr/>
          </a:p>
          <a:p>
            <a:pPr marL="0" lvl="0" indent="0" algn="l" rtl="0">
              <a:lnSpc>
                <a:spcPct val="120000"/>
              </a:lnSpc>
              <a:spcBef>
                <a:spcPts val="0"/>
              </a:spcBef>
              <a:spcAft>
                <a:spcPts val="0"/>
              </a:spcAft>
              <a:buClr>
                <a:schemeClr val="dk1"/>
              </a:buClr>
              <a:buSzPts val="2400"/>
              <a:buNone/>
            </a:pPr>
            <a:r>
              <a:rPr lang="en-US" sz="2400" b="1"/>
              <a:t>Solution 10:</a:t>
            </a:r>
            <a:endParaRPr sz="2400" b="1"/>
          </a:p>
          <a:p>
            <a:pPr marL="731520" lvl="0" indent="-365760" algn="l" rtl="0">
              <a:lnSpc>
                <a:spcPct val="120000"/>
              </a:lnSpc>
              <a:spcBef>
                <a:spcPts val="0"/>
              </a:spcBef>
              <a:spcAft>
                <a:spcPts val="0"/>
              </a:spcAft>
              <a:buClr>
                <a:srgbClr val="0070C0"/>
              </a:buClr>
              <a:buSzPts val="2000"/>
              <a:buNone/>
            </a:pPr>
            <a:r>
              <a:rPr lang="en-US" sz="2000" b="1">
                <a:solidFill>
                  <a:srgbClr val="0070C0"/>
                </a:solidFill>
              </a:rPr>
              <a:t>SELECT SUBSTR</a:t>
            </a:r>
            <a:r>
              <a:rPr lang="en-US" sz="2000" b="1">
                <a:solidFill>
                  <a:srgbClr val="BC8F00"/>
                </a:solidFill>
              </a:rPr>
              <a:t>(COURSE_DESCRIPTION,1,3</a:t>
            </a:r>
            <a:r>
              <a:rPr lang="en-US" sz="2000" b="1">
                <a:solidFill>
                  <a:srgbClr val="0070C0"/>
                </a:solidFill>
              </a:rPr>
              <a:t>) </a:t>
            </a:r>
            <a:endParaRPr/>
          </a:p>
          <a:p>
            <a:pPr marL="731520" lvl="0" indent="-365760" algn="l" rtl="0">
              <a:lnSpc>
                <a:spcPct val="120000"/>
              </a:lnSpc>
              <a:spcBef>
                <a:spcPts val="0"/>
              </a:spcBef>
              <a:spcAft>
                <a:spcPts val="0"/>
              </a:spcAft>
              <a:buClr>
                <a:srgbClr val="0070C0"/>
              </a:buClr>
              <a:buSzPts val="2000"/>
              <a:buNone/>
            </a:pPr>
            <a:r>
              <a:rPr lang="en-US" sz="2000" b="1">
                <a:solidFill>
                  <a:srgbClr val="0070C0"/>
                </a:solidFill>
              </a:rPr>
              <a:t>FROM</a:t>
            </a:r>
            <a:r>
              <a:rPr lang="en-US" sz="2000">
                <a:solidFill>
                  <a:srgbClr val="0070C0"/>
                </a:solidFill>
              </a:rPr>
              <a:t> </a:t>
            </a:r>
            <a:r>
              <a:rPr lang="en-US" sz="2000" b="1">
                <a:solidFill>
                  <a:srgbClr val="BC8F00"/>
                </a:solidFill>
              </a:rPr>
              <a:t>COURSE_INFO</a:t>
            </a:r>
            <a:endParaRPr/>
          </a:p>
          <a:p>
            <a:pPr marL="0" lvl="0" indent="0" algn="l" rtl="0">
              <a:lnSpc>
                <a:spcPct val="120000"/>
              </a:lnSpc>
              <a:spcBef>
                <a:spcPts val="0"/>
              </a:spcBef>
              <a:spcAft>
                <a:spcPts val="0"/>
              </a:spcAft>
              <a:buClr>
                <a:schemeClr val="dk1"/>
              </a:buClr>
              <a:buSzPts val="2400"/>
              <a:buNone/>
            </a:pPr>
            <a:r>
              <a:rPr lang="en-US" sz="2400" b="1"/>
              <a:t>Solution 11: </a:t>
            </a:r>
            <a:endParaRPr sz="2400" b="1"/>
          </a:p>
          <a:p>
            <a:pPr marL="731520" lvl="0" indent="-365760" algn="l" rtl="0">
              <a:lnSpc>
                <a:spcPct val="120000"/>
              </a:lnSpc>
              <a:spcBef>
                <a:spcPts val="0"/>
              </a:spcBef>
              <a:spcAft>
                <a:spcPts val="0"/>
              </a:spcAft>
              <a:buClr>
                <a:srgbClr val="0070C0"/>
              </a:buClr>
              <a:buSzPts val="2000"/>
              <a:buNone/>
            </a:pPr>
            <a:r>
              <a:rPr lang="en-US" sz="2000" b="1">
                <a:solidFill>
                  <a:srgbClr val="0070C0"/>
                </a:solidFill>
              </a:rPr>
              <a:t>SELECT AVG(IFNULL(</a:t>
            </a:r>
            <a:r>
              <a:rPr lang="en-US" sz="2000" b="1">
                <a:solidFill>
                  <a:srgbClr val="BC8F00"/>
                </a:solidFill>
              </a:rPr>
              <a:t>BASE_FEES</a:t>
            </a:r>
            <a:r>
              <a:rPr lang="en-US" sz="2000">
                <a:solidFill>
                  <a:srgbClr val="0070C0"/>
                </a:solidFill>
              </a:rPr>
              <a:t>,0)) </a:t>
            </a:r>
            <a:endParaRPr/>
          </a:p>
          <a:p>
            <a:pPr marL="731520" lvl="0" indent="-365760" algn="l" rtl="0">
              <a:lnSpc>
                <a:spcPct val="120000"/>
              </a:lnSpc>
              <a:spcBef>
                <a:spcPts val="0"/>
              </a:spcBef>
              <a:spcAft>
                <a:spcPts val="0"/>
              </a:spcAft>
              <a:buClr>
                <a:srgbClr val="0070C0"/>
              </a:buClr>
              <a:buSzPts val="2000"/>
              <a:buNone/>
            </a:pPr>
            <a:r>
              <a:rPr lang="en-US" sz="2000" b="1">
                <a:solidFill>
                  <a:srgbClr val="0070C0"/>
                </a:solidFill>
              </a:rPr>
              <a:t>FROM </a:t>
            </a:r>
            <a:r>
              <a:rPr lang="en-US" sz="2000" b="1">
                <a:solidFill>
                  <a:srgbClr val="BC8F00"/>
                </a:solidFill>
              </a:rPr>
              <a:t>COURSE_FEES</a:t>
            </a:r>
            <a:endParaRPr/>
          </a:p>
          <a:p>
            <a:pPr marL="0" lvl="0" indent="152400" algn="l" rtl="0">
              <a:lnSpc>
                <a:spcPct val="120000"/>
              </a:lnSpc>
              <a:spcBef>
                <a:spcPts val="0"/>
              </a:spcBef>
              <a:spcAft>
                <a:spcPts val="0"/>
              </a:spcAft>
              <a:buClr>
                <a:schemeClr val="dk1"/>
              </a:buClr>
              <a:buSzPts val="2400"/>
              <a:buNone/>
            </a:pPr>
            <a:endParaRPr sz="2400">
              <a:solidFill>
                <a:srgbClr val="0070C0"/>
              </a:solidFill>
            </a:endParaRPr>
          </a:p>
          <a:p>
            <a:pPr marL="0" lvl="0" indent="152400" algn="l" rtl="0">
              <a:lnSpc>
                <a:spcPct val="120000"/>
              </a:lnSpc>
              <a:spcBef>
                <a:spcPts val="0"/>
              </a:spcBef>
              <a:spcAft>
                <a:spcPts val="0"/>
              </a:spcAft>
              <a:buClr>
                <a:schemeClr val="dk1"/>
              </a:buClr>
              <a:buSzPts val="2400"/>
              <a:buNone/>
            </a:pPr>
            <a:endParaRPr sz="2400">
              <a:solidFill>
                <a:srgbClr val="0070C0"/>
              </a:solidFill>
            </a:endParaRPr>
          </a:p>
        </p:txBody>
      </p:sp>
      <p:sp>
        <p:nvSpPr>
          <p:cNvPr id="439" name="Google Shape;439;p42"/>
          <p:cNvSpPr txBox="1">
            <a:spLocks noGrp="1"/>
          </p:cNvSpPr>
          <p:nvPr>
            <p:ph type="title"/>
          </p:nvPr>
        </p:nvSpPr>
        <p:spPr>
          <a:xfrm>
            <a:off x="1303020" y="-152400"/>
            <a:ext cx="829818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Solutions</a:t>
            </a:r>
            <a:endParaRPr/>
          </a:p>
        </p:txBody>
      </p:sp>
      <p:sp>
        <p:nvSpPr>
          <p:cNvPr id="440" name="Google Shape;440;p42"/>
          <p:cNvSpPr txBox="1">
            <a:spLocks noGrp="1"/>
          </p:cNvSpPr>
          <p:nvPr>
            <p:ph type="sldNum" idx="12"/>
          </p:nvPr>
        </p:nvSpPr>
        <p:spPr>
          <a:xfrm>
            <a:off x="138752" y="6414139"/>
            <a:ext cx="457200" cy="277813"/>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fld id="{00000000-1234-1234-1234-123412341234}" type="slidenum">
              <a:rPr lang="en-US"/>
              <a:t>42</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43"/>
          <p:cNvSpPr txBox="1">
            <a:spLocks noGrp="1"/>
          </p:cNvSpPr>
          <p:nvPr>
            <p:ph type="body" idx="1"/>
          </p:nvPr>
        </p:nvSpPr>
        <p:spPr>
          <a:xfrm>
            <a:off x="381000" y="1228725"/>
            <a:ext cx="8686800" cy="4791075"/>
          </a:xfrm>
          <a:prstGeom prst="rect">
            <a:avLst/>
          </a:prstGeom>
          <a:noFill/>
          <a:ln>
            <a:noFill/>
          </a:ln>
        </p:spPr>
        <p:txBody>
          <a:bodyPr spcFirstLastPara="1" wrap="square" lIns="91425" tIns="45700" rIns="91425" bIns="45700" anchor="t" anchorCtr="0">
            <a:noAutofit/>
          </a:bodyPr>
          <a:lstStyle/>
          <a:p>
            <a:pPr marL="0" lvl="0" indent="0" algn="l" rtl="0">
              <a:lnSpc>
                <a:spcPct val="120000"/>
              </a:lnSpc>
              <a:spcBef>
                <a:spcPts val="0"/>
              </a:spcBef>
              <a:spcAft>
                <a:spcPts val="0"/>
              </a:spcAft>
              <a:buClr>
                <a:schemeClr val="dk1"/>
              </a:buClr>
              <a:buSzPts val="2400"/>
              <a:buNone/>
            </a:pPr>
            <a:r>
              <a:rPr lang="en-US" sz="2400" b="1">
                <a:latin typeface="Calibri"/>
                <a:ea typeface="Calibri"/>
                <a:cs typeface="Calibri"/>
                <a:sym typeface="Calibri"/>
              </a:rPr>
              <a:t>Pre-requisite : </a:t>
            </a:r>
            <a:r>
              <a:rPr lang="en-US" sz="2400">
                <a:latin typeface="Calibri"/>
                <a:ea typeface="Calibri"/>
                <a:cs typeface="Calibri"/>
                <a:sym typeface="Calibri"/>
              </a:rPr>
              <a:t>Use the  Course_Info</a:t>
            </a:r>
            <a:r>
              <a:rPr lang="en-US" sz="2400">
                <a:solidFill>
                  <a:srgbClr val="00B050"/>
                </a:solidFill>
                <a:latin typeface="Calibri"/>
                <a:ea typeface="Calibri"/>
                <a:cs typeface="Calibri"/>
                <a:sym typeface="Calibri"/>
              </a:rPr>
              <a:t> </a:t>
            </a:r>
            <a:r>
              <a:rPr lang="en-US" sz="2400">
                <a:latin typeface="Calibri"/>
                <a:ea typeface="Calibri"/>
                <a:cs typeface="Calibri"/>
                <a:sym typeface="Calibri"/>
              </a:rPr>
              <a:t> and Course_Fees  table.</a:t>
            </a:r>
            <a:endParaRPr/>
          </a:p>
          <a:p>
            <a:pPr marL="731520" lvl="1" indent="-365760" algn="l" rtl="0">
              <a:lnSpc>
                <a:spcPct val="120000"/>
              </a:lnSpc>
              <a:spcBef>
                <a:spcPts val="0"/>
              </a:spcBef>
              <a:spcAft>
                <a:spcPts val="0"/>
              </a:spcAft>
              <a:buClr>
                <a:schemeClr val="dk1"/>
              </a:buClr>
              <a:buSzPts val="2200"/>
              <a:buFont typeface="Arial"/>
              <a:buChar char="•"/>
            </a:pPr>
            <a:r>
              <a:rPr lang="en-US" sz="2200">
                <a:latin typeface="Calibri"/>
                <a:ea typeface="Calibri"/>
                <a:cs typeface="Calibri"/>
                <a:sym typeface="Calibri"/>
              </a:rPr>
              <a:t>Insert 2 records in course_fees   table with base fees as null.</a:t>
            </a:r>
            <a:endParaRPr/>
          </a:p>
          <a:p>
            <a:pPr marL="731520" lvl="1" indent="-365760" algn="l" rtl="0">
              <a:lnSpc>
                <a:spcPct val="120000"/>
              </a:lnSpc>
              <a:spcBef>
                <a:spcPts val="0"/>
              </a:spcBef>
              <a:spcAft>
                <a:spcPts val="0"/>
              </a:spcAft>
              <a:buClr>
                <a:schemeClr val="dk1"/>
              </a:buClr>
              <a:buSzPts val="2200"/>
              <a:buFont typeface="Arial"/>
              <a:buChar char="•"/>
            </a:pPr>
            <a:r>
              <a:rPr lang="en-US" sz="2200">
                <a:latin typeface="Calibri"/>
                <a:ea typeface="Calibri"/>
                <a:cs typeface="Calibri"/>
                <a:sym typeface="Calibri"/>
              </a:rPr>
              <a:t>Insert 2 records in course_fees   table with base fees as 300 and 175.</a:t>
            </a:r>
            <a:endParaRPr/>
          </a:p>
          <a:p>
            <a:pPr marL="731520" lvl="1" indent="-365760" algn="l" rtl="0">
              <a:lnSpc>
                <a:spcPct val="120000"/>
              </a:lnSpc>
              <a:spcBef>
                <a:spcPts val="0"/>
              </a:spcBef>
              <a:spcAft>
                <a:spcPts val="0"/>
              </a:spcAft>
              <a:buClr>
                <a:schemeClr val="dk1"/>
              </a:buClr>
              <a:buSzPts val="2200"/>
              <a:buFont typeface="Arial"/>
              <a:buChar char="•"/>
            </a:pPr>
            <a:r>
              <a:rPr lang="en-US" sz="2200">
                <a:latin typeface="Calibri"/>
                <a:ea typeface="Calibri"/>
                <a:cs typeface="Calibri"/>
                <a:sym typeface="Calibri"/>
              </a:rPr>
              <a:t>Insert 3 records in course_info  table each course with course type CLR,EL, OF</a:t>
            </a:r>
            <a:endParaRPr/>
          </a:p>
          <a:p>
            <a:pPr marL="0" lvl="0" indent="0" algn="l" rtl="0">
              <a:lnSpc>
                <a:spcPct val="120000"/>
              </a:lnSpc>
              <a:spcBef>
                <a:spcPts val="0"/>
              </a:spcBef>
              <a:spcAft>
                <a:spcPts val="0"/>
              </a:spcAft>
              <a:buClr>
                <a:schemeClr val="dk1"/>
              </a:buClr>
              <a:buSzPts val="2400"/>
              <a:buNone/>
            </a:pPr>
            <a:r>
              <a:rPr lang="en-US" sz="2400" b="1">
                <a:latin typeface="Calibri"/>
                <a:ea typeface="Calibri"/>
                <a:cs typeface="Calibri"/>
                <a:sym typeface="Calibri"/>
              </a:rPr>
              <a:t>Problem 12: </a:t>
            </a:r>
            <a:r>
              <a:rPr lang="en-US" sz="2400">
                <a:latin typeface="Calibri"/>
                <a:ea typeface="Calibri"/>
                <a:cs typeface="Calibri"/>
                <a:sym typeface="Calibri"/>
              </a:rPr>
              <a:t>Write a query which will display the course type and the appropriate message as mentioned below.</a:t>
            </a:r>
            <a:endParaRPr/>
          </a:p>
          <a:p>
            <a:pPr marL="0" lvl="0" indent="0" algn="l" rtl="0">
              <a:lnSpc>
                <a:spcPct val="120000"/>
              </a:lnSpc>
              <a:spcBef>
                <a:spcPts val="0"/>
              </a:spcBef>
              <a:spcAft>
                <a:spcPts val="0"/>
              </a:spcAft>
              <a:buClr>
                <a:schemeClr val="dk1"/>
              </a:buClr>
              <a:buSzPts val="2400"/>
              <a:buNone/>
            </a:pPr>
            <a:endParaRPr sz="2400">
              <a:latin typeface="Calibri"/>
              <a:ea typeface="Calibri"/>
              <a:cs typeface="Calibri"/>
              <a:sym typeface="Calibri"/>
            </a:endParaRPr>
          </a:p>
          <a:p>
            <a:pPr marL="0" lvl="0" indent="0" algn="l" rtl="0">
              <a:lnSpc>
                <a:spcPct val="120000"/>
              </a:lnSpc>
              <a:spcBef>
                <a:spcPts val="0"/>
              </a:spcBef>
              <a:spcAft>
                <a:spcPts val="0"/>
              </a:spcAft>
              <a:buClr>
                <a:schemeClr val="dk1"/>
              </a:buClr>
              <a:buSzPts val="2400"/>
              <a:buNone/>
            </a:pPr>
            <a:endParaRPr sz="2400">
              <a:latin typeface="Calibri"/>
              <a:ea typeface="Calibri"/>
              <a:cs typeface="Calibri"/>
              <a:sym typeface="Calibri"/>
            </a:endParaRPr>
          </a:p>
          <a:p>
            <a:pPr marL="0" lvl="0" indent="0" algn="l" rtl="0">
              <a:lnSpc>
                <a:spcPct val="120000"/>
              </a:lnSpc>
              <a:spcBef>
                <a:spcPts val="0"/>
              </a:spcBef>
              <a:spcAft>
                <a:spcPts val="0"/>
              </a:spcAft>
              <a:buClr>
                <a:schemeClr val="dk1"/>
              </a:buClr>
              <a:buSzPts val="2400"/>
              <a:buNone/>
            </a:pPr>
            <a:endParaRPr sz="2400">
              <a:latin typeface="Calibri"/>
              <a:ea typeface="Calibri"/>
              <a:cs typeface="Calibri"/>
              <a:sym typeface="Calibri"/>
            </a:endParaRPr>
          </a:p>
          <a:p>
            <a:pPr marL="0" lvl="0" indent="0" algn="l" rtl="0">
              <a:lnSpc>
                <a:spcPct val="120000"/>
              </a:lnSpc>
              <a:spcBef>
                <a:spcPts val="0"/>
              </a:spcBef>
              <a:spcAft>
                <a:spcPts val="0"/>
              </a:spcAft>
              <a:buClr>
                <a:schemeClr val="dk1"/>
              </a:buClr>
              <a:buSzPts val="2400"/>
              <a:buNone/>
            </a:pPr>
            <a:endParaRPr sz="2400">
              <a:latin typeface="Calibri"/>
              <a:ea typeface="Calibri"/>
              <a:cs typeface="Calibri"/>
              <a:sym typeface="Calibri"/>
            </a:endParaRPr>
          </a:p>
          <a:p>
            <a:pPr marL="0" lvl="0" indent="0" algn="l" rtl="0">
              <a:lnSpc>
                <a:spcPct val="120000"/>
              </a:lnSpc>
              <a:spcBef>
                <a:spcPts val="0"/>
              </a:spcBef>
              <a:spcAft>
                <a:spcPts val="0"/>
              </a:spcAft>
              <a:buClr>
                <a:schemeClr val="dk1"/>
              </a:buClr>
              <a:buSzPts val="2400"/>
              <a:buNone/>
            </a:pPr>
            <a:endParaRPr sz="2400">
              <a:latin typeface="Calibri"/>
              <a:ea typeface="Calibri"/>
              <a:cs typeface="Calibri"/>
              <a:sym typeface="Calibri"/>
            </a:endParaRPr>
          </a:p>
          <a:p>
            <a:pPr marL="0" lvl="0" indent="0" algn="l" rtl="0">
              <a:lnSpc>
                <a:spcPct val="120000"/>
              </a:lnSpc>
              <a:spcBef>
                <a:spcPts val="0"/>
              </a:spcBef>
              <a:spcAft>
                <a:spcPts val="0"/>
              </a:spcAft>
              <a:buClr>
                <a:schemeClr val="dk1"/>
              </a:buClr>
              <a:buSzPts val="2400"/>
              <a:buNone/>
            </a:pPr>
            <a:endParaRPr sz="2400" b="1">
              <a:latin typeface="Calibri"/>
              <a:ea typeface="Calibri"/>
              <a:cs typeface="Calibri"/>
              <a:sym typeface="Calibri"/>
            </a:endParaRPr>
          </a:p>
        </p:txBody>
      </p:sp>
      <p:graphicFrame>
        <p:nvGraphicFramePr>
          <p:cNvPr id="447" name="Google Shape;447;p43"/>
          <p:cNvGraphicFramePr/>
          <p:nvPr/>
        </p:nvGraphicFramePr>
        <p:xfrm>
          <a:off x="2667000" y="4419600"/>
          <a:ext cx="2819400" cy="1585000"/>
        </p:xfrm>
        <a:graphic>
          <a:graphicData uri="http://schemas.openxmlformats.org/drawingml/2006/table">
            <a:tbl>
              <a:tblPr firstRow="1" bandRow="1">
                <a:noFill/>
                <a:tableStyleId>{7FFFBDA3-1227-47A5-887F-83766C0D3143}</a:tableStyleId>
              </a:tblPr>
              <a:tblGrid>
                <a:gridCol w="976625"/>
                <a:gridCol w="1842775"/>
              </a:tblGrid>
              <a:tr h="203200">
                <a:tc>
                  <a:txBody>
                    <a:bodyPr/>
                    <a:lstStyle/>
                    <a:p>
                      <a:pPr marL="0" marR="0" lvl="0" indent="0" algn="l" rtl="0">
                        <a:spcBef>
                          <a:spcPts val="0"/>
                        </a:spcBef>
                        <a:spcAft>
                          <a:spcPts val="0"/>
                        </a:spcAft>
                        <a:buNone/>
                      </a:pPr>
                      <a:r>
                        <a:rPr lang="en-US" sz="1600" b="0">
                          <a:latin typeface="Arial"/>
                          <a:ea typeface="Arial"/>
                          <a:cs typeface="Arial"/>
                          <a:sym typeface="Arial"/>
                        </a:rPr>
                        <a:t>Course_Type</a:t>
                      </a:r>
                      <a:endParaRPr sz="1600" b="0">
                        <a:latin typeface="Arial"/>
                        <a:ea typeface="Arial"/>
                        <a:cs typeface="Arial"/>
                        <a:sym typeface="Arial"/>
                      </a:endParaRPr>
                    </a:p>
                  </a:txBody>
                  <a:tcPr marL="91450" marR="91450" marT="45725" marB="45725"/>
                </a:tc>
                <a:tc>
                  <a:txBody>
                    <a:bodyPr/>
                    <a:lstStyle/>
                    <a:p>
                      <a:pPr marL="0" marR="0" lvl="0" indent="0" algn="l" rtl="0">
                        <a:spcBef>
                          <a:spcPts val="0"/>
                        </a:spcBef>
                        <a:spcAft>
                          <a:spcPts val="0"/>
                        </a:spcAft>
                        <a:buNone/>
                      </a:pPr>
                      <a:r>
                        <a:rPr lang="en-US" sz="1600" b="0">
                          <a:latin typeface="Arial"/>
                          <a:ea typeface="Arial"/>
                          <a:cs typeface="Arial"/>
                          <a:sym typeface="Arial"/>
                        </a:rPr>
                        <a:t>Message</a:t>
                      </a:r>
                      <a:endParaRPr sz="1600" b="0">
                        <a:latin typeface="Arial"/>
                        <a:ea typeface="Arial"/>
                        <a:cs typeface="Arial"/>
                        <a:sym typeface="Arial"/>
                      </a:endParaRPr>
                    </a:p>
                  </a:txBody>
                  <a:tcPr marL="91450" marR="91450" marT="45725" marB="45725"/>
                </a:tc>
              </a:tr>
              <a:tr h="259200">
                <a:tc>
                  <a:txBody>
                    <a:bodyPr/>
                    <a:lstStyle/>
                    <a:p>
                      <a:pPr marL="0" marR="0" lvl="0" indent="0" algn="l" rtl="0">
                        <a:spcBef>
                          <a:spcPts val="0"/>
                        </a:spcBef>
                        <a:spcAft>
                          <a:spcPts val="0"/>
                        </a:spcAft>
                        <a:buNone/>
                      </a:pPr>
                      <a:r>
                        <a:rPr lang="en-US" sz="1600" b="0">
                          <a:latin typeface="Arial"/>
                          <a:ea typeface="Arial"/>
                          <a:cs typeface="Arial"/>
                          <a:sym typeface="Arial"/>
                        </a:rPr>
                        <a:t>CLR</a:t>
                      </a:r>
                      <a:endParaRPr sz="1600" b="0">
                        <a:latin typeface="Arial"/>
                        <a:ea typeface="Arial"/>
                        <a:cs typeface="Arial"/>
                        <a:sym typeface="Arial"/>
                      </a:endParaRPr>
                    </a:p>
                  </a:txBody>
                  <a:tcPr marL="91450" marR="91450" marT="45725" marB="45725"/>
                </a:tc>
                <a:tc>
                  <a:txBody>
                    <a:bodyPr/>
                    <a:lstStyle/>
                    <a:p>
                      <a:pPr marL="0" marR="0" lvl="0" indent="0" algn="l" rtl="0">
                        <a:spcBef>
                          <a:spcPts val="0"/>
                        </a:spcBef>
                        <a:spcAft>
                          <a:spcPts val="0"/>
                        </a:spcAft>
                        <a:buNone/>
                      </a:pPr>
                      <a:r>
                        <a:rPr lang="en-US" sz="1600" b="0">
                          <a:latin typeface="Arial"/>
                          <a:ea typeface="Arial"/>
                          <a:cs typeface="Arial"/>
                          <a:sym typeface="Arial"/>
                        </a:rPr>
                        <a:t>‘Class Room’</a:t>
                      </a:r>
                      <a:endParaRPr sz="1600" b="0">
                        <a:latin typeface="Arial"/>
                        <a:ea typeface="Arial"/>
                        <a:cs typeface="Arial"/>
                        <a:sym typeface="Arial"/>
                      </a:endParaRPr>
                    </a:p>
                  </a:txBody>
                  <a:tcPr marL="91450" marR="91450" marT="45725" marB="45725"/>
                </a:tc>
              </a:tr>
              <a:tr h="258950">
                <a:tc>
                  <a:txBody>
                    <a:bodyPr/>
                    <a:lstStyle/>
                    <a:p>
                      <a:pPr marL="0" marR="0" lvl="0" indent="0" algn="l" rtl="0">
                        <a:spcBef>
                          <a:spcPts val="0"/>
                        </a:spcBef>
                        <a:spcAft>
                          <a:spcPts val="0"/>
                        </a:spcAft>
                        <a:buNone/>
                      </a:pPr>
                      <a:r>
                        <a:rPr lang="en-US" sz="1600" b="0">
                          <a:latin typeface="Arial"/>
                          <a:ea typeface="Arial"/>
                          <a:cs typeface="Arial"/>
                          <a:sym typeface="Arial"/>
                        </a:rPr>
                        <a:t>EL</a:t>
                      </a:r>
                      <a:endParaRPr sz="1600" b="0">
                        <a:latin typeface="Arial"/>
                        <a:ea typeface="Arial"/>
                        <a:cs typeface="Arial"/>
                        <a:sym typeface="Arial"/>
                      </a:endParaRPr>
                    </a:p>
                  </a:txBody>
                  <a:tcPr marL="91450" marR="91450" marT="45725" marB="45725"/>
                </a:tc>
                <a:tc>
                  <a:txBody>
                    <a:bodyPr/>
                    <a:lstStyle/>
                    <a:p>
                      <a:pPr marL="0" marR="0" lvl="0" indent="0" algn="l" rtl="0">
                        <a:spcBef>
                          <a:spcPts val="0"/>
                        </a:spcBef>
                        <a:spcAft>
                          <a:spcPts val="0"/>
                        </a:spcAft>
                        <a:buNone/>
                      </a:pPr>
                      <a:r>
                        <a:rPr lang="en-US" sz="1600" b="0">
                          <a:latin typeface="Arial"/>
                          <a:ea typeface="Arial"/>
                          <a:cs typeface="Arial"/>
                          <a:sym typeface="Arial"/>
                        </a:rPr>
                        <a:t>‘ELearning’</a:t>
                      </a:r>
                      <a:endParaRPr sz="1600" b="0">
                        <a:latin typeface="Arial"/>
                        <a:ea typeface="Arial"/>
                        <a:cs typeface="Arial"/>
                        <a:sym typeface="Arial"/>
                      </a:endParaRPr>
                    </a:p>
                  </a:txBody>
                  <a:tcPr marL="91450" marR="91450" marT="45725" marB="45725"/>
                </a:tc>
              </a:tr>
              <a:tr h="322875">
                <a:tc>
                  <a:txBody>
                    <a:bodyPr/>
                    <a:lstStyle/>
                    <a:p>
                      <a:pPr marL="0" marR="0" lvl="0" indent="0" algn="l" rtl="0">
                        <a:spcBef>
                          <a:spcPts val="0"/>
                        </a:spcBef>
                        <a:spcAft>
                          <a:spcPts val="0"/>
                        </a:spcAft>
                        <a:buNone/>
                      </a:pPr>
                      <a:r>
                        <a:rPr lang="en-US" sz="1600" b="0">
                          <a:latin typeface="Arial"/>
                          <a:ea typeface="Arial"/>
                          <a:cs typeface="Arial"/>
                          <a:sym typeface="Arial"/>
                        </a:rPr>
                        <a:t>OF</a:t>
                      </a:r>
                      <a:endParaRPr sz="1600" b="0">
                        <a:latin typeface="Arial"/>
                        <a:ea typeface="Arial"/>
                        <a:cs typeface="Arial"/>
                        <a:sym typeface="Arial"/>
                      </a:endParaRPr>
                    </a:p>
                  </a:txBody>
                  <a:tcPr marL="91450" marR="91450" marT="45725" marB="45725"/>
                </a:tc>
                <a:tc>
                  <a:txBody>
                    <a:bodyPr/>
                    <a:lstStyle/>
                    <a:p>
                      <a:pPr marL="0" marR="0" lvl="0" indent="0" algn="l" rtl="0">
                        <a:spcBef>
                          <a:spcPts val="0"/>
                        </a:spcBef>
                        <a:spcAft>
                          <a:spcPts val="0"/>
                        </a:spcAft>
                        <a:buNone/>
                      </a:pPr>
                      <a:r>
                        <a:rPr lang="en-US" sz="1600" b="0">
                          <a:latin typeface="Arial"/>
                          <a:ea typeface="Arial"/>
                          <a:cs typeface="Arial"/>
                          <a:sym typeface="Arial"/>
                        </a:rPr>
                        <a:t>‘Offline Reading’</a:t>
                      </a:r>
                      <a:endParaRPr sz="1600" b="0">
                        <a:latin typeface="Arial"/>
                        <a:ea typeface="Arial"/>
                        <a:cs typeface="Arial"/>
                        <a:sym typeface="Arial"/>
                      </a:endParaRPr>
                    </a:p>
                  </a:txBody>
                  <a:tcPr marL="91450" marR="91450" marT="45725" marB="45725"/>
                </a:tc>
              </a:tr>
            </a:tbl>
          </a:graphicData>
        </a:graphic>
      </p:graphicFrame>
      <p:sp>
        <p:nvSpPr>
          <p:cNvPr id="448" name="Google Shape;448;p43"/>
          <p:cNvSpPr txBox="1">
            <a:spLocks noGrp="1"/>
          </p:cNvSpPr>
          <p:nvPr>
            <p:ph type="title"/>
          </p:nvPr>
        </p:nvSpPr>
        <p:spPr>
          <a:xfrm>
            <a:off x="1303020" y="-152400"/>
            <a:ext cx="829818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Lend a Hand</a:t>
            </a:r>
            <a:endParaRPr/>
          </a:p>
        </p:txBody>
      </p:sp>
      <p:sp>
        <p:nvSpPr>
          <p:cNvPr id="449" name="Google Shape;449;p43"/>
          <p:cNvSpPr txBox="1">
            <a:spLocks noGrp="1"/>
          </p:cNvSpPr>
          <p:nvPr>
            <p:ph type="sldNum" idx="12"/>
          </p:nvPr>
        </p:nvSpPr>
        <p:spPr>
          <a:xfrm>
            <a:off x="138752" y="6414139"/>
            <a:ext cx="457200" cy="277813"/>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fld id="{00000000-1234-1234-1234-123412341234}" type="slidenum">
              <a:rPr lang="en-US"/>
              <a:t>43</a:t>
            </a:fld>
            <a:endParaRPr/>
          </a:p>
        </p:txBody>
      </p:sp>
      <p:pic>
        <p:nvPicPr>
          <p:cNvPr id="450" name="Google Shape;450;p43" descr="http://t2.gstatic.com/images?q=tbn:ANd9GcTq6Gw3TUbGqr1NfzAlLJNRtI_NL4uDHS0wJZ6Pn9ByRZwZ7-wEOQ"/>
          <p:cNvPicPr preferRelativeResize="0"/>
          <p:nvPr/>
        </p:nvPicPr>
        <p:blipFill rotWithShape="1">
          <a:blip r:embed="rId3">
            <a:alphaModFix/>
          </a:blip>
          <a:srcRect t="11924" b="14526"/>
          <a:stretch/>
        </p:blipFill>
        <p:spPr>
          <a:xfrm>
            <a:off x="7620000" y="-76200"/>
            <a:ext cx="1723758" cy="1014248"/>
          </a:xfrm>
          <a:prstGeom prst="rect">
            <a:avLst/>
          </a:prstGeom>
          <a:noFill/>
          <a:ln>
            <a:noFill/>
          </a:ln>
          <a:effectLst>
            <a:outerShdw blurRad="50800" dist="38100" dir="2700000" algn="tl" rotWithShape="0">
              <a:srgbClr val="000000">
                <a:alpha val="40000"/>
              </a:srgbClr>
            </a:outerShdw>
          </a:effec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454"/>
        <p:cNvGrpSpPr/>
        <p:nvPr/>
      </p:nvGrpSpPr>
      <p:grpSpPr>
        <a:xfrm>
          <a:off x="0" y="0"/>
          <a:ext cx="0" cy="0"/>
          <a:chOff x="0" y="0"/>
          <a:chExt cx="0" cy="0"/>
        </a:xfrm>
      </p:grpSpPr>
      <p:sp>
        <p:nvSpPr>
          <p:cNvPr id="455" name="Google Shape;455;p44"/>
          <p:cNvSpPr txBox="1">
            <a:spLocks noGrp="1"/>
          </p:cNvSpPr>
          <p:nvPr>
            <p:ph type="body" idx="1"/>
          </p:nvPr>
        </p:nvSpPr>
        <p:spPr>
          <a:xfrm>
            <a:off x="381000" y="1225550"/>
            <a:ext cx="8686800" cy="4946650"/>
          </a:xfrm>
          <a:prstGeom prst="rect">
            <a:avLst/>
          </a:prstGeom>
          <a:noFill/>
          <a:ln>
            <a:noFill/>
          </a:ln>
        </p:spPr>
        <p:txBody>
          <a:bodyPr spcFirstLastPara="1" wrap="square" lIns="91425" tIns="45700" rIns="91425" bIns="45700" anchor="t" anchorCtr="0">
            <a:noAutofit/>
          </a:bodyPr>
          <a:lstStyle/>
          <a:p>
            <a:pPr marL="342900" lvl="0" indent="-279400" algn="l" rtl="0">
              <a:spcBef>
                <a:spcPts val="0"/>
              </a:spcBef>
              <a:spcAft>
                <a:spcPts val="0"/>
              </a:spcAft>
              <a:buClr>
                <a:schemeClr val="dk1"/>
              </a:buClr>
              <a:buSzPts val="2400"/>
              <a:buNone/>
            </a:pPr>
            <a:r>
              <a:rPr lang="en-US" sz="2400" b="1"/>
              <a:t>Solution 12: </a:t>
            </a:r>
            <a:endParaRPr/>
          </a:p>
          <a:p>
            <a:pPr marL="342900" lvl="0" indent="-279400" algn="l" rtl="0">
              <a:spcBef>
                <a:spcPts val="1200"/>
              </a:spcBef>
              <a:spcAft>
                <a:spcPts val="0"/>
              </a:spcAft>
              <a:buClr>
                <a:schemeClr val="dk1"/>
              </a:buClr>
              <a:buSzPts val="2400"/>
              <a:buNone/>
            </a:pPr>
            <a:endParaRPr sz="2400" b="1"/>
          </a:p>
          <a:p>
            <a:pPr marL="731520" lvl="1" indent="-365760" algn="l" rtl="0">
              <a:lnSpc>
                <a:spcPct val="120000"/>
              </a:lnSpc>
              <a:spcBef>
                <a:spcPts val="0"/>
              </a:spcBef>
              <a:spcAft>
                <a:spcPts val="0"/>
              </a:spcAft>
              <a:buClr>
                <a:srgbClr val="0070C0"/>
              </a:buClr>
              <a:buSzPts val="2400"/>
              <a:buNone/>
            </a:pPr>
            <a:r>
              <a:rPr lang="en-US" b="1">
                <a:solidFill>
                  <a:srgbClr val="0070C0"/>
                </a:solidFill>
              </a:rPr>
              <a:t>SELECT </a:t>
            </a:r>
            <a:r>
              <a:rPr lang="en-US" b="1">
                <a:solidFill>
                  <a:srgbClr val="BC8F00"/>
                </a:solidFill>
              </a:rPr>
              <a:t>COURSE_TYPE, CASE COURSE_TYPE </a:t>
            </a:r>
            <a:r>
              <a:rPr lang="en-US" b="1">
                <a:solidFill>
                  <a:srgbClr val="0070C0"/>
                </a:solidFill>
              </a:rPr>
              <a:t>WHEN </a:t>
            </a:r>
            <a:r>
              <a:rPr lang="en-US" b="1">
                <a:solidFill>
                  <a:srgbClr val="BC8F00"/>
                </a:solidFill>
              </a:rPr>
              <a:t>'CLR</a:t>
            </a:r>
            <a:r>
              <a:rPr lang="en-US" b="1">
                <a:solidFill>
                  <a:srgbClr val="0070C0"/>
                </a:solidFill>
              </a:rPr>
              <a:t>' THEN  </a:t>
            </a:r>
            <a:r>
              <a:rPr lang="en-US" b="1">
                <a:solidFill>
                  <a:srgbClr val="BC8F00"/>
                </a:solidFill>
              </a:rPr>
              <a:t>'lCLASS ROOM</a:t>
            </a:r>
            <a:r>
              <a:rPr lang="en-US" b="1">
                <a:solidFill>
                  <a:srgbClr val="0070C0"/>
                </a:solidFill>
                <a:latin typeface="Arial"/>
                <a:ea typeface="Arial"/>
                <a:cs typeface="Arial"/>
                <a:sym typeface="Arial"/>
              </a:rPr>
              <a:t>‘</a:t>
            </a:r>
            <a:endParaRPr/>
          </a:p>
          <a:p>
            <a:pPr marL="731520" lvl="1" indent="-365760" algn="l" rtl="0">
              <a:lnSpc>
                <a:spcPct val="120000"/>
              </a:lnSpc>
              <a:spcBef>
                <a:spcPts val="0"/>
              </a:spcBef>
              <a:spcAft>
                <a:spcPts val="0"/>
              </a:spcAft>
              <a:buClr>
                <a:srgbClr val="0070C0"/>
              </a:buClr>
              <a:buSzPts val="2400"/>
              <a:buNone/>
            </a:pPr>
            <a:r>
              <a:rPr lang="en-US" b="1">
                <a:solidFill>
                  <a:srgbClr val="0070C0"/>
                </a:solidFill>
              </a:rPr>
              <a:t>WHEN </a:t>
            </a:r>
            <a:r>
              <a:rPr lang="en-US" b="1">
                <a:solidFill>
                  <a:srgbClr val="BC8F00"/>
                </a:solidFill>
              </a:rPr>
              <a:t>'EL</a:t>
            </a:r>
            <a:r>
              <a:rPr lang="en-US" b="1">
                <a:solidFill>
                  <a:srgbClr val="0070C0"/>
                </a:solidFill>
              </a:rPr>
              <a:t>' THEN </a:t>
            </a:r>
            <a:r>
              <a:rPr lang="en-US" b="1">
                <a:solidFill>
                  <a:srgbClr val="BC8F00"/>
                </a:solidFill>
              </a:rPr>
              <a:t>'ELEARNING</a:t>
            </a:r>
            <a:r>
              <a:rPr lang="en-US" b="1">
                <a:solidFill>
                  <a:srgbClr val="0070C0"/>
                </a:solidFill>
                <a:latin typeface="Arial"/>
                <a:ea typeface="Arial"/>
                <a:cs typeface="Arial"/>
                <a:sym typeface="Arial"/>
              </a:rPr>
              <a:t>‘</a:t>
            </a:r>
            <a:endParaRPr/>
          </a:p>
          <a:p>
            <a:pPr marL="731520" lvl="1" indent="-365760" algn="l" rtl="0">
              <a:lnSpc>
                <a:spcPct val="120000"/>
              </a:lnSpc>
              <a:spcBef>
                <a:spcPts val="0"/>
              </a:spcBef>
              <a:spcAft>
                <a:spcPts val="0"/>
              </a:spcAft>
              <a:buClr>
                <a:srgbClr val="0070C0"/>
              </a:buClr>
              <a:buSzPts val="2400"/>
              <a:buNone/>
            </a:pPr>
            <a:r>
              <a:rPr lang="en-US" b="1">
                <a:solidFill>
                  <a:srgbClr val="0070C0"/>
                </a:solidFill>
              </a:rPr>
              <a:t>WHEN </a:t>
            </a:r>
            <a:r>
              <a:rPr lang="en-US" b="1">
                <a:solidFill>
                  <a:srgbClr val="BC8F00"/>
                </a:solidFill>
              </a:rPr>
              <a:t>'OF</a:t>
            </a:r>
            <a:r>
              <a:rPr lang="en-US" b="1">
                <a:solidFill>
                  <a:srgbClr val="0070C0"/>
                </a:solidFill>
              </a:rPr>
              <a:t>' THEN </a:t>
            </a:r>
            <a:r>
              <a:rPr lang="en-US" b="1">
                <a:solidFill>
                  <a:srgbClr val="BC8F00"/>
                </a:solidFill>
              </a:rPr>
              <a:t>'OFFLINE READING</a:t>
            </a:r>
            <a:r>
              <a:rPr lang="en-US" b="1">
                <a:solidFill>
                  <a:srgbClr val="0070C0"/>
                </a:solidFill>
              </a:rPr>
              <a:t>' </a:t>
            </a:r>
            <a:endParaRPr/>
          </a:p>
          <a:p>
            <a:pPr marL="731520" lvl="1" indent="-365760" algn="l" rtl="0">
              <a:lnSpc>
                <a:spcPct val="120000"/>
              </a:lnSpc>
              <a:spcBef>
                <a:spcPts val="0"/>
              </a:spcBef>
              <a:spcAft>
                <a:spcPts val="0"/>
              </a:spcAft>
              <a:buClr>
                <a:srgbClr val="0070C0"/>
              </a:buClr>
              <a:buSzPts val="2400"/>
              <a:buNone/>
            </a:pPr>
            <a:r>
              <a:rPr lang="en-US" b="1">
                <a:solidFill>
                  <a:srgbClr val="0070C0"/>
                </a:solidFill>
              </a:rPr>
              <a:t>END </a:t>
            </a:r>
            <a:r>
              <a:rPr lang="en-US" b="1">
                <a:solidFill>
                  <a:srgbClr val="BC8F00"/>
                </a:solidFill>
              </a:rPr>
              <a:t>RESULT</a:t>
            </a:r>
            <a:r>
              <a:rPr lang="en-US" b="1">
                <a:solidFill>
                  <a:srgbClr val="0070C0"/>
                </a:solidFill>
              </a:rPr>
              <a:t> </a:t>
            </a:r>
            <a:endParaRPr/>
          </a:p>
          <a:p>
            <a:pPr marL="731520" lvl="1" indent="-365760" algn="l" rtl="0">
              <a:lnSpc>
                <a:spcPct val="120000"/>
              </a:lnSpc>
              <a:spcBef>
                <a:spcPts val="0"/>
              </a:spcBef>
              <a:spcAft>
                <a:spcPts val="0"/>
              </a:spcAft>
              <a:buClr>
                <a:srgbClr val="0070C0"/>
              </a:buClr>
              <a:buSzPts val="2400"/>
              <a:buNone/>
            </a:pPr>
            <a:r>
              <a:rPr lang="en-US" b="1">
                <a:solidFill>
                  <a:srgbClr val="0070C0"/>
                </a:solidFill>
              </a:rPr>
              <a:t>FROM </a:t>
            </a:r>
            <a:r>
              <a:rPr lang="en-US" b="1">
                <a:solidFill>
                  <a:srgbClr val="BC8F00"/>
                </a:solidFill>
              </a:rPr>
              <a:t>COURSE_INFO</a:t>
            </a:r>
            <a:endParaRPr/>
          </a:p>
          <a:p>
            <a:pPr marL="342900" lvl="0" indent="-190500" algn="l" rtl="0">
              <a:spcBef>
                <a:spcPts val="480"/>
              </a:spcBef>
              <a:spcAft>
                <a:spcPts val="0"/>
              </a:spcAft>
              <a:buClr>
                <a:schemeClr val="dk1"/>
              </a:buClr>
              <a:buSzPts val="2400"/>
              <a:buFont typeface="Arial"/>
              <a:buNone/>
            </a:pPr>
            <a:endParaRPr sz="2400">
              <a:solidFill>
                <a:srgbClr val="0070C0"/>
              </a:solidFill>
            </a:endParaRPr>
          </a:p>
          <a:p>
            <a:pPr marL="342900" lvl="0" indent="-190500" algn="l" rtl="0">
              <a:spcBef>
                <a:spcPts val="480"/>
              </a:spcBef>
              <a:spcAft>
                <a:spcPts val="0"/>
              </a:spcAft>
              <a:buClr>
                <a:schemeClr val="dk1"/>
              </a:buClr>
              <a:buSzPts val="2400"/>
              <a:buFont typeface="Arial"/>
              <a:buNone/>
            </a:pPr>
            <a:endParaRPr sz="2400">
              <a:solidFill>
                <a:srgbClr val="0070C0"/>
              </a:solidFill>
            </a:endParaRPr>
          </a:p>
        </p:txBody>
      </p:sp>
      <p:sp>
        <p:nvSpPr>
          <p:cNvPr id="456" name="Google Shape;456;p44"/>
          <p:cNvSpPr txBox="1">
            <a:spLocks noGrp="1"/>
          </p:cNvSpPr>
          <p:nvPr>
            <p:ph type="title"/>
          </p:nvPr>
        </p:nvSpPr>
        <p:spPr>
          <a:xfrm>
            <a:off x="1303020" y="-152400"/>
            <a:ext cx="829818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Solutions</a:t>
            </a:r>
            <a:endParaRPr/>
          </a:p>
        </p:txBody>
      </p:sp>
      <p:sp>
        <p:nvSpPr>
          <p:cNvPr id="457" name="Google Shape;457;p44"/>
          <p:cNvSpPr txBox="1">
            <a:spLocks noGrp="1"/>
          </p:cNvSpPr>
          <p:nvPr>
            <p:ph type="sldNum" idx="12"/>
          </p:nvPr>
        </p:nvSpPr>
        <p:spPr>
          <a:xfrm>
            <a:off x="138752" y="6414139"/>
            <a:ext cx="457200" cy="277813"/>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fld id="{00000000-1234-1234-1234-123412341234}" type="slidenum">
              <a:rPr lang="en-US"/>
              <a:t>44</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462"/>
        <p:cNvGrpSpPr/>
        <p:nvPr/>
      </p:nvGrpSpPr>
      <p:grpSpPr>
        <a:xfrm>
          <a:off x="0" y="0"/>
          <a:ext cx="0" cy="0"/>
          <a:chOff x="0" y="0"/>
          <a:chExt cx="0" cy="0"/>
        </a:xfrm>
      </p:grpSpPr>
      <p:sp>
        <p:nvSpPr>
          <p:cNvPr id="463" name="Google Shape;463;p45"/>
          <p:cNvSpPr txBox="1">
            <a:spLocks noGrp="1"/>
          </p:cNvSpPr>
          <p:nvPr>
            <p:ph type="body" idx="1"/>
          </p:nvPr>
        </p:nvSpPr>
        <p:spPr>
          <a:xfrm>
            <a:off x="381000" y="1219200"/>
            <a:ext cx="8686800" cy="4572000"/>
          </a:xfrm>
          <a:prstGeom prst="rect">
            <a:avLst/>
          </a:prstGeom>
          <a:noFill/>
          <a:ln>
            <a:noFill/>
          </a:ln>
        </p:spPr>
        <p:txBody>
          <a:bodyPr spcFirstLastPara="1" wrap="square" lIns="91425" tIns="45700" rIns="91425" bIns="45700" anchor="t" anchorCtr="0">
            <a:noAutofit/>
          </a:bodyPr>
          <a:lstStyle/>
          <a:p>
            <a:pPr marL="0" lvl="0" indent="0" algn="l" rtl="0">
              <a:lnSpc>
                <a:spcPct val="120000"/>
              </a:lnSpc>
              <a:spcBef>
                <a:spcPts val="0"/>
              </a:spcBef>
              <a:spcAft>
                <a:spcPts val="0"/>
              </a:spcAft>
              <a:buClr>
                <a:schemeClr val="dk1"/>
              </a:buClr>
              <a:buSzPts val="2400"/>
              <a:buNone/>
            </a:pPr>
            <a:r>
              <a:rPr lang="en-US" sz="2400" b="1">
                <a:latin typeface="Calibri"/>
                <a:ea typeface="Calibri"/>
                <a:cs typeface="Calibri"/>
                <a:sym typeface="Calibri"/>
              </a:rPr>
              <a:t>Pre-requisite: </a:t>
            </a:r>
            <a:r>
              <a:rPr lang="en-US" sz="2400">
                <a:latin typeface="Calibri"/>
                <a:ea typeface="Calibri"/>
                <a:cs typeface="Calibri"/>
                <a:sym typeface="Calibri"/>
              </a:rPr>
              <a:t>Let us use the </a:t>
            </a:r>
            <a:r>
              <a:rPr lang="en-US" sz="2400" b="1" i="1">
                <a:latin typeface="Calibri"/>
                <a:ea typeface="Calibri"/>
                <a:cs typeface="Calibri"/>
                <a:sym typeface="Calibri"/>
              </a:rPr>
              <a:t>Student_Info</a:t>
            </a:r>
            <a:r>
              <a:rPr lang="en-US" sz="2400">
                <a:latin typeface="Calibri"/>
                <a:ea typeface="Calibri"/>
                <a:cs typeface="Calibri"/>
                <a:sym typeface="Calibri"/>
              </a:rPr>
              <a:t> and </a:t>
            </a:r>
            <a:r>
              <a:rPr lang="en-US" sz="2400" b="1" i="1">
                <a:latin typeface="Calibri"/>
                <a:ea typeface="Calibri"/>
                <a:cs typeface="Calibri"/>
                <a:sym typeface="Calibri"/>
              </a:rPr>
              <a:t>Course_Fees</a:t>
            </a:r>
            <a:r>
              <a:rPr lang="en-US" sz="2400">
                <a:latin typeface="Calibri"/>
                <a:ea typeface="Calibri"/>
                <a:cs typeface="Calibri"/>
                <a:sym typeface="Calibri"/>
              </a:rPr>
              <a:t> table.</a:t>
            </a:r>
            <a:endParaRPr/>
          </a:p>
          <a:p>
            <a:pPr marL="0" lvl="0" indent="0" algn="l" rtl="0">
              <a:lnSpc>
                <a:spcPct val="120000"/>
              </a:lnSpc>
              <a:spcBef>
                <a:spcPts val="0"/>
              </a:spcBef>
              <a:spcAft>
                <a:spcPts val="0"/>
              </a:spcAft>
              <a:buClr>
                <a:schemeClr val="dk1"/>
              </a:buClr>
              <a:buSzPts val="2400"/>
              <a:buNone/>
            </a:pPr>
            <a:endParaRPr sz="2400" b="1">
              <a:latin typeface="Calibri"/>
              <a:ea typeface="Calibri"/>
              <a:cs typeface="Calibri"/>
              <a:sym typeface="Calibri"/>
            </a:endParaRPr>
          </a:p>
          <a:p>
            <a:pPr marL="0" lvl="0" indent="0" algn="l" rtl="0">
              <a:lnSpc>
                <a:spcPct val="120000"/>
              </a:lnSpc>
              <a:spcBef>
                <a:spcPts val="0"/>
              </a:spcBef>
              <a:spcAft>
                <a:spcPts val="0"/>
              </a:spcAft>
              <a:buClr>
                <a:schemeClr val="dk1"/>
              </a:buClr>
              <a:buSzPts val="2400"/>
              <a:buNone/>
            </a:pPr>
            <a:r>
              <a:rPr lang="en-US" sz="2400" b="1">
                <a:latin typeface="Calibri"/>
                <a:ea typeface="Calibri"/>
                <a:cs typeface="Calibri"/>
                <a:sym typeface="Calibri"/>
              </a:rPr>
              <a:t>Problem 13: </a:t>
            </a:r>
            <a:endParaRPr/>
          </a:p>
          <a:p>
            <a:pPr marL="0" lvl="0" indent="0" algn="l" rtl="0">
              <a:lnSpc>
                <a:spcPct val="120000"/>
              </a:lnSpc>
              <a:spcBef>
                <a:spcPts val="0"/>
              </a:spcBef>
              <a:spcAft>
                <a:spcPts val="0"/>
              </a:spcAft>
              <a:buClr>
                <a:schemeClr val="dk1"/>
              </a:buClr>
              <a:buSzPts val="2400"/>
              <a:buNone/>
            </a:pPr>
            <a:r>
              <a:rPr lang="en-US" sz="2400">
                <a:latin typeface="Calibri"/>
                <a:ea typeface="Calibri"/>
                <a:cs typeface="Calibri"/>
                <a:sym typeface="Calibri"/>
              </a:rPr>
              <a:t>Write a query which will convert Student_Info  's  Student_Id  to Number  and add 100000</a:t>
            </a:r>
            <a:endParaRPr/>
          </a:p>
          <a:p>
            <a:pPr marL="0" lvl="0" indent="0" algn="l" rtl="0">
              <a:lnSpc>
                <a:spcPct val="120000"/>
              </a:lnSpc>
              <a:spcBef>
                <a:spcPts val="0"/>
              </a:spcBef>
              <a:spcAft>
                <a:spcPts val="0"/>
              </a:spcAft>
              <a:buClr>
                <a:schemeClr val="dk1"/>
              </a:buClr>
              <a:buSzPts val="2400"/>
              <a:buNone/>
            </a:pPr>
            <a:r>
              <a:rPr lang="en-US" sz="2400">
                <a:latin typeface="Calibri"/>
                <a:ea typeface="Calibri"/>
                <a:cs typeface="Calibri"/>
                <a:sym typeface="Calibri"/>
              </a:rPr>
              <a:t>and display it for all the students in the Student_Info  table. </a:t>
            </a:r>
            <a:endParaRPr/>
          </a:p>
          <a:p>
            <a:pPr marL="0" lvl="0" indent="0" algn="l" rtl="0">
              <a:lnSpc>
                <a:spcPct val="120000"/>
              </a:lnSpc>
              <a:spcBef>
                <a:spcPts val="0"/>
              </a:spcBef>
              <a:spcAft>
                <a:spcPts val="0"/>
              </a:spcAft>
              <a:buClr>
                <a:schemeClr val="dk1"/>
              </a:buClr>
              <a:buSzPts val="2400"/>
              <a:buNone/>
            </a:pPr>
            <a:r>
              <a:rPr lang="en-US" sz="2400" b="1">
                <a:latin typeface="Calibri"/>
                <a:ea typeface="Calibri"/>
                <a:cs typeface="Calibri"/>
                <a:sym typeface="Calibri"/>
              </a:rPr>
              <a:t>Problem 14 : </a:t>
            </a:r>
            <a:endParaRPr/>
          </a:p>
          <a:p>
            <a:pPr marL="0" lvl="0" indent="0" algn="l" rtl="0">
              <a:lnSpc>
                <a:spcPct val="120000"/>
              </a:lnSpc>
              <a:spcBef>
                <a:spcPts val="0"/>
              </a:spcBef>
              <a:spcAft>
                <a:spcPts val="0"/>
              </a:spcAft>
              <a:buClr>
                <a:schemeClr val="dk1"/>
              </a:buClr>
              <a:buSzPts val="2400"/>
              <a:buNone/>
            </a:pPr>
            <a:r>
              <a:rPr lang="en-US" sz="2400">
                <a:latin typeface="Calibri"/>
                <a:ea typeface="Calibri"/>
                <a:cs typeface="Calibri"/>
                <a:sym typeface="Calibri"/>
              </a:rPr>
              <a:t>Write a query which will  convert Base_Fees  into Varchar from  the  Course_Fees  table. </a:t>
            </a:r>
            <a:endParaRPr/>
          </a:p>
          <a:p>
            <a:pPr marL="0" lvl="0" indent="0" algn="l" rtl="0">
              <a:lnSpc>
                <a:spcPct val="120000"/>
              </a:lnSpc>
              <a:spcBef>
                <a:spcPts val="0"/>
              </a:spcBef>
              <a:spcAft>
                <a:spcPts val="0"/>
              </a:spcAft>
              <a:buClr>
                <a:schemeClr val="dk1"/>
              </a:buClr>
              <a:buSzPts val="2400"/>
              <a:buNone/>
            </a:pPr>
            <a:r>
              <a:rPr lang="en-US" sz="2400">
                <a:latin typeface="Calibri"/>
                <a:ea typeface="Calibri"/>
                <a:cs typeface="Calibri"/>
                <a:sym typeface="Calibri"/>
              </a:rPr>
              <a:t>And display in the following format</a:t>
            </a:r>
            <a:endParaRPr/>
          </a:p>
          <a:p>
            <a:pPr marL="0" lvl="0" indent="0" algn="l" rtl="0">
              <a:lnSpc>
                <a:spcPct val="120000"/>
              </a:lnSpc>
              <a:spcBef>
                <a:spcPts val="0"/>
              </a:spcBef>
              <a:spcAft>
                <a:spcPts val="0"/>
              </a:spcAft>
              <a:buClr>
                <a:srgbClr val="00B050"/>
              </a:buClr>
              <a:buSzPts val="2400"/>
              <a:buNone/>
            </a:pPr>
            <a:r>
              <a:rPr lang="en-US" sz="2400" b="1">
                <a:solidFill>
                  <a:srgbClr val="00B050"/>
                </a:solidFill>
                <a:latin typeface="Calibri"/>
                <a:ea typeface="Calibri"/>
                <a:cs typeface="Calibri"/>
                <a:sym typeface="Calibri"/>
              </a:rPr>
              <a:t>'</a:t>
            </a:r>
            <a:r>
              <a:rPr lang="en-US" sz="2400">
                <a:solidFill>
                  <a:srgbClr val="00B050"/>
                </a:solidFill>
                <a:latin typeface="Calibri"/>
                <a:ea typeface="Calibri"/>
                <a:cs typeface="Calibri"/>
                <a:sym typeface="Calibri"/>
              </a:rPr>
              <a:t>The  Base Fees Amount for the course name’ </a:t>
            </a:r>
            <a:r>
              <a:rPr lang="en-US" sz="2400">
                <a:solidFill>
                  <a:srgbClr val="002060"/>
                </a:solidFill>
                <a:latin typeface="Calibri"/>
                <a:ea typeface="Calibri"/>
                <a:cs typeface="Calibri"/>
                <a:sym typeface="Calibri"/>
              </a:rPr>
              <a:t>&lt;Course Name&gt;</a:t>
            </a:r>
            <a:r>
              <a:rPr lang="en-US" sz="2400">
                <a:solidFill>
                  <a:srgbClr val="00B050"/>
                </a:solidFill>
                <a:latin typeface="Calibri"/>
                <a:ea typeface="Calibri"/>
                <a:cs typeface="Calibri"/>
                <a:sym typeface="Calibri"/>
              </a:rPr>
              <a:t>’ is ’</a:t>
            </a:r>
            <a:r>
              <a:rPr lang="en-US" sz="2400">
                <a:solidFill>
                  <a:srgbClr val="002060"/>
                </a:solidFill>
                <a:latin typeface="Calibri"/>
                <a:ea typeface="Calibri"/>
                <a:cs typeface="Calibri"/>
                <a:sym typeface="Calibri"/>
              </a:rPr>
              <a:t>&lt;Base Fees&gt;</a:t>
            </a:r>
            <a:endParaRPr/>
          </a:p>
          <a:p>
            <a:pPr marL="0" lvl="0" indent="0" algn="l" rtl="0">
              <a:lnSpc>
                <a:spcPct val="120000"/>
              </a:lnSpc>
              <a:spcBef>
                <a:spcPts val="0"/>
              </a:spcBef>
              <a:spcAft>
                <a:spcPts val="0"/>
              </a:spcAft>
              <a:buClr>
                <a:schemeClr val="dk1"/>
              </a:buClr>
              <a:buSzPts val="2400"/>
              <a:buNone/>
            </a:pPr>
            <a:endParaRPr sz="2400" b="1">
              <a:latin typeface="Calibri"/>
              <a:ea typeface="Calibri"/>
              <a:cs typeface="Calibri"/>
              <a:sym typeface="Calibri"/>
            </a:endParaRPr>
          </a:p>
          <a:p>
            <a:pPr marL="0" lvl="0" indent="0" algn="l" rtl="0">
              <a:lnSpc>
                <a:spcPct val="120000"/>
              </a:lnSpc>
              <a:spcBef>
                <a:spcPts val="0"/>
              </a:spcBef>
              <a:spcAft>
                <a:spcPts val="0"/>
              </a:spcAft>
              <a:buClr>
                <a:schemeClr val="dk1"/>
              </a:buClr>
              <a:buSzPts val="2400"/>
              <a:buNone/>
            </a:pPr>
            <a:endParaRPr sz="2400" b="1">
              <a:latin typeface="Calibri"/>
              <a:ea typeface="Calibri"/>
              <a:cs typeface="Calibri"/>
              <a:sym typeface="Calibri"/>
            </a:endParaRPr>
          </a:p>
        </p:txBody>
      </p:sp>
      <p:sp>
        <p:nvSpPr>
          <p:cNvPr id="464" name="Google Shape;464;p45"/>
          <p:cNvSpPr txBox="1">
            <a:spLocks noGrp="1"/>
          </p:cNvSpPr>
          <p:nvPr>
            <p:ph type="sldNum" idx="12"/>
          </p:nvPr>
        </p:nvSpPr>
        <p:spPr>
          <a:xfrm>
            <a:off x="138752" y="6414139"/>
            <a:ext cx="457200" cy="277813"/>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fld id="{00000000-1234-1234-1234-123412341234}" type="slidenum">
              <a:rPr lang="en-US"/>
              <a:t>45</a:t>
            </a:fld>
            <a:endParaRPr/>
          </a:p>
        </p:txBody>
      </p:sp>
      <p:pic>
        <p:nvPicPr>
          <p:cNvPr id="465" name="Google Shape;465;p45" descr="http://t2.gstatic.com/images?q=tbn:ANd9GcTq6Gw3TUbGqr1NfzAlLJNRtI_NL4uDHS0wJZ6Pn9ByRZwZ7-wEOQ"/>
          <p:cNvPicPr preferRelativeResize="0"/>
          <p:nvPr/>
        </p:nvPicPr>
        <p:blipFill rotWithShape="1">
          <a:blip r:embed="rId3">
            <a:alphaModFix/>
          </a:blip>
          <a:srcRect t="11924" b="14526"/>
          <a:stretch/>
        </p:blipFill>
        <p:spPr>
          <a:xfrm>
            <a:off x="7620000" y="-76200"/>
            <a:ext cx="1723758" cy="1014248"/>
          </a:xfrm>
          <a:prstGeom prst="rect">
            <a:avLst/>
          </a:prstGeom>
          <a:noFill/>
          <a:ln>
            <a:noFill/>
          </a:ln>
          <a:effectLst>
            <a:outerShdw blurRad="50800" dist="38100" dir="2700000" algn="tl" rotWithShape="0">
              <a:srgbClr val="000000">
                <a:alpha val="40000"/>
              </a:srgbClr>
            </a:outerShdw>
          </a:effectLst>
        </p:spPr>
      </p:pic>
      <p:sp>
        <p:nvSpPr>
          <p:cNvPr id="466" name="Google Shape;466;p45"/>
          <p:cNvSpPr txBox="1">
            <a:spLocks noGrp="1"/>
          </p:cNvSpPr>
          <p:nvPr>
            <p:ph type="title"/>
          </p:nvPr>
        </p:nvSpPr>
        <p:spPr>
          <a:xfrm>
            <a:off x="1303020" y="-152400"/>
            <a:ext cx="829818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Lend a Hand</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470"/>
        <p:cNvGrpSpPr/>
        <p:nvPr/>
      </p:nvGrpSpPr>
      <p:grpSpPr>
        <a:xfrm>
          <a:off x="0" y="0"/>
          <a:ext cx="0" cy="0"/>
          <a:chOff x="0" y="0"/>
          <a:chExt cx="0" cy="0"/>
        </a:xfrm>
      </p:grpSpPr>
      <p:sp>
        <p:nvSpPr>
          <p:cNvPr id="471" name="Google Shape;471;p46"/>
          <p:cNvSpPr txBox="1">
            <a:spLocks noGrp="1"/>
          </p:cNvSpPr>
          <p:nvPr>
            <p:ph type="body" idx="1"/>
          </p:nvPr>
        </p:nvSpPr>
        <p:spPr>
          <a:xfrm>
            <a:off x="381000" y="1225550"/>
            <a:ext cx="8686800" cy="4946650"/>
          </a:xfrm>
          <a:prstGeom prst="rect">
            <a:avLst/>
          </a:prstGeom>
          <a:noFill/>
          <a:ln>
            <a:noFill/>
          </a:ln>
        </p:spPr>
        <p:txBody>
          <a:bodyPr spcFirstLastPara="1" wrap="square" lIns="91425" tIns="45700" rIns="91425" bIns="45700" anchor="t" anchorCtr="0">
            <a:noAutofit/>
          </a:bodyPr>
          <a:lstStyle/>
          <a:p>
            <a:pPr marL="0" lvl="0" indent="0" algn="l" rtl="0">
              <a:lnSpc>
                <a:spcPct val="120000"/>
              </a:lnSpc>
              <a:spcBef>
                <a:spcPts val="0"/>
              </a:spcBef>
              <a:spcAft>
                <a:spcPts val="0"/>
              </a:spcAft>
              <a:buClr>
                <a:schemeClr val="dk1"/>
              </a:buClr>
              <a:buSzPts val="2400"/>
              <a:buNone/>
            </a:pPr>
            <a:r>
              <a:rPr lang="en-US" sz="2400" b="1"/>
              <a:t>Solution 13: </a:t>
            </a:r>
            <a:endParaRPr sz="2400" b="1"/>
          </a:p>
          <a:p>
            <a:pPr marL="0" lvl="0" indent="0" algn="l" rtl="0">
              <a:lnSpc>
                <a:spcPct val="120000"/>
              </a:lnSpc>
              <a:spcBef>
                <a:spcPts val="0"/>
              </a:spcBef>
              <a:spcAft>
                <a:spcPts val="0"/>
              </a:spcAft>
              <a:buClr>
                <a:schemeClr val="dk1"/>
              </a:buClr>
              <a:buSzPts val="2400"/>
              <a:buNone/>
            </a:pPr>
            <a:endParaRPr sz="2400" b="1">
              <a:solidFill>
                <a:srgbClr val="0070C0"/>
              </a:solidFill>
            </a:endParaRPr>
          </a:p>
          <a:p>
            <a:pPr marL="731520" lvl="0" indent="-365760" algn="l" rtl="0">
              <a:lnSpc>
                <a:spcPct val="120000"/>
              </a:lnSpc>
              <a:spcBef>
                <a:spcPts val="0"/>
              </a:spcBef>
              <a:spcAft>
                <a:spcPts val="0"/>
              </a:spcAft>
              <a:buClr>
                <a:srgbClr val="0070C0"/>
              </a:buClr>
              <a:buSzPts val="2000"/>
              <a:buNone/>
            </a:pPr>
            <a:r>
              <a:rPr lang="en-US" sz="2000" b="1">
                <a:solidFill>
                  <a:srgbClr val="0070C0"/>
                </a:solidFill>
              </a:rPr>
              <a:t>SELECT 100000 + CAST</a:t>
            </a:r>
            <a:r>
              <a:rPr lang="en-US" sz="2000" b="1">
                <a:solidFill>
                  <a:srgbClr val="BC8F00"/>
                </a:solidFill>
              </a:rPr>
              <a:t>(STUDENT_ID</a:t>
            </a:r>
            <a:r>
              <a:rPr lang="en-US" sz="2000" b="1">
                <a:solidFill>
                  <a:srgbClr val="0070C0"/>
                </a:solidFill>
              </a:rPr>
              <a:t> as decimal) </a:t>
            </a:r>
            <a:endParaRPr/>
          </a:p>
          <a:p>
            <a:pPr marL="731520" lvl="0" indent="-365760" algn="l" rtl="0">
              <a:lnSpc>
                <a:spcPct val="120000"/>
              </a:lnSpc>
              <a:spcBef>
                <a:spcPts val="0"/>
              </a:spcBef>
              <a:spcAft>
                <a:spcPts val="0"/>
              </a:spcAft>
              <a:buClr>
                <a:srgbClr val="0070C0"/>
              </a:buClr>
              <a:buSzPts val="2000"/>
              <a:buNone/>
            </a:pPr>
            <a:r>
              <a:rPr lang="en-US" sz="2000" b="1">
                <a:solidFill>
                  <a:srgbClr val="0070C0"/>
                </a:solidFill>
              </a:rPr>
              <a:t>FROM </a:t>
            </a:r>
            <a:r>
              <a:rPr lang="en-US" sz="2000" b="1">
                <a:solidFill>
                  <a:srgbClr val="BC8F00"/>
                </a:solidFill>
              </a:rPr>
              <a:t>STUDENT_INFO</a:t>
            </a:r>
            <a:endParaRPr/>
          </a:p>
          <a:p>
            <a:pPr marL="0" lvl="0" indent="0" algn="l" rtl="0">
              <a:lnSpc>
                <a:spcPct val="120000"/>
              </a:lnSpc>
              <a:spcBef>
                <a:spcPts val="0"/>
              </a:spcBef>
              <a:spcAft>
                <a:spcPts val="0"/>
              </a:spcAft>
              <a:buClr>
                <a:schemeClr val="dk1"/>
              </a:buClr>
              <a:buSzPts val="2400"/>
              <a:buNone/>
            </a:pPr>
            <a:endParaRPr sz="2400" b="1">
              <a:solidFill>
                <a:srgbClr val="BC8F00"/>
              </a:solidFill>
            </a:endParaRPr>
          </a:p>
          <a:p>
            <a:pPr marL="0" lvl="0" indent="0" algn="l" rtl="0">
              <a:lnSpc>
                <a:spcPct val="120000"/>
              </a:lnSpc>
              <a:spcBef>
                <a:spcPts val="0"/>
              </a:spcBef>
              <a:spcAft>
                <a:spcPts val="0"/>
              </a:spcAft>
              <a:buClr>
                <a:schemeClr val="dk1"/>
              </a:buClr>
              <a:buSzPts val="2400"/>
              <a:buNone/>
            </a:pPr>
            <a:r>
              <a:rPr lang="en-US" sz="2400" b="1"/>
              <a:t>Solution 14: </a:t>
            </a:r>
            <a:endParaRPr/>
          </a:p>
          <a:p>
            <a:pPr marL="0" lvl="0" indent="0" algn="l" rtl="0">
              <a:lnSpc>
                <a:spcPct val="120000"/>
              </a:lnSpc>
              <a:spcBef>
                <a:spcPts val="0"/>
              </a:spcBef>
              <a:spcAft>
                <a:spcPts val="0"/>
              </a:spcAft>
              <a:buClr>
                <a:schemeClr val="dk1"/>
              </a:buClr>
              <a:buSzPts val="2400"/>
              <a:buNone/>
            </a:pPr>
            <a:endParaRPr sz="2400" b="1"/>
          </a:p>
          <a:p>
            <a:pPr marL="731520" lvl="0" indent="-365760" algn="l" rtl="0">
              <a:lnSpc>
                <a:spcPct val="120000"/>
              </a:lnSpc>
              <a:spcBef>
                <a:spcPts val="0"/>
              </a:spcBef>
              <a:spcAft>
                <a:spcPts val="0"/>
              </a:spcAft>
              <a:buClr>
                <a:srgbClr val="0070C0"/>
              </a:buClr>
              <a:buSzPts val="2000"/>
              <a:buNone/>
            </a:pPr>
            <a:r>
              <a:rPr lang="en-US" sz="2000" b="1">
                <a:solidFill>
                  <a:srgbClr val="0070C0"/>
                </a:solidFill>
              </a:rPr>
              <a:t>SELECT  CONCAT(</a:t>
            </a:r>
            <a:r>
              <a:rPr lang="en-US" sz="2000" b="1">
                <a:solidFill>
                  <a:srgbClr val="BC8F00"/>
                </a:solidFill>
              </a:rPr>
              <a:t>'THE BASE FEES AMOUNT FOR THE COURSE_NAME IS',</a:t>
            </a:r>
            <a:endParaRPr/>
          </a:p>
          <a:p>
            <a:pPr marL="731520" lvl="0" indent="-365760" algn="l" rtl="0">
              <a:lnSpc>
                <a:spcPct val="120000"/>
              </a:lnSpc>
              <a:spcBef>
                <a:spcPts val="0"/>
              </a:spcBef>
              <a:spcAft>
                <a:spcPts val="0"/>
              </a:spcAft>
              <a:buClr>
                <a:srgbClr val="0070C0"/>
              </a:buClr>
              <a:buSzPts val="2000"/>
              <a:buNone/>
            </a:pPr>
            <a:r>
              <a:rPr lang="en-US" sz="2000" b="1">
                <a:solidFill>
                  <a:srgbClr val="0070C0"/>
                </a:solidFill>
              </a:rPr>
              <a:t>CINFO.COURSE_NAME, CAST(</a:t>
            </a:r>
            <a:r>
              <a:rPr lang="en-US" sz="2000" b="1">
                <a:solidFill>
                  <a:srgbClr val="BC8F00"/>
                </a:solidFill>
              </a:rPr>
              <a:t>FEESINFO.BASE_FEES </a:t>
            </a:r>
            <a:r>
              <a:rPr lang="en-US" sz="2000" b="1">
                <a:solidFill>
                  <a:srgbClr val="0070C0"/>
                </a:solidFill>
              </a:rPr>
              <a:t>as decimal))</a:t>
            </a:r>
            <a:endParaRPr/>
          </a:p>
          <a:p>
            <a:pPr marL="731520" lvl="0" indent="-365760" algn="l" rtl="0">
              <a:lnSpc>
                <a:spcPct val="120000"/>
              </a:lnSpc>
              <a:spcBef>
                <a:spcPts val="0"/>
              </a:spcBef>
              <a:spcAft>
                <a:spcPts val="0"/>
              </a:spcAft>
              <a:buClr>
                <a:srgbClr val="0070C0"/>
              </a:buClr>
              <a:buSzPts val="2000"/>
              <a:buNone/>
            </a:pPr>
            <a:r>
              <a:rPr lang="en-US" sz="2000" b="1">
                <a:solidFill>
                  <a:srgbClr val="0070C0"/>
                </a:solidFill>
              </a:rPr>
              <a:t>FROM </a:t>
            </a:r>
            <a:r>
              <a:rPr lang="en-US" sz="2000" b="1">
                <a:solidFill>
                  <a:srgbClr val="BC8F00"/>
                </a:solidFill>
              </a:rPr>
              <a:t>COURSE_INFO CINFO,COURSE_FEES FEESINFO </a:t>
            </a:r>
            <a:endParaRPr/>
          </a:p>
          <a:p>
            <a:pPr marL="731520" lvl="0" indent="-365760" algn="l" rtl="0">
              <a:lnSpc>
                <a:spcPct val="120000"/>
              </a:lnSpc>
              <a:spcBef>
                <a:spcPts val="0"/>
              </a:spcBef>
              <a:spcAft>
                <a:spcPts val="0"/>
              </a:spcAft>
              <a:buClr>
                <a:srgbClr val="0070C0"/>
              </a:buClr>
              <a:buSzPts val="2000"/>
              <a:buNone/>
            </a:pPr>
            <a:r>
              <a:rPr lang="en-US" sz="2000" b="1">
                <a:solidFill>
                  <a:srgbClr val="0070C0"/>
                </a:solidFill>
              </a:rPr>
              <a:t>WHERE </a:t>
            </a:r>
            <a:r>
              <a:rPr lang="en-US" sz="2000" b="1">
                <a:solidFill>
                  <a:srgbClr val="BC8F00"/>
                </a:solidFill>
              </a:rPr>
              <a:t>CINFO.COURSE_CODE=FEESINFO.COURSE_CODE</a:t>
            </a:r>
            <a:endParaRPr/>
          </a:p>
          <a:p>
            <a:pPr marL="0" lvl="0" indent="152400" algn="l" rtl="0">
              <a:lnSpc>
                <a:spcPct val="120000"/>
              </a:lnSpc>
              <a:spcBef>
                <a:spcPts val="0"/>
              </a:spcBef>
              <a:spcAft>
                <a:spcPts val="0"/>
              </a:spcAft>
              <a:buClr>
                <a:schemeClr val="dk1"/>
              </a:buClr>
              <a:buSzPts val="2400"/>
              <a:buNone/>
            </a:pPr>
            <a:endParaRPr sz="2400"/>
          </a:p>
          <a:p>
            <a:pPr marL="0" lvl="0" indent="152400" algn="l" rtl="0">
              <a:lnSpc>
                <a:spcPct val="120000"/>
              </a:lnSpc>
              <a:spcBef>
                <a:spcPts val="0"/>
              </a:spcBef>
              <a:spcAft>
                <a:spcPts val="0"/>
              </a:spcAft>
              <a:buClr>
                <a:schemeClr val="dk1"/>
              </a:buClr>
              <a:buSzPts val="2400"/>
              <a:buNone/>
            </a:pPr>
            <a:endParaRPr sz="2400">
              <a:solidFill>
                <a:srgbClr val="0070C0"/>
              </a:solidFill>
            </a:endParaRPr>
          </a:p>
          <a:p>
            <a:pPr marL="0" lvl="0" indent="152400" algn="l" rtl="0">
              <a:lnSpc>
                <a:spcPct val="120000"/>
              </a:lnSpc>
              <a:spcBef>
                <a:spcPts val="0"/>
              </a:spcBef>
              <a:spcAft>
                <a:spcPts val="0"/>
              </a:spcAft>
              <a:buClr>
                <a:schemeClr val="dk1"/>
              </a:buClr>
              <a:buSzPts val="2400"/>
              <a:buNone/>
            </a:pPr>
            <a:endParaRPr sz="2400">
              <a:solidFill>
                <a:srgbClr val="0070C0"/>
              </a:solidFill>
            </a:endParaRPr>
          </a:p>
        </p:txBody>
      </p:sp>
      <p:sp>
        <p:nvSpPr>
          <p:cNvPr id="472" name="Google Shape;472;p46"/>
          <p:cNvSpPr txBox="1">
            <a:spLocks noGrp="1"/>
          </p:cNvSpPr>
          <p:nvPr>
            <p:ph type="title"/>
          </p:nvPr>
        </p:nvSpPr>
        <p:spPr>
          <a:xfrm>
            <a:off x="1303020" y="-152400"/>
            <a:ext cx="829818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Solutions</a:t>
            </a:r>
            <a:endParaRPr/>
          </a:p>
        </p:txBody>
      </p:sp>
      <p:sp>
        <p:nvSpPr>
          <p:cNvPr id="473" name="Google Shape;473;p46"/>
          <p:cNvSpPr txBox="1">
            <a:spLocks noGrp="1"/>
          </p:cNvSpPr>
          <p:nvPr>
            <p:ph type="sldNum" idx="12"/>
          </p:nvPr>
        </p:nvSpPr>
        <p:spPr>
          <a:xfrm>
            <a:off x="138752" y="6414139"/>
            <a:ext cx="457200" cy="277813"/>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fld id="{00000000-1234-1234-1234-123412341234}" type="slidenum">
              <a:rPr lang="en-US"/>
              <a:t>46</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477"/>
        <p:cNvGrpSpPr/>
        <p:nvPr/>
      </p:nvGrpSpPr>
      <p:grpSpPr>
        <a:xfrm>
          <a:off x="0" y="0"/>
          <a:ext cx="0" cy="0"/>
          <a:chOff x="0" y="0"/>
          <a:chExt cx="0" cy="0"/>
        </a:xfrm>
      </p:grpSpPr>
      <p:sp>
        <p:nvSpPr>
          <p:cNvPr id="478" name="Google Shape;478;p47"/>
          <p:cNvSpPr txBox="1">
            <a:spLocks noGrp="1"/>
          </p:cNvSpPr>
          <p:nvPr>
            <p:ph type="title"/>
          </p:nvPr>
        </p:nvSpPr>
        <p:spPr>
          <a:xfrm>
            <a:off x="1303020" y="-152400"/>
            <a:ext cx="829818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Questions?</a:t>
            </a:r>
            <a:endParaRPr/>
          </a:p>
        </p:txBody>
      </p:sp>
      <p:sp>
        <p:nvSpPr>
          <p:cNvPr id="479" name="Google Shape;479;p47"/>
          <p:cNvSpPr txBox="1">
            <a:spLocks noGrp="1"/>
          </p:cNvSpPr>
          <p:nvPr>
            <p:ph type="sldNum" idx="12"/>
          </p:nvPr>
        </p:nvSpPr>
        <p:spPr>
          <a:xfrm>
            <a:off x="138752" y="6414139"/>
            <a:ext cx="457200" cy="277813"/>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fld id="{00000000-1234-1234-1234-123412341234}" type="slidenum">
              <a:rPr lang="en-US"/>
              <a:t>47</a:t>
            </a:fld>
            <a:endParaRPr/>
          </a:p>
        </p:txBody>
      </p:sp>
      <p:pic>
        <p:nvPicPr>
          <p:cNvPr id="480" name="Google Shape;480;p47"/>
          <p:cNvPicPr preferRelativeResize="0"/>
          <p:nvPr/>
        </p:nvPicPr>
        <p:blipFill rotWithShape="1">
          <a:blip r:embed="rId3">
            <a:alphaModFix/>
          </a:blip>
          <a:srcRect/>
          <a:stretch/>
        </p:blipFill>
        <p:spPr>
          <a:xfrm>
            <a:off x="2667000" y="1676400"/>
            <a:ext cx="3721101" cy="381000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80"/>
                                        </p:tgtEl>
                                        <p:attrNameLst>
                                          <p:attrName>style.visibility</p:attrName>
                                        </p:attrNameLst>
                                      </p:cBhvr>
                                      <p:to>
                                        <p:strVal val="visible"/>
                                      </p:to>
                                    </p:set>
                                    <p:animEffect transition="in" filter="fade">
                                      <p:cBhvr>
                                        <p:cTn id="7" dur="500"/>
                                        <p:tgtEl>
                                          <p:spTgt spid="4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484"/>
        <p:cNvGrpSpPr/>
        <p:nvPr/>
      </p:nvGrpSpPr>
      <p:grpSpPr>
        <a:xfrm>
          <a:off x="0" y="0"/>
          <a:ext cx="0" cy="0"/>
          <a:chOff x="0" y="0"/>
          <a:chExt cx="0" cy="0"/>
        </a:xfrm>
      </p:grpSpPr>
      <p:sp>
        <p:nvSpPr>
          <p:cNvPr id="485" name="Google Shape;485;p48"/>
          <p:cNvSpPr txBox="1">
            <a:spLocks noGrp="1"/>
          </p:cNvSpPr>
          <p:nvPr>
            <p:ph type="body" idx="1"/>
          </p:nvPr>
        </p:nvSpPr>
        <p:spPr>
          <a:xfrm>
            <a:off x="381000" y="1225550"/>
            <a:ext cx="5486400" cy="4946650"/>
          </a:xfrm>
          <a:prstGeom prst="rect">
            <a:avLst/>
          </a:prstGeom>
          <a:noFill/>
          <a:ln>
            <a:noFill/>
          </a:ln>
        </p:spPr>
        <p:txBody>
          <a:bodyPr spcFirstLastPara="1" wrap="square" lIns="91425" tIns="45700" rIns="91425" bIns="45700" anchor="t" anchorCtr="0">
            <a:noAutofit/>
          </a:bodyPr>
          <a:lstStyle/>
          <a:p>
            <a:pPr marL="731520" lvl="0" indent="-365760" algn="l" rtl="0">
              <a:lnSpc>
                <a:spcPct val="120000"/>
              </a:lnSpc>
              <a:spcBef>
                <a:spcPts val="0"/>
              </a:spcBef>
              <a:spcAft>
                <a:spcPts val="0"/>
              </a:spcAft>
              <a:buClr>
                <a:schemeClr val="dk1"/>
              </a:buClr>
              <a:buSzPts val="2200"/>
              <a:buChar char="•"/>
            </a:pPr>
            <a:r>
              <a:rPr lang="en-US" sz="2200"/>
              <a:t>What  function is used to find the number of characters in Varchar?</a:t>
            </a:r>
            <a:endParaRPr/>
          </a:p>
          <a:p>
            <a:pPr marL="731520" lvl="0" indent="-365760" algn="l" rtl="0">
              <a:lnSpc>
                <a:spcPct val="120000"/>
              </a:lnSpc>
              <a:spcBef>
                <a:spcPts val="0"/>
              </a:spcBef>
              <a:spcAft>
                <a:spcPts val="0"/>
              </a:spcAft>
              <a:buClr>
                <a:schemeClr val="dk1"/>
              </a:buClr>
              <a:buSzPts val="2200"/>
              <a:buChar char="•"/>
            </a:pPr>
            <a:r>
              <a:rPr lang="en-US" sz="2200"/>
              <a:t>What function is used to get the current system date?</a:t>
            </a:r>
            <a:endParaRPr/>
          </a:p>
          <a:p>
            <a:pPr marL="731520" lvl="0" indent="-365760" algn="l" rtl="0">
              <a:lnSpc>
                <a:spcPct val="120000"/>
              </a:lnSpc>
              <a:spcBef>
                <a:spcPts val="0"/>
              </a:spcBef>
              <a:spcAft>
                <a:spcPts val="0"/>
              </a:spcAft>
              <a:buClr>
                <a:schemeClr val="dk1"/>
              </a:buClr>
              <a:buSzPts val="2200"/>
              <a:buChar char="•"/>
            </a:pPr>
            <a:r>
              <a:rPr lang="en-US" sz="2200"/>
              <a:t>What  will  ROUND (2323.343,2)  returns ?</a:t>
            </a:r>
            <a:endParaRPr/>
          </a:p>
          <a:p>
            <a:pPr marL="731520" lvl="0" indent="-365760" algn="l" rtl="0">
              <a:lnSpc>
                <a:spcPct val="120000"/>
              </a:lnSpc>
              <a:spcBef>
                <a:spcPts val="0"/>
              </a:spcBef>
              <a:spcAft>
                <a:spcPts val="0"/>
              </a:spcAft>
              <a:buClr>
                <a:schemeClr val="dk1"/>
              </a:buClr>
              <a:buSzPts val="2200"/>
              <a:buChar char="•"/>
            </a:pPr>
            <a:r>
              <a:rPr lang="en-US" sz="2200"/>
              <a:t>What  Function  is used to get number of years between two dates.?</a:t>
            </a:r>
            <a:endParaRPr/>
          </a:p>
          <a:p>
            <a:pPr marL="731520" lvl="0" indent="-365760" algn="l" rtl="0">
              <a:lnSpc>
                <a:spcPct val="120000"/>
              </a:lnSpc>
              <a:spcBef>
                <a:spcPts val="0"/>
              </a:spcBef>
              <a:spcAft>
                <a:spcPts val="0"/>
              </a:spcAft>
              <a:buClr>
                <a:schemeClr val="dk1"/>
              </a:buClr>
              <a:buSzPts val="2200"/>
              <a:buChar char="•"/>
            </a:pPr>
            <a:r>
              <a:rPr lang="en-US" sz="2200"/>
              <a:t>How can I convert a character to a number?</a:t>
            </a:r>
            <a:endParaRPr/>
          </a:p>
          <a:p>
            <a:pPr marL="731520" lvl="0" indent="-365760" algn="l" rtl="0">
              <a:lnSpc>
                <a:spcPct val="120000"/>
              </a:lnSpc>
              <a:spcBef>
                <a:spcPts val="0"/>
              </a:spcBef>
              <a:spcAft>
                <a:spcPts val="0"/>
              </a:spcAft>
              <a:buClr>
                <a:schemeClr val="dk1"/>
              </a:buClr>
              <a:buSzPts val="2200"/>
              <a:buChar char="•"/>
            </a:pPr>
            <a:r>
              <a:rPr lang="en-US" sz="2200"/>
              <a:t>How can I convert a varchar to a  date?</a:t>
            </a:r>
            <a:endParaRPr/>
          </a:p>
          <a:p>
            <a:pPr marL="731520" lvl="0" indent="-365760" algn="l" rtl="0">
              <a:lnSpc>
                <a:spcPct val="120000"/>
              </a:lnSpc>
              <a:spcBef>
                <a:spcPts val="0"/>
              </a:spcBef>
              <a:spcAft>
                <a:spcPts val="0"/>
              </a:spcAft>
              <a:buClr>
                <a:schemeClr val="dk1"/>
              </a:buClr>
              <a:buSzPts val="2200"/>
              <a:buNone/>
            </a:pPr>
            <a:endParaRPr sz="2200"/>
          </a:p>
          <a:p>
            <a:pPr marL="731520" lvl="0" indent="-226059" algn="l" rtl="0">
              <a:lnSpc>
                <a:spcPct val="120000"/>
              </a:lnSpc>
              <a:spcBef>
                <a:spcPts val="0"/>
              </a:spcBef>
              <a:spcAft>
                <a:spcPts val="0"/>
              </a:spcAft>
              <a:buClr>
                <a:schemeClr val="dk1"/>
              </a:buClr>
              <a:buSzPts val="2200"/>
              <a:buNone/>
            </a:pPr>
            <a:endParaRPr sz="2200"/>
          </a:p>
          <a:p>
            <a:pPr marL="731520" lvl="0" indent="-226059" algn="l" rtl="0">
              <a:lnSpc>
                <a:spcPct val="120000"/>
              </a:lnSpc>
              <a:spcBef>
                <a:spcPts val="0"/>
              </a:spcBef>
              <a:spcAft>
                <a:spcPts val="0"/>
              </a:spcAft>
              <a:buClr>
                <a:schemeClr val="dk1"/>
              </a:buClr>
              <a:buSzPts val="2200"/>
              <a:buNone/>
            </a:pPr>
            <a:endParaRPr sz="2200"/>
          </a:p>
          <a:p>
            <a:pPr marL="731520" lvl="0" indent="-226059" algn="l" rtl="0">
              <a:lnSpc>
                <a:spcPct val="120000"/>
              </a:lnSpc>
              <a:spcBef>
                <a:spcPts val="0"/>
              </a:spcBef>
              <a:spcAft>
                <a:spcPts val="0"/>
              </a:spcAft>
              <a:buClr>
                <a:schemeClr val="dk1"/>
              </a:buClr>
              <a:buSzPts val="2200"/>
              <a:buNone/>
            </a:pPr>
            <a:endParaRPr sz="2200"/>
          </a:p>
        </p:txBody>
      </p:sp>
      <p:sp>
        <p:nvSpPr>
          <p:cNvPr id="486" name="Google Shape;486;p48"/>
          <p:cNvSpPr txBox="1">
            <a:spLocks noGrp="1"/>
          </p:cNvSpPr>
          <p:nvPr>
            <p:ph type="title"/>
          </p:nvPr>
        </p:nvSpPr>
        <p:spPr>
          <a:xfrm>
            <a:off x="1303020" y="-152400"/>
            <a:ext cx="829818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Check Your Understanding</a:t>
            </a:r>
            <a:endParaRPr/>
          </a:p>
        </p:txBody>
      </p:sp>
      <p:pic>
        <p:nvPicPr>
          <p:cNvPr id="487" name="Google Shape;487;p48"/>
          <p:cNvPicPr preferRelativeResize="0"/>
          <p:nvPr/>
        </p:nvPicPr>
        <p:blipFill rotWithShape="1">
          <a:blip r:embed="rId3">
            <a:alphaModFix/>
          </a:blip>
          <a:srcRect/>
          <a:stretch/>
        </p:blipFill>
        <p:spPr>
          <a:xfrm>
            <a:off x="8272676" y="76200"/>
            <a:ext cx="718924" cy="755268"/>
          </a:xfrm>
          <a:prstGeom prst="rect">
            <a:avLst/>
          </a:prstGeom>
          <a:noFill/>
          <a:ln>
            <a:noFill/>
          </a:ln>
        </p:spPr>
      </p:pic>
      <p:sp>
        <p:nvSpPr>
          <p:cNvPr id="488" name="Google Shape;488;p48"/>
          <p:cNvSpPr txBox="1">
            <a:spLocks noGrp="1"/>
          </p:cNvSpPr>
          <p:nvPr>
            <p:ph type="sldNum" idx="12"/>
          </p:nvPr>
        </p:nvSpPr>
        <p:spPr>
          <a:xfrm>
            <a:off x="138752" y="6414139"/>
            <a:ext cx="457200" cy="277813"/>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fld id="{00000000-1234-1234-1234-123412341234}" type="slidenum">
              <a:rPr lang="en-US"/>
              <a:t>48</a:t>
            </a:fld>
            <a:endParaRPr/>
          </a:p>
        </p:txBody>
      </p:sp>
      <p:pic>
        <p:nvPicPr>
          <p:cNvPr id="489" name="Google Shape;489;p48"/>
          <p:cNvPicPr preferRelativeResize="0"/>
          <p:nvPr/>
        </p:nvPicPr>
        <p:blipFill rotWithShape="1">
          <a:blip r:embed="rId4">
            <a:alphaModFix/>
          </a:blip>
          <a:srcRect/>
          <a:stretch/>
        </p:blipFill>
        <p:spPr>
          <a:xfrm>
            <a:off x="5867400" y="1752600"/>
            <a:ext cx="2587943" cy="326898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493"/>
        <p:cNvGrpSpPr/>
        <p:nvPr/>
      </p:nvGrpSpPr>
      <p:grpSpPr>
        <a:xfrm>
          <a:off x="0" y="0"/>
          <a:ext cx="0" cy="0"/>
          <a:chOff x="0" y="0"/>
          <a:chExt cx="0" cy="0"/>
        </a:xfrm>
      </p:grpSpPr>
      <p:sp>
        <p:nvSpPr>
          <p:cNvPr id="494" name="Google Shape;494;p49"/>
          <p:cNvSpPr txBox="1">
            <a:spLocks noGrp="1"/>
          </p:cNvSpPr>
          <p:nvPr>
            <p:ph type="body" idx="1"/>
          </p:nvPr>
        </p:nvSpPr>
        <p:spPr>
          <a:xfrm>
            <a:off x="369971" y="1185861"/>
            <a:ext cx="5649829" cy="4300539"/>
          </a:xfrm>
          <a:prstGeom prst="rect">
            <a:avLst/>
          </a:prstGeom>
          <a:noFill/>
          <a:ln>
            <a:noFill/>
          </a:ln>
        </p:spPr>
        <p:txBody>
          <a:bodyPr spcFirstLastPara="1" wrap="square" lIns="91425" tIns="45700" rIns="91425" bIns="45700" anchor="t" anchorCtr="0">
            <a:noAutofit/>
          </a:bodyPr>
          <a:lstStyle/>
          <a:p>
            <a:pPr marL="731520" lvl="0" indent="-365760" algn="l" rtl="0">
              <a:lnSpc>
                <a:spcPct val="120000"/>
              </a:lnSpc>
              <a:spcBef>
                <a:spcPts val="0"/>
              </a:spcBef>
              <a:spcAft>
                <a:spcPts val="0"/>
              </a:spcAft>
              <a:buClr>
                <a:schemeClr val="dk1"/>
              </a:buClr>
              <a:buSzPts val="2200"/>
              <a:buChar char="•"/>
            </a:pPr>
            <a:r>
              <a:rPr lang="en-US" sz="2200"/>
              <a:t>ANSI SQL Functions Classification</a:t>
            </a:r>
            <a:endParaRPr/>
          </a:p>
          <a:p>
            <a:pPr marL="731520" lvl="0" indent="-365760" algn="l" rtl="0">
              <a:lnSpc>
                <a:spcPct val="120000"/>
              </a:lnSpc>
              <a:spcBef>
                <a:spcPts val="0"/>
              </a:spcBef>
              <a:spcAft>
                <a:spcPts val="0"/>
              </a:spcAft>
              <a:buClr>
                <a:schemeClr val="dk1"/>
              </a:buClr>
              <a:buSzPts val="2200"/>
              <a:buChar char="•"/>
            </a:pPr>
            <a:r>
              <a:rPr lang="en-US" sz="2200"/>
              <a:t>Deterministic and Nondeterministic functions</a:t>
            </a:r>
            <a:endParaRPr/>
          </a:p>
          <a:p>
            <a:pPr marL="731520" lvl="0" indent="-365760" algn="l" rtl="0">
              <a:lnSpc>
                <a:spcPct val="120000"/>
              </a:lnSpc>
              <a:spcBef>
                <a:spcPts val="0"/>
              </a:spcBef>
              <a:spcAft>
                <a:spcPts val="0"/>
              </a:spcAft>
              <a:buClr>
                <a:schemeClr val="dk1"/>
              </a:buClr>
              <a:buSzPts val="2200"/>
              <a:buChar char="•"/>
            </a:pPr>
            <a:r>
              <a:rPr lang="en-US" sz="2200"/>
              <a:t>Aggregate Functions and Scalar Functions</a:t>
            </a:r>
            <a:endParaRPr/>
          </a:p>
          <a:p>
            <a:pPr marL="731520" lvl="0" indent="-365760" algn="l" rtl="0">
              <a:lnSpc>
                <a:spcPct val="120000"/>
              </a:lnSpc>
              <a:spcBef>
                <a:spcPts val="0"/>
              </a:spcBef>
              <a:spcAft>
                <a:spcPts val="0"/>
              </a:spcAft>
              <a:buClr>
                <a:schemeClr val="dk1"/>
              </a:buClr>
              <a:buSzPts val="2200"/>
              <a:buChar char="•"/>
            </a:pPr>
            <a:r>
              <a:rPr lang="en-US" sz="2200"/>
              <a:t>String Functions, Mathematical Functions</a:t>
            </a:r>
            <a:endParaRPr/>
          </a:p>
          <a:p>
            <a:pPr marL="731520" lvl="0" indent="-365760" algn="l" rtl="0">
              <a:lnSpc>
                <a:spcPct val="120000"/>
              </a:lnSpc>
              <a:spcBef>
                <a:spcPts val="0"/>
              </a:spcBef>
              <a:spcAft>
                <a:spcPts val="0"/>
              </a:spcAft>
              <a:buClr>
                <a:schemeClr val="dk1"/>
              </a:buClr>
              <a:buSzPts val="2200"/>
              <a:buChar char="•"/>
            </a:pPr>
            <a:r>
              <a:rPr lang="en-US" sz="2200"/>
              <a:t>Miscellaneous Functions (COALESCE &amp; NULLIF)</a:t>
            </a:r>
            <a:endParaRPr/>
          </a:p>
          <a:p>
            <a:pPr marL="731520" lvl="0" indent="-365760" algn="l" rtl="0">
              <a:lnSpc>
                <a:spcPct val="120000"/>
              </a:lnSpc>
              <a:spcBef>
                <a:spcPts val="0"/>
              </a:spcBef>
              <a:spcAft>
                <a:spcPts val="0"/>
              </a:spcAft>
              <a:buClr>
                <a:schemeClr val="dk1"/>
              </a:buClr>
              <a:buSzPts val="2200"/>
              <a:buChar char="•"/>
            </a:pPr>
            <a:r>
              <a:rPr lang="en-US" sz="2200"/>
              <a:t>Nesting of Functions &amp; SQL Expression</a:t>
            </a:r>
            <a:endParaRPr sz="2200"/>
          </a:p>
        </p:txBody>
      </p:sp>
      <p:sp>
        <p:nvSpPr>
          <p:cNvPr id="495" name="Google Shape;495;p49"/>
          <p:cNvSpPr txBox="1">
            <a:spLocks noGrp="1"/>
          </p:cNvSpPr>
          <p:nvPr>
            <p:ph type="title"/>
          </p:nvPr>
        </p:nvSpPr>
        <p:spPr>
          <a:xfrm>
            <a:off x="1303020" y="-152400"/>
            <a:ext cx="829818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Summary</a:t>
            </a:r>
            <a:endParaRPr/>
          </a:p>
        </p:txBody>
      </p:sp>
      <p:pic>
        <p:nvPicPr>
          <p:cNvPr id="496" name="Google Shape;496;p49"/>
          <p:cNvPicPr preferRelativeResize="0"/>
          <p:nvPr/>
        </p:nvPicPr>
        <p:blipFill rotWithShape="1">
          <a:blip r:embed="rId3">
            <a:alphaModFix/>
          </a:blip>
          <a:srcRect/>
          <a:stretch/>
        </p:blipFill>
        <p:spPr>
          <a:xfrm>
            <a:off x="8305801" y="76200"/>
            <a:ext cx="685800" cy="685800"/>
          </a:xfrm>
          <a:prstGeom prst="rect">
            <a:avLst/>
          </a:prstGeom>
          <a:noFill/>
          <a:ln>
            <a:noFill/>
          </a:ln>
        </p:spPr>
      </p:pic>
      <p:sp>
        <p:nvSpPr>
          <p:cNvPr id="497" name="Google Shape;497;p49"/>
          <p:cNvSpPr txBox="1">
            <a:spLocks noGrp="1"/>
          </p:cNvSpPr>
          <p:nvPr>
            <p:ph type="sldNum" idx="12"/>
          </p:nvPr>
        </p:nvSpPr>
        <p:spPr>
          <a:xfrm>
            <a:off x="138752" y="6414139"/>
            <a:ext cx="457200" cy="277813"/>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fld id="{00000000-1234-1234-1234-123412341234}" type="slidenum">
              <a:rPr lang="en-US"/>
              <a:t>49</a:t>
            </a:fld>
            <a:endParaRPr/>
          </a:p>
        </p:txBody>
      </p:sp>
      <p:pic>
        <p:nvPicPr>
          <p:cNvPr id="498" name="Google Shape;498;p49"/>
          <p:cNvPicPr preferRelativeResize="0"/>
          <p:nvPr/>
        </p:nvPicPr>
        <p:blipFill rotWithShape="1">
          <a:blip r:embed="rId4">
            <a:alphaModFix/>
          </a:blip>
          <a:srcRect/>
          <a:stretch/>
        </p:blipFill>
        <p:spPr>
          <a:xfrm>
            <a:off x="6019800" y="1839850"/>
            <a:ext cx="2838450" cy="4016499"/>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98"/>
                                        </p:tgtEl>
                                        <p:attrNameLst>
                                          <p:attrName>style.visibility</p:attrName>
                                        </p:attrNameLst>
                                      </p:cBhvr>
                                      <p:to>
                                        <p:strVal val="visible"/>
                                      </p:to>
                                    </p:set>
                                    <p:animEffect transition="in" filter="fade">
                                      <p:cBhvr>
                                        <p:cTn id="7" dur="500"/>
                                        <p:tgtEl>
                                          <p:spTgt spid="4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502"/>
        <p:cNvGrpSpPr/>
        <p:nvPr/>
      </p:nvGrpSpPr>
      <p:grpSpPr>
        <a:xfrm>
          <a:off x="0" y="0"/>
          <a:ext cx="0" cy="0"/>
          <a:chOff x="0" y="0"/>
          <a:chExt cx="0" cy="0"/>
        </a:xfrm>
      </p:grpSpPr>
      <p:sp>
        <p:nvSpPr>
          <p:cNvPr id="503" name="Google Shape;503;p50"/>
          <p:cNvSpPr txBox="1">
            <a:spLocks noGrp="1"/>
          </p:cNvSpPr>
          <p:nvPr>
            <p:ph type="body" idx="1"/>
          </p:nvPr>
        </p:nvSpPr>
        <p:spPr>
          <a:xfrm>
            <a:off x="381000" y="1225550"/>
            <a:ext cx="8001000" cy="49466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2400"/>
              <a:buNone/>
            </a:pPr>
            <a:r>
              <a:rPr lang="en-US" sz="2400" b="1"/>
              <a:t>Book :</a:t>
            </a:r>
            <a:r>
              <a:rPr lang="en-US" sz="2400"/>
              <a:t> OReilly SQL In NutShell  </a:t>
            </a:r>
            <a:r>
              <a:rPr lang="en-US" sz="2400" b="1"/>
              <a:t>Page No :</a:t>
            </a:r>
            <a:r>
              <a:rPr lang="en-US" sz="2400"/>
              <a:t> 164</a:t>
            </a:r>
            <a:endParaRPr/>
          </a:p>
          <a:p>
            <a:pPr marL="0" lvl="0" indent="0" algn="l" rtl="0">
              <a:spcBef>
                <a:spcPts val="480"/>
              </a:spcBef>
              <a:spcAft>
                <a:spcPts val="0"/>
              </a:spcAft>
              <a:buClr>
                <a:schemeClr val="dk1"/>
              </a:buClr>
              <a:buSzPts val="2400"/>
              <a:buNone/>
            </a:pPr>
            <a:r>
              <a:rPr lang="en-US" sz="2400" b="1"/>
              <a:t>Book :</a:t>
            </a:r>
            <a:r>
              <a:rPr lang="en-US" sz="2400"/>
              <a:t>  Wrox SQL Functions Programmer's Reference 2005 </a:t>
            </a:r>
            <a:r>
              <a:rPr lang="en-US" sz="2400" b="1"/>
              <a:t>Page NO:  </a:t>
            </a:r>
            <a:r>
              <a:rPr lang="en-US" sz="2400"/>
              <a:t>34</a:t>
            </a:r>
            <a:endParaRPr/>
          </a:p>
        </p:txBody>
      </p:sp>
      <p:sp>
        <p:nvSpPr>
          <p:cNvPr id="504" name="Google Shape;504;p50"/>
          <p:cNvSpPr txBox="1"/>
          <p:nvPr/>
        </p:nvSpPr>
        <p:spPr>
          <a:xfrm>
            <a:off x="381000" y="4953000"/>
            <a:ext cx="8458200" cy="952500"/>
          </a:xfrm>
          <a:prstGeom prst="rect">
            <a:avLst/>
          </a:prstGeom>
          <a:gradFill>
            <a:gsLst>
              <a:gs pos="0">
                <a:srgbClr val="AED5E9"/>
              </a:gs>
              <a:gs pos="100000">
                <a:srgbClr val="54A7D0"/>
              </a:gs>
            </a:gsLst>
            <a:lin ang="5400000" scaled="0"/>
          </a:gradFill>
          <a:ln w="9525" cap="flat" cmpd="sng">
            <a:solidFill>
              <a:schemeClr val="accent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chemeClr val="dk2"/>
                </a:solidFill>
                <a:latin typeface="Calibri"/>
                <a:ea typeface="Calibri"/>
                <a:cs typeface="Calibri"/>
                <a:sym typeface="Calibri"/>
              </a:rPr>
              <a:t>Disclaimer</a:t>
            </a:r>
            <a:r>
              <a:rPr lang="en-US" sz="1400">
                <a:solidFill>
                  <a:schemeClr val="dk1"/>
                </a:solidFill>
                <a:latin typeface="Calibri"/>
                <a:ea typeface="Calibri"/>
                <a:cs typeface="Calibri"/>
                <a:sym typeface="Calibri"/>
              </a:rPr>
              <a:t>: Parts of the content of this course is based on the materials available from the Web sites and books listed above. The materials that can be accessed from linked sites are not maintained by Cognizant Academy and we are not responsible for the contents thereof. All trademarks, service marks, and trade names in this course are the marks of the respective owner(s).</a:t>
            </a:r>
            <a:endParaRPr/>
          </a:p>
        </p:txBody>
      </p:sp>
      <p:sp>
        <p:nvSpPr>
          <p:cNvPr id="505" name="Google Shape;505;p50"/>
          <p:cNvSpPr txBox="1">
            <a:spLocks noGrp="1"/>
          </p:cNvSpPr>
          <p:nvPr>
            <p:ph type="title"/>
          </p:nvPr>
        </p:nvSpPr>
        <p:spPr>
          <a:xfrm>
            <a:off x="1303020" y="-152400"/>
            <a:ext cx="829818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Source</a:t>
            </a:r>
            <a:endParaRPr/>
          </a:p>
        </p:txBody>
      </p:sp>
      <p:pic>
        <p:nvPicPr>
          <p:cNvPr id="506" name="Google Shape;506;p50"/>
          <p:cNvPicPr preferRelativeResize="0"/>
          <p:nvPr/>
        </p:nvPicPr>
        <p:blipFill rotWithShape="1">
          <a:blip r:embed="rId3">
            <a:alphaModFix/>
          </a:blip>
          <a:srcRect/>
          <a:stretch/>
        </p:blipFill>
        <p:spPr>
          <a:xfrm>
            <a:off x="8229600" y="13646"/>
            <a:ext cx="846161" cy="846161"/>
          </a:xfrm>
          <a:prstGeom prst="rect">
            <a:avLst/>
          </a:prstGeom>
          <a:noFill/>
          <a:ln>
            <a:noFill/>
          </a:ln>
        </p:spPr>
      </p:pic>
      <p:sp>
        <p:nvSpPr>
          <p:cNvPr id="507" name="Google Shape;507;p50"/>
          <p:cNvSpPr txBox="1">
            <a:spLocks noGrp="1"/>
          </p:cNvSpPr>
          <p:nvPr>
            <p:ph type="sldNum" idx="12"/>
          </p:nvPr>
        </p:nvSpPr>
        <p:spPr>
          <a:xfrm>
            <a:off x="138752" y="6414139"/>
            <a:ext cx="457200" cy="277813"/>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fld id="{00000000-1234-1234-1234-123412341234}" type="slidenum">
              <a:rPr lang="en-US"/>
              <a:t>50</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511"/>
        <p:cNvGrpSpPr/>
        <p:nvPr/>
      </p:nvGrpSpPr>
      <p:grpSpPr>
        <a:xfrm>
          <a:off x="0" y="0"/>
          <a:ext cx="0" cy="0"/>
          <a:chOff x="0" y="0"/>
          <a:chExt cx="0" cy="0"/>
        </a:xfrm>
      </p:grpSpPr>
      <p:sp>
        <p:nvSpPr>
          <p:cNvPr id="512" name="Google Shape;512;p51"/>
          <p:cNvSpPr/>
          <p:nvPr/>
        </p:nvSpPr>
        <p:spPr>
          <a:xfrm>
            <a:off x="0" y="1905000"/>
            <a:ext cx="5715000" cy="1143000"/>
          </a:xfrm>
          <a:prstGeom prst="rect">
            <a:avLst/>
          </a:prstGeom>
          <a:noFill/>
          <a:ln>
            <a:noFill/>
          </a:ln>
        </p:spPr>
        <p:txBody>
          <a:bodyPr spcFirstLastPara="1" wrap="square" lIns="91425" tIns="45700" rIns="91425" bIns="45700" anchor="ctr" anchorCtr="0">
            <a:noAutofit/>
          </a:bodyPr>
          <a:lstStyle/>
          <a:p>
            <a:pPr marL="457200" marR="0" lvl="1" indent="0" algn="l" rtl="0">
              <a:spcBef>
                <a:spcPts val="0"/>
              </a:spcBef>
              <a:spcAft>
                <a:spcPts val="0"/>
              </a:spcAft>
              <a:buNone/>
            </a:pPr>
            <a:endParaRPr sz="2200" b="1" i="0" u="none" strike="noStrike" cap="none">
              <a:solidFill>
                <a:schemeClr val="dk1"/>
              </a:solidFill>
              <a:latin typeface="Open Sans"/>
              <a:ea typeface="Open Sans"/>
              <a:cs typeface="Open Sans"/>
              <a:sym typeface="Open Sans"/>
            </a:endParaRPr>
          </a:p>
        </p:txBody>
      </p:sp>
      <p:sp>
        <p:nvSpPr>
          <p:cNvPr id="513" name="Google Shape;513;p51"/>
          <p:cNvSpPr/>
          <p:nvPr/>
        </p:nvSpPr>
        <p:spPr>
          <a:xfrm>
            <a:off x="0" y="3048000"/>
            <a:ext cx="5715000" cy="1219200"/>
          </a:xfrm>
          <a:prstGeom prst="rect">
            <a:avLst/>
          </a:prstGeom>
          <a:noFill/>
          <a:ln>
            <a:noFill/>
          </a:ln>
        </p:spPr>
        <p:txBody>
          <a:bodyPr spcFirstLastPara="1" wrap="square" lIns="91425" tIns="45700" rIns="91425" bIns="45700" anchor="ctr" anchorCtr="0">
            <a:noAutofit/>
          </a:bodyPr>
          <a:lstStyle/>
          <a:p>
            <a:pPr marL="457200" marR="0" lvl="1" indent="0" algn="l" rtl="0">
              <a:spcBef>
                <a:spcPts val="0"/>
              </a:spcBef>
              <a:spcAft>
                <a:spcPts val="0"/>
              </a:spcAft>
              <a:buNone/>
            </a:pPr>
            <a:r>
              <a:rPr lang="en-US" sz="2300" b="0" i="0" u="none" strike="noStrike" cap="none">
                <a:solidFill>
                  <a:schemeClr val="lt1"/>
                </a:solidFill>
                <a:latin typeface="Cambria"/>
                <a:ea typeface="Cambria"/>
                <a:cs typeface="Cambria"/>
                <a:sym typeface="Cambria"/>
              </a:rPr>
              <a:t>You have successfully completed - </a:t>
            </a:r>
            <a:endParaRPr/>
          </a:p>
          <a:p>
            <a:pPr marL="457200" marR="0" lvl="1" indent="0" algn="l" rtl="0">
              <a:spcBef>
                <a:spcPts val="0"/>
              </a:spcBef>
              <a:spcAft>
                <a:spcPts val="0"/>
              </a:spcAft>
              <a:buNone/>
            </a:pPr>
            <a:r>
              <a:rPr lang="en-US" sz="2300" b="0" i="0" u="none" strike="noStrike" cap="none">
                <a:solidFill>
                  <a:schemeClr val="lt1"/>
                </a:solidFill>
                <a:latin typeface="Cambria"/>
                <a:ea typeface="Cambria"/>
                <a:cs typeface="Cambria"/>
                <a:sym typeface="Cambria"/>
              </a:rPr>
              <a:t>SQL Functions</a:t>
            </a:r>
            <a:endParaRPr sz="2300" b="0" i="0" u="none" strike="noStrike" cap="none">
              <a:solidFill>
                <a:schemeClr val="lt1"/>
              </a:solidFill>
              <a:latin typeface="Cambria"/>
              <a:ea typeface="Cambria"/>
              <a:cs typeface="Cambria"/>
              <a:sym typeface="Cambria"/>
            </a:endParaRPr>
          </a:p>
        </p:txBody>
      </p:sp>
      <p:sp>
        <p:nvSpPr>
          <p:cNvPr id="514" name="Google Shape;514;p51"/>
          <p:cNvSpPr/>
          <p:nvPr/>
        </p:nvSpPr>
        <p:spPr>
          <a:xfrm>
            <a:off x="762000" y="2286000"/>
            <a:ext cx="1978427" cy="430887"/>
          </a:xfrm>
          <a:prstGeom prst="rect">
            <a:avLst/>
          </a:prstGeom>
          <a:noFill/>
          <a:ln>
            <a:noFill/>
          </a:ln>
        </p:spPr>
        <p:txBody>
          <a:bodyPr spcFirstLastPara="1" wrap="square" lIns="91425" tIns="45700" rIns="91425" bIns="45700" anchor="t" anchorCtr="0">
            <a:spAutoFit/>
          </a:bodyPr>
          <a:lstStyle/>
          <a:p>
            <a:pPr marL="457200" marR="0" lvl="1" indent="0" algn="l" rtl="0">
              <a:spcBef>
                <a:spcPts val="0"/>
              </a:spcBef>
              <a:spcAft>
                <a:spcPts val="0"/>
              </a:spcAft>
              <a:buNone/>
            </a:pPr>
            <a:r>
              <a:rPr lang="en-US" sz="2200" b="1" i="0" u="none" strike="noStrike" cap="none">
                <a:solidFill>
                  <a:schemeClr val="dk1"/>
                </a:solidFill>
                <a:latin typeface="Open Sans"/>
                <a:ea typeface="Open Sans"/>
                <a:cs typeface="Open Sans"/>
                <a:sym typeface="Open Sans"/>
              </a:rPr>
              <a:t>ANSI SQL</a:t>
            </a:r>
            <a:endParaRPr sz="2200" b="1" i="0" u="none" strike="noStrike" cap="none">
              <a:solidFill>
                <a:schemeClr val="dk1"/>
              </a:solidFill>
              <a:latin typeface="Open Sans"/>
              <a:ea typeface="Open Sans"/>
              <a:cs typeface="Open Sans"/>
              <a:sym typeface="Open Sans"/>
            </a:endParaRPr>
          </a:p>
        </p:txBody>
      </p:sp>
      <p:sp>
        <p:nvSpPr>
          <p:cNvPr id="515" name="Google Shape;515;p51"/>
          <p:cNvSpPr txBox="1"/>
          <p:nvPr/>
        </p:nvSpPr>
        <p:spPr>
          <a:xfrm>
            <a:off x="138752" y="6414139"/>
            <a:ext cx="457200" cy="277813"/>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Calibri"/>
                <a:ea typeface="Calibri"/>
                <a:cs typeface="Calibri"/>
                <a:sym typeface="Calibri"/>
              </a:rPr>
              <a:t>51</a:t>
            </a:fld>
            <a:endParaRPr sz="1800">
              <a:solidFill>
                <a:schemeClr val="dk1"/>
              </a:solidFill>
              <a:latin typeface="Calibri"/>
              <a:ea typeface="Calibri"/>
              <a:cs typeface="Calibri"/>
              <a:sym typeface="Calibri"/>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519"/>
        <p:cNvGrpSpPr/>
        <p:nvPr/>
      </p:nvGrpSpPr>
      <p:grpSpPr>
        <a:xfrm>
          <a:off x="0" y="0"/>
          <a:ext cx="0" cy="0"/>
          <a:chOff x="0" y="0"/>
          <a:chExt cx="0" cy="0"/>
        </a:xfrm>
      </p:grpSpPr>
      <p:sp>
        <p:nvSpPr>
          <p:cNvPr id="520" name="Google Shape;520;p52"/>
          <p:cNvSpPr txBox="1">
            <a:spLocks noGrp="1"/>
          </p:cNvSpPr>
          <p:nvPr>
            <p:ph type="title"/>
          </p:nvPr>
        </p:nvSpPr>
        <p:spPr>
          <a:xfrm>
            <a:off x="1303020" y="-152400"/>
            <a:ext cx="829818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Change Log</a:t>
            </a:r>
            <a:endParaRPr/>
          </a:p>
        </p:txBody>
      </p:sp>
      <p:sp>
        <p:nvSpPr>
          <p:cNvPr id="521" name="Google Shape;521;p52"/>
          <p:cNvSpPr/>
          <p:nvPr/>
        </p:nvSpPr>
        <p:spPr>
          <a:xfrm>
            <a:off x="3321050" y="1397000"/>
            <a:ext cx="9144000" cy="457200"/>
          </a:xfrm>
          <a:prstGeom prst="rect">
            <a:avLst/>
          </a:prstGeom>
          <a:noFill/>
          <a:ln>
            <a:noFill/>
          </a:ln>
        </p:spPr>
        <p:txBody>
          <a:bodyPr spcFirstLastPara="1" wrap="square" lIns="91425" tIns="45700" rIns="91425" bIns="45700" anchor="ctr" anchorCtr="0">
            <a:sp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chemeClr val="dk1"/>
              </a:solidFill>
              <a:latin typeface="Arial"/>
              <a:ea typeface="Arial"/>
              <a:cs typeface="Arial"/>
              <a:sym typeface="Arial"/>
            </a:endParaRPr>
          </a:p>
        </p:txBody>
      </p:sp>
      <p:graphicFrame>
        <p:nvGraphicFramePr>
          <p:cNvPr id="522" name="Google Shape;522;p52"/>
          <p:cNvGraphicFramePr/>
          <p:nvPr/>
        </p:nvGraphicFramePr>
        <p:xfrm>
          <a:off x="685799" y="1524000"/>
          <a:ext cx="3000000" cy="3000000"/>
        </p:xfrm>
        <a:graphic>
          <a:graphicData uri="http://schemas.openxmlformats.org/drawingml/2006/table">
            <a:tbl>
              <a:tblPr firstRow="1" firstCol="1" bandRow="1">
                <a:noFill/>
                <a:tableStyleId>{7FFFBDA3-1227-47A5-887F-83766C0D3143}</a:tableStyleId>
              </a:tblPr>
              <a:tblGrid>
                <a:gridCol w="1496350"/>
                <a:gridCol w="1358800"/>
                <a:gridCol w="1708775"/>
                <a:gridCol w="1670175"/>
                <a:gridCol w="1538300"/>
              </a:tblGrid>
              <a:tr h="711550">
                <a:tc>
                  <a:txBody>
                    <a:bodyPr/>
                    <a:lstStyle/>
                    <a:p>
                      <a:pPr marL="0" marR="0" lvl="0" indent="0" algn="just" rtl="0">
                        <a:spcBef>
                          <a:spcPts val="0"/>
                        </a:spcBef>
                        <a:spcAft>
                          <a:spcPts val="0"/>
                        </a:spcAft>
                        <a:buNone/>
                      </a:pPr>
                      <a:r>
                        <a:rPr lang="en-US" sz="2000"/>
                        <a:t>Version Number</a:t>
                      </a:r>
                      <a:endParaRPr sz="2000">
                        <a:latin typeface="Calibri"/>
                        <a:ea typeface="Calibri"/>
                        <a:cs typeface="Calibri"/>
                        <a:sym typeface="Calibri"/>
                      </a:endParaRPr>
                    </a:p>
                  </a:txBody>
                  <a:tcPr marL="68575" marR="68575" marT="0" marB="0"/>
                </a:tc>
                <a:tc gridSpan="4">
                  <a:txBody>
                    <a:bodyPr/>
                    <a:lstStyle/>
                    <a:p>
                      <a:pPr marL="0" marR="0" lvl="0" indent="0" algn="just" rtl="0">
                        <a:spcBef>
                          <a:spcPts val="0"/>
                        </a:spcBef>
                        <a:spcAft>
                          <a:spcPts val="0"/>
                        </a:spcAft>
                        <a:buNone/>
                      </a:pPr>
                      <a:r>
                        <a:rPr lang="en-US" sz="2000"/>
                        <a:t>Changes made</a:t>
                      </a:r>
                      <a:endParaRPr sz="2000">
                        <a:latin typeface="Calibri"/>
                        <a:ea typeface="Calibri"/>
                        <a:cs typeface="Calibri"/>
                        <a:sym typeface="Calibri"/>
                      </a:endParaRPr>
                    </a:p>
                  </a:txBody>
                  <a:tcPr marL="68575" marR="68575" marT="0" marB="0"/>
                </a:tc>
                <a:tc hMerge="1">
                  <a:txBody>
                    <a:bodyPr/>
                    <a:lstStyle/>
                    <a:p>
                      <a:endParaRPr lang="en-US"/>
                    </a:p>
                  </a:txBody>
                  <a:tcPr/>
                </a:tc>
                <a:tc hMerge="1">
                  <a:txBody>
                    <a:bodyPr/>
                    <a:lstStyle/>
                    <a:p>
                      <a:endParaRPr lang="en-US"/>
                    </a:p>
                  </a:txBody>
                  <a:tcPr/>
                </a:tc>
                <a:tc hMerge="1">
                  <a:txBody>
                    <a:bodyPr/>
                    <a:lstStyle/>
                    <a:p>
                      <a:endParaRPr lang="en-US"/>
                    </a:p>
                  </a:txBody>
                  <a:tcPr/>
                </a:tc>
              </a:tr>
              <a:tr h="507650">
                <a:tc>
                  <a:txBody>
                    <a:bodyPr/>
                    <a:lstStyle/>
                    <a:p>
                      <a:pPr marL="0" marR="0" lvl="0" indent="0" algn="l" rtl="0">
                        <a:spcBef>
                          <a:spcPts val="0"/>
                        </a:spcBef>
                        <a:spcAft>
                          <a:spcPts val="0"/>
                        </a:spcAft>
                        <a:buNone/>
                      </a:pPr>
                      <a:r>
                        <a:rPr lang="en-US" sz="1800">
                          <a:latin typeface="Calibri"/>
                          <a:ea typeface="Calibri"/>
                          <a:cs typeface="Calibri"/>
                          <a:sym typeface="Calibri"/>
                        </a:rPr>
                        <a:t>V1.0</a:t>
                      </a:r>
                      <a:endParaRPr sz="1800">
                        <a:latin typeface="Calibri"/>
                        <a:ea typeface="Calibri"/>
                        <a:cs typeface="Calibri"/>
                        <a:sym typeface="Calibri"/>
                      </a:endParaRPr>
                    </a:p>
                  </a:txBody>
                  <a:tcPr marL="68575" marR="68575" marT="0" marB="0"/>
                </a:tc>
                <a:tc gridSpan="4">
                  <a:txBody>
                    <a:bodyPr/>
                    <a:lstStyle/>
                    <a:p>
                      <a:pPr marL="0" marR="0" lvl="0" indent="0" algn="l" rtl="0">
                        <a:lnSpc>
                          <a:spcPct val="100000"/>
                        </a:lnSpc>
                        <a:spcBef>
                          <a:spcPts val="0"/>
                        </a:spcBef>
                        <a:spcAft>
                          <a:spcPts val="0"/>
                        </a:spcAft>
                        <a:buClr>
                          <a:srgbClr val="595959"/>
                        </a:buClr>
                        <a:buSzPts val="1800"/>
                        <a:buFont typeface="Calibri"/>
                        <a:buNone/>
                      </a:pPr>
                      <a:r>
                        <a:rPr lang="en-US" sz="1800" b="1">
                          <a:solidFill>
                            <a:srgbClr val="595959"/>
                          </a:solidFill>
                          <a:latin typeface="Calibri"/>
                          <a:ea typeface="Calibri"/>
                          <a:cs typeface="Calibri"/>
                          <a:sym typeface="Calibri"/>
                        </a:rPr>
                        <a:t>Initial Version</a:t>
                      </a:r>
                      <a:endParaRPr/>
                    </a:p>
                  </a:txBody>
                  <a:tcPr marL="68575" marR="68575" marT="0" marB="0"/>
                </a:tc>
                <a:tc hMerge="1">
                  <a:txBody>
                    <a:bodyPr/>
                    <a:lstStyle/>
                    <a:p>
                      <a:endParaRPr lang="en-US"/>
                    </a:p>
                  </a:txBody>
                  <a:tcPr/>
                </a:tc>
                <a:tc hMerge="1">
                  <a:txBody>
                    <a:bodyPr/>
                    <a:lstStyle/>
                    <a:p>
                      <a:endParaRPr lang="en-US"/>
                    </a:p>
                  </a:txBody>
                  <a:tcPr/>
                </a:tc>
                <a:tc hMerge="1">
                  <a:txBody>
                    <a:bodyPr/>
                    <a:lstStyle/>
                    <a:p>
                      <a:endParaRPr lang="en-US"/>
                    </a:p>
                  </a:txBody>
                  <a:tcPr/>
                </a:tc>
              </a:tr>
              <a:tr h="504025">
                <a:tc>
                  <a:txBody>
                    <a:bodyPr/>
                    <a:lstStyle/>
                    <a:p>
                      <a:pPr marL="0" marR="0" lvl="0" indent="0" algn="l" rtl="0">
                        <a:lnSpc>
                          <a:spcPct val="100000"/>
                        </a:lnSpc>
                        <a:spcBef>
                          <a:spcPts val="0"/>
                        </a:spcBef>
                        <a:spcAft>
                          <a:spcPts val="0"/>
                        </a:spcAft>
                        <a:buClr>
                          <a:schemeClr val="dk1"/>
                        </a:buClr>
                        <a:buSzPts val="2000"/>
                        <a:buFont typeface="Calibri"/>
                        <a:buNone/>
                      </a:pPr>
                      <a:r>
                        <a:rPr lang="en-US" sz="2000"/>
                        <a:t>V1.1</a:t>
                      </a:r>
                      <a:endParaRPr sz="2000">
                        <a:latin typeface="Calibri"/>
                        <a:ea typeface="Calibri"/>
                        <a:cs typeface="Calibri"/>
                        <a:sym typeface="Calibri"/>
                      </a:endParaRPr>
                    </a:p>
                  </a:txBody>
                  <a:tcPr marL="68575" marR="68575" marT="0" marB="0"/>
                </a:tc>
                <a:tc>
                  <a:txBody>
                    <a:bodyPr/>
                    <a:lstStyle/>
                    <a:p>
                      <a:pPr marL="0" marR="0" lvl="0" indent="0" algn="just" rtl="0">
                        <a:spcBef>
                          <a:spcPts val="0"/>
                        </a:spcBef>
                        <a:spcAft>
                          <a:spcPts val="0"/>
                        </a:spcAft>
                        <a:buNone/>
                      </a:pPr>
                      <a:r>
                        <a:rPr lang="en-US" sz="1800" b="1">
                          <a:solidFill>
                            <a:srgbClr val="595959"/>
                          </a:solidFill>
                          <a:latin typeface="Calibri"/>
                          <a:ea typeface="Calibri"/>
                          <a:cs typeface="Calibri"/>
                          <a:sym typeface="Calibri"/>
                        </a:rPr>
                        <a:t>Slide No.</a:t>
                      </a:r>
                      <a:endParaRPr sz="1800" b="1">
                        <a:solidFill>
                          <a:srgbClr val="595959"/>
                        </a:solidFill>
                        <a:latin typeface="Calibri"/>
                        <a:ea typeface="Calibri"/>
                        <a:cs typeface="Calibri"/>
                        <a:sym typeface="Calibri"/>
                      </a:endParaRPr>
                    </a:p>
                  </a:txBody>
                  <a:tcPr marL="68575" marR="68575" marT="0" marB="0"/>
                </a:tc>
                <a:tc>
                  <a:txBody>
                    <a:bodyPr/>
                    <a:lstStyle/>
                    <a:p>
                      <a:pPr marL="0" marR="0" lvl="0" indent="0" algn="just" rtl="0">
                        <a:lnSpc>
                          <a:spcPct val="91666"/>
                        </a:lnSpc>
                        <a:spcBef>
                          <a:spcPts val="0"/>
                        </a:spcBef>
                        <a:spcAft>
                          <a:spcPts val="0"/>
                        </a:spcAft>
                        <a:buNone/>
                      </a:pPr>
                      <a:r>
                        <a:rPr lang="en-US" sz="1800" b="1">
                          <a:solidFill>
                            <a:srgbClr val="595959"/>
                          </a:solidFill>
                          <a:latin typeface="Calibri"/>
                          <a:ea typeface="Calibri"/>
                          <a:cs typeface="Calibri"/>
                          <a:sym typeface="Calibri"/>
                        </a:rPr>
                        <a:t>Changed By</a:t>
                      </a:r>
                      <a:endParaRPr sz="1800" b="1">
                        <a:solidFill>
                          <a:srgbClr val="595959"/>
                        </a:solidFill>
                        <a:latin typeface="Calibri"/>
                        <a:ea typeface="Calibri"/>
                        <a:cs typeface="Calibri"/>
                        <a:sym typeface="Calibri"/>
                      </a:endParaRPr>
                    </a:p>
                  </a:txBody>
                  <a:tcPr marL="68575" marR="68575" marT="0" marB="0" anchor="ctr"/>
                </a:tc>
                <a:tc>
                  <a:txBody>
                    <a:bodyPr/>
                    <a:lstStyle/>
                    <a:p>
                      <a:pPr marL="0" marR="0" lvl="0" indent="0" algn="just" rtl="0">
                        <a:lnSpc>
                          <a:spcPct val="91666"/>
                        </a:lnSpc>
                        <a:spcBef>
                          <a:spcPts val="0"/>
                        </a:spcBef>
                        <a:spcAft>
                          <a:spcPts val="0"/>
                        </a:spcAft>
                        <a:buNone/>
                      </a:pPr>
                      <a:r>
                        <a:rPr lang="en-US" sz="1800" b="1">
                          <a:solidFill>
                            <a:srgbClr val="595959"/>
                          </a:solidFill>
                          <a:latin typeface="Calibri"/>
                          <a:ea typeface="Calibri"/>
                          <a:cs typeface="Calibri"/>
                          <a:sym typeface="Calibri"/>
                        </a:rPr>
                        <a:t>Effective Date</a:t>
                      </a:r>
                      <a:endParaRPr sz="1800" b="1">
                        <a:solidFill>
                          <a:srgbClr val="595959"/>
                        </a:solidFill>
                        <a:latin typeface="Calibri"/>
                        <a:ea typeface="Calibri"/>
                        <a:cs typeface="Calibri"/>
                        <a:sym typeface="Calibri"/>
                      </a:endParaRPr>
                    </a:p>
                  </a:txBody>
                  <a:tcPr marL="68575" marR="68575" marT="0" marB="0" anchor="ctr"/>
                </a:tc>
                <a:tc>
                  <a:txBody>
                    <a:bodyPr/>
                    <a:lstStyle/>
                    <a:p>
                      <a:pPr marL="0" marR="0" lvl="0" indent="0" algn="just" rtl="0">
                        <a:lnSpc>
                          <a:spcPct val="91666"/>
                        </a:lnSpc>
                        <a:spcBef>
                          <a:spcPts val="0"/>
                        </a:spcBef>
                        <a:spcAft>
                          <a:spcPts val="0"/>
                        </a:spcAft>
                        <a:buNone/>
                      </a:pPr>
                      <a:r>
                        <a:rPr lang="en-US" sz="1800" b="1">
                          <a:solidFill>
                            <a:srgbClr val="595959"/>
                          </a:solidFill>
                          <a:latin typeface="Calibri"/>
                          <a:ea typeface="Calibri"/>
                          <a:cs typeface="Calibri"/>
                          <a:sym typeface="Calibri"/>
                        </a:rPr>
                        <a:t>Changes Effected</a:t>
                      </a:r>
                      <a:endParaRPr sz="1800" b="1">
                        <a:solidFill>
                          <a:srgbClr val="595959"/>
                        </a:solidFill>
                        <a:latin typeface="Calibri"/>
                        <a:ea typeface="Calibri"/>
                        <a:cs typeface="Calibri"/>
                        <a:sym typeface="Calibri"/>
                      </a:endParaRPr>
                    </a:p>
                  </a:txBody>
                  <a:tcPr marL="68575" marR="68575" marT="0" marB="0" anchor="ctr"/>
                </a:tc>
              </a:tr>
              <a:tr h="444725">
                <a:tc>
                  <a:txBody>
                    <a:bodyPr/>
                    <a:lstStyle/>
                    <a:p>
                      <a:pPr marL="0" marR="0" lvl="0" indent="0" algn="l" rtl="0">
                        <a:spcBef>
                          <a:spcPts val="0"/>
                        </a:spcBef>
                        <a:spcAft>
                          <a:spcPts val="0"/>
                        </a:spcAft>
                        <a:buNone/>
                      </a:pPr>
                      <a:r>
                        <a:rPr lang="en-US" sz="2000"/>
                        <a:t> </a:t>
                      </a:r>
                      <a:endParaRPr sz="2000">
                        <a:latin typeface="Calibri"/>
                        <a:ea typeface="Calibri"/>
                        <a:cs typeface="Calibri"/>
                        <a:sym typeface="Calibri"/>
                      </a:endParaRPr>
                    </a:p>
                  </a:txBody>
                  <a:tcPr marL="68575" marR="68575" marT="0" marB="0"/>
                </a:tc>
                <a:tc>
                  <a:txBody>
                    <a:bodyPr/>
                    <a:lstStyle/>
                    <a:p>
                      <a:pPr marL="0" marR="0" lvl="0" indent="0" algn="l" rtl="0">
                        <a:spcBef>
                          <a:spcPts val="0"/>
                        </a:spcBef>
                        <a:spcAft>
                          <a:spcPts val="0"/>
                        </a:spcAft>
                        <a:buNone/>
                      </a:pPr>
                      <a:r>
                        <a:rPr lang="en-US" sz="2000"/>
                        <a:t> </a:t>
                      </a:r>
                      <a:endParaRPr sz="2000">
                        <a:latin typeface="Calibri"/>
                        <a:ea typeface="Calibri"/>
                        <a:cs typeface="Calibri"/>
                        <a:sym typeface="Calibri"/>
                      </a:endParaRPr>
                    </a:p>
                  </a:txBody>
                  <a:tcPr marL="68575" marR="68575" marT="0" marB="0"/>
                </a:tc>
                <a:tc>
                  <a:txBody>
                    <a:bodyPr/>
                    <a:lstStyle/>
                    <a:p>
                      <a:pPr marL="0" marR="0" lvl="0" indent="0" algn="l" rtl="0">
                        <a:spcBef>
                          <a:spcPts val="0"/>
                        </a:spcBef>
                        <a:spcAft>
                          <a:spcPts val="0"/>
                        </a:spcAft>
                        <a:buNone/>
                      </a:pPr>
                      <a:r>
                        <a:rPr lang="en-US" sz="2000"/>
                        <a:t> </a:t>
                      </a:r>
                      <a:endParaRPr sz="2000">
                        <a:latin typeface="Calibri"/>
                        <a:ea typeface="Calibri"/>
                        <a:cs typeface="Calibri"/>
                        <a:sym typeface="Calibri"/>
                      </a:endParaRPr>
                    </a:p>
                  </a:txBody>
                  <a:tcPr marL="68575" marR="68575" marT="0" marB="0"/>
                </a:tc>
                <a:tc>
                  <a:txBody>
                    <a:bodyPr/>
                    <a:lstStyle/>
                    <a:p>
                      <a:pPr marL="0" marR="0" lvl="0" indent="0" algn="l" rtl="0">
                        <a:spcBef>
                          <a:spcPts val="0"/>
                        </a:spcBef>
                        <a:spcAft>
                          <a:spcPts val="0"/>
                        </a:spcAft>
                        <a:buNone/>
                      </a:pPr>
                      <a:r>
                        <a:rPr lang="en-US" sz="2000"/>
                        <a:t> </a:t>
                      </a:r>
                      <a:endParaRPr sz="2000">
                        <a:latin typeface="Calibri"/>
                        <a:ea typeface="Calibri"/>
                        <a:cs typeface="Calibri"/>
                        <a:sym typeface="Calibri"/>
                      </a:endParaRPr>
                    </a:p>
                  </a:txBody>
                  <a:tcPr marL="68575" marR="68575" marT="0" marB="0"/>
                </a:tc>
                <a:tc>
                  <a:txBody>
                    <a:bodyPr/>
                    <a:lstStyle/>
                    <a:p>
                      <a:pPr marL="0" marR="0" lvl="0" indent="0" algn="l" rtl="0">
                        <a:spcBef>
                          <a:spcPts val="0"/>
                        </a:spcBef>
                        <a:spcAft>
                          <a:spcPts val="0"/>
                        </a:spcAft>
                        <a:buNone/>
                      </a:pPr>
                      <a:r>
                        <a:rPr lang="en-US" sz="2000"/>
                        <a:t> </a:t>
                      </a:r>
                      <a:endParaRPr sz="2000">
                        <a:latin typeface="Calibri"/>
                        <a:ea typeface="Calibri"/>
                        <a:cs typeface="Calibri"/>
                        <a:sym typeface="Calibri"/>
                      </a:endParaRPr>
                    </a:p>
                  </a:txBody>
                  <a:tcPr marL="68575" marR="68575" marT="0" marB="0"/>
                </a:tc>
              </a:tr>
              <a:tr h="355775">
                <a:tc>
                  <a:txBody>
                    <a:bodyPr/>
                    <a:lstStyle/>
                    <a:p>
                      <a:pPr marL="0" marR="0" lvl="0" indent="0" algn="l" rtl="0">
                        <a:spcBef>
                          <a:spcPts val="0"/>
                        </a:spcBef>
                        <a:spcAft>
                          <a:spcPts val="0"/>
                        </a:spcAft>
                        <a:buNone/>
                      </a:pPr>
                      <a:r>
                        <a:rPr lang="en-US" sz="1100"/>
                        <a:t> </a:t>
                      </a:r>
                      <a:endParaRPr sz="1100">
                        <a:latin typeface="Calibri"/>
                        <a:ea typeface="Calibri"/>
                        <a:cs typeface="Calibri"/>
                        <a:sym typeface="Calibri"/>
                      </a:endParaRPr>
                    </a:p>
                  </a:txBody>
                  <a:tcPr marL="68575" marR="68575" marT="0" marB="0"/>
                </a:tc>
                <a:tc>
                  <a:txBody>
                    <a:bodyPr/>
                    <a:lstStyle/>
                    <a:p>
                      <a:pPr marL="0" marR="0" lvl="0" indent="0" algn="l" rtl="0">
                        <a:spcBef>
                          <a:spcPts val="0"/>
                        </a:spcBef>
                        <a:spcAft>
                          <a:spcPts val="0"/>
                        </a:spcAft>
                        <a:buNone/>
                      </a:pPr>
                      <a:r>
                        <a:rPr lang="en-US" sz="1100"/>
                        <a:t> </a:t>
                      </a:r>
                      <a:endParaRPr sz="1100">
                        <a:latin typeface="Calibri"/>
                        <a:ea typeface="Calibri"/>
                        <a:cs typeface="Calibri"/>
                        <a:sym typeface="Calibri"/>
                      </a:endParaRPr>
                    </a:p>
                  </a:txBody>
                  <a:tcPr marL="68575" marR="68575" marT="0" marB="0"/>
                </a:tc>
                <a:tc>
                  <a:txBody>
                    <a:bodyPr/>
                    <a:lstStyle/>
                    <a:p>
                      <a:pPr marL="0" marR="0" lvl="0" indent="0" algn="l" rtl="0">
                        <a:spcBef>
                          <a:spcPts val="0"/>
                        </a:spcBef>
                        <a:spcAft>
                          <a:spcPts val="0"/>
                        </a:spcAft>
                        <a:buNone/>
                      </a:pPr>
                      <a:r>
                        <a:rPr lang="en-US" sz="1100"/>
                        <a:t> </a:t>
                      </a:r>
                      <a:endParaRPr sz="1100">
                        <a:latin typeface="Calibri"/>
                        <a:ea typeface="Calibri"/>
                        <a:cs typeface="Calibri"/>
                        <a:sym typeface="Calibri"/>
                      </a:endParaRPr>
                    </a:p>
                  </a:txBody>
                  <a:tcPr marL="68575" marR="68575" marT="0" marB="0"/>
                </a:tc>
                <a:tc>
                  <a:txBody>
                    <a:bodyPr/>
                    <a:lstStyle/>
                    <a:p>
                      <a:pPr marL="0" marR="0" lvl="0" indent="0" algn="l" rtl="0">
                        <a:spcBef>
                          <a:spcPts val="0"/>
                        </a:spcBef>
                        <a:spcAft>
                          <a:spcPts val="0"/>
                        </a:spcAft>
                        <a:buNone/>
                      </a:pPr>
                      <a:r>
                        <a:rPr lang="en-US" sz="1100"/>
                        <a:t> </a:t>
                      </a:r>
                      <a:endParaRPr sz="1100">
                        <a:latin typeface="Calibri"/>
                        <a:ea typeface="Calibri"/>
                        <a:cs typeface="Calibri"/>
                        <a:sym typeface="Calibri"/>
                      </a:endParaRPr>
                    </a:p>
                  </a:txBody>
                  <a:tcPr marL="68575" marR="68575" marT="0" marB="0"/>
                </a:tc>
                <a:tc>
                  <a:txBody>
                    <a:bodyPr/>
                    <a:lstStyle/>
                    <a:p>
                      <a:pPr marL="0" marR="0" lvl="0" indent="0" algn="l" rtl="0">
                        <a:spcBef>
                          <a:spcPts val="0"/>
                        </a:spcBef>
                        <a:spcAft>
                          <a:spcPts val="0"/>
                        </a:spcAft>
                        <a:buNone/>
                      </a:pPr>
                      <a:r>
                        <a:rPr lang="en-US" sz="1100"/>
                        <a:t> </a:t>
                      </a:r>
                      <a:endParaRPr sz="1100">
                        <a:latin typeface="Calibri"/>
                        <a:ea typeface="Calibri"/>
                        <a:cs typeface="Calibri"/>
                        <a:sym typeface="Calibri"/>
                      </a:endParaRPr>
                    </a:p>
                  </a:txBody>
                  <a:tcPr marL="68575" marR="68575" marT="0" marB="0"/>
                </a:tc>
              </a:tr>
            </a:tbl>
          </a:graphicData>
        </a:graphic>
      </p:graphicFrame>
      <p:sp>
        <p:nvSpPr>
          <p:cNvPr id="523" name="Google Shape;523;p52"/>
          <p:cNvSpPr txBox="1">
            <a:spLocks noGrp="1"/>
          </p:cNvSpPr>
          <p:nvPr>
            <p:ph type="sldNum" idx="12"/>
          </p:nvPr>
        </p:nvSpPr>
        <p:spPr>
          <a:xfrm>
            <a:off x="138752" y="6414139"/>
            <a:ext cx="457200" cy="277813"/>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fld id="{00000000-1234-1234-1234-123412341234}" type="slidenum">
              <a:rPr lang="en-US"/>
              <a:t>52</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theme/theme1.xml><?xml version="1.0" encoding="utf-8"?>
<a:theme xmlns:a="http://schemas.openxmlformats.org/drawingml/2006/main" name="Theme_3">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4470</Words>
  <Application>Microsoft Office PowerPoint</Application>
  <PresentationFormat>On-screen Show (4:3)</PresentationFormat>
  <Paragraphs>860</Paragraphs>
  <Slides>52</Slides>
  <Notes>52</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52</vt:i4>
      </vt:variant>
    </vt:vector>
  </HeadingPairs>
  <TitlesOfParts>
    <vt:vector size="62" baseType="lpstr">
      <vt:lpstr>Arial</vt:lpstr>
      <vt:lpstr>Cambria</vt:lpstr>
      <vt:lpstr>Arial Rounded</vt:lpstr>
      <vt:lpstr>Verdana</vt:lpstr>
      <vt:lpstr>Corsiva</vt:lpstr>
      <vt:lpstr>Noto Sans Symbols</vt:lpstr>
      <vt:lpstr>Calibri</vt:lpstr>
      <vt:lpstr>Open Sans</vt:lpstr>
      <vt:lpstr>Libre Franklin</vt:lpstr>
      <vt:lpstr>Theme_3</vt:lpstr>
      <vt:lpstr>PowerPoint Presentation</vt:lpstr>
      <vt:lpstr>Icons Used</vt:lpstr>
      <vt:lpstr>Overview</vt:lpstr>
      <vt:lpstr>Objective</vt:lpstr>
      <vt:lpstr>Scenario</vt:lpstr>
      <vt:lpstr>Database tables</vt:lpstr>
      <vt:lpstr>Schema diagram</vt:lpstr>
      <vt:lpstr>Scenario</vt:lpstr>
      <vt:lpstr>Do you Know</vt:lpstr>
      <vt:lpstr>What are Functions?</vt:lpstr>
      <vt:lpstr>Classifying SQL Functions</vt:lpstr>
      <vt:lpstr>Aggregate Functions and Scalar Functions</vt:lpstr>
      <vt:lpstr>Aggregate Function Examples</vt:lpstr>
      <vt:lpstr>Classifying Aggregate Function </vt:lpstr>
      <vt:lpstr>Scenario</vt:lpstr>
      <vt:lpstr>Scalar Functions </vt:lpstr>
      <vt:lpstr>Built-in Scalar Functions</vt:lpstr>
      <vt:lpstr>String Functions</vt:lpstr>
      <vt:lpstr>String Function Examples</vt:lpstr>
      <vt:lpstr>Scenario</vt:lpstr>
      <vt:lpstr>Numeric/Mathematical Functions</vt:lpstr>
      <vt:lpstr>Numeric/Mathematical Functions</vt:lpstr>
      <vt:lpstr>Scenario</vt:lpstr>
      <vt:lpstr>Date Time Function</vt:lpstr>
      <vt:lpstr>Date Time Function</vt:lpstr>
      <vt:lpstr>Miscellaneous Functions</vt:lpstr>
      <vt:lpstr>NULLIF Function</vt:lpstr>
      <vt:lpstr>Control Flow Functions</vt:lpstr>
      <vt:lpstr>CASE Operator examples</vt:lpstr>
      <vt:lpstr>Control Flow Functions</vt:lpstr>
      <vt:lpstr>Nesting Of Functions</vt:lpstr>
      <vt:lpstr>SQL Expression</vt:lpstr>
      <vt:lpstr>SQL Expression</vt:lpstr>
      <vt:lpstr>Scenario</vt:lpstr>
      <vt:lpstr>Recap of the Case Study</vt:lpstr>
      <vt:lpstr>Lend a Hand</vt:lpstr>
      <vt:lpstr>Solutions</vt:lpstr>
      <vt:lpstr>Lend a Hand</vt:lpstr>
      <vt:lpstr>Lend a Hand</vt:lpstr>
      <vt:lpstr>Lend a Hand</vt:lpstr>
      <vt:lpstr>Solutions </vt:lpstr>
      <vt:lpstr>Solutions</vt:lpstr>
      <vt:lpstr>Lend a Hand</vt:lpstr>
      <vt:lpstr>Solutions</vt:lpstr>
      <vt:lpstr>Lend a Hand</vt:lpstr>
      <vt:lpstr>Solutions</vt:lpstr>
      <vt:lpstr>Questions?</vt:lpstr>
      <vt:lpstr>Check Your Understanding</vt:lpstr>
      <vt:lpstr>Summary</vt:lpstr>
      <vt:lpstr>Source</vt:lpstr>
      <vt:lpstr>PowerPoint Presentation</vt:lpstr>
      <vt:lpstr>Change Log</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AssetDevelopmentTeam@cognizant.com</dc:creator>
  <cp:lastModifiedBy>lenovo</cp:lastModifiedBy>
  <cp:revision>1</cp:revision>
  <dcterms:created xsi:type="dcterms:W3CDTF">2011-06-15T11:24:59Z</dcterms:created>
  <dcterms:modified xsi:type="dcterms:W3CDTF">2025-11-13T06:00:40Z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0x010100AD9A013F7646E54987CE76DA418D5C98</vt:lpwstr>
  </property>
</Properties>
</file>